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74" r:id="rId4"/>
    <p:sldId id="275" r:id="rId5"/>
    <p:sldId id="276" r:id="rId6"/>
    <p:sldId id="277" r:id="rId7"/>
    <p:sldId id="278" r:id="rId8"/>
    <p:sldId id="257" r:id="rId9"/>
    <p:sldId id="259" r:id="rId10"/>
    <p:sldId id="260" r:id="rId11"/>
    <p:sldId id="261" r:id="rId12"/>
    <p:sldId id="262" r:id="rId13"/>
    <p:sldId id="271" r:id="rId14"/>
    <p:sldId id="265" r:id="rId15"/>
    <p:sldId id="266" r:id="rId16"/>
    <p:sldId id="267" r:id="rId17"/>
    <p:sldId id="268" r:id="rId18"/>
    <p:sldId id="269" r:id="rId19"/>
    <p:sldId id="263" r:id="rId20"/>
    <p:sldId id="264" r:id="rId21"/>
    <p:sldId id="272" r:id="rId22"/>
    <p:sldId id="279" r:id="rId23"/>
    <p:sldId id="270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F58D01"/>
    <a:srgbClr val="009F3C"/>
    <a:srgbClr val="0B3261"/>
    <a:srgbClr val="4645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85679" autoAdjust="0"/>
  </p:normalViewPr>
  <p:slideViewPr>
    <p:cSldViewPr>
      <p:cViewPr varScale="1">
        <p:scale>
          <a:sx n="64" d="100"/>
          <a:sy n="64" d="100"/>
        </p:scale>
        <p:origin x="72" y="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14" d="100"/>
          <a:sy n="114" d="100"/>
        </p:scale>
        <p:origin x="-474" y="-90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33634-5F77-4F38-8050-5916A3C62A97}" type="datetimeFigureOut">
              <a:rPr lang="en-MY" smtClean="0"/>
              <a:t>14/7/2022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E97A1-D7EA-4F22-A3CD-9AF4FD84A84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183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BE97A1-D7EA-4F22-A3CD-9AF4FD84A84C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6354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BE97A1-D7EA-4F22-A3CD-9AF4FD84A84C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3186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7668344" y="116632"/>
            <a:ext cx="1368152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7482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42786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1734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662296" y="1556056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479008" y="1556792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4" name="Picture 13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386" y="6309320"/>
            <a:ext cx="303997" cy="450964"/>
          </a:xfrm>
          <a:prstGeom prst="rect">
            <a:avLst/>
          </a:prstGeom>
        </p:spPr>
      </p:pic>
      <p:pic>
        <p:nvPicPr>
          <p:cNvPr id="15" name="Picture 14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0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Picture 8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2" descr="C:\Users\jw\Documents\Visual Studio 2010\Projects\JSBubbles\JSBubbles.Game\images\themes\metro\Next.png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29" y="6348019"/>
            <a:ext cx="40005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40" y="6343213"/>
            <a:ext cx="400106" cy="400106"/>
          </a:xfrm>
          <a:prstGeom prst="rect">
            <a:avLst/>
          </a:prstGeom>
        </p:spPr>
      </p:pic>
      <p:pic>
        <p:nvPicPr>
          <p:cNvPr id="9" name="Obraz 8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908" y="6347991"/>
            <a:ext cx="400106" cy="400106"/>
          </a:xfrm>
          <a:prstGeom prst="rect">
            <a:avLst/>
          </a:prstGeom>
        </p:spPr>
      </p:pic>
      <p:pic>
        <p:nvPicPr>
          <p:cNvPr id="10" name="Obraz 9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00" y="6338465"/>
            <a:ext cx="419159" cy="419159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107504" y="6388737"/>
            <a:ext cx="7776864" cy="312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AACS2173</a:t>
            </a:r>
            <a:r>
              <a:rPr lang="en-GB" sz="1800" baseline="0" dirty="0"/>
              <a:t> – Computer Game Programming I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34593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2D Game Framework (Game Engine)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010543"/>
          </a:xfrm>
        </p:spPr>
        <p:txBody>
          <a:bodyPr/>
          <a:lstStyle/>
          <a:p>
            <a:r>
              <a:rPr lang="en-GB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63179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Topics covered:</a:t>
            </a:r>
          </a:p>
          <a:p>
            <a:pPr lvl="1"/>
            <a:r>
              <a:rPr lang="en-US" dirty="0"/>
              <a:t>Multimedia APIs</a:t>
            </a:r>
          </a:p>
          <a:p>
            <a:pPr lvl="1"/>
            <a:r>
              <a:rPr lang="en-US" dirty="0"/>
              <a:t>Object Oriented Applied</a:t>
            </a:r>
          </a:p>
          <a:p>
            <a:pPr lvl="1"/>
            <a:r>
              <a:rPr lang="en-US" dirty="0"/>
              <a:t>2D Game Engine Components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3286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an API?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Apple Programmers Institute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Andrew’s Pro Invoker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Application Programming Interface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Amazing Pineapple Ice-cream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Android Portable Instructions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9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an IDE?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International Developers Expo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Internet Direct Experience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Integrated Development Environment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Idiots Die </a:t>
            </a:r>
            <a:r>
              <a:rPr lang="en-US" dirty="0" err="1"/>
              <a:t>Everytime</a:t>
            </a:r>
            <a:endParaRPr lang="en-US" dirty="0"/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I Don’t Even…</a:t>
            </a:r>
          </a:p>
        </p:txBody>
      </p:sp>
    </p:spTree>
    <p:extLst>
      <p:ext uri="{BB962C8B-B14F-4D97-AF65-F5344CB8AC3E}">
        <p14:creationId xmlns:p14="http://schemas.microsoft.com/office/powerpoint/2010/main" val="248717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SDK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Sir, Don’t Know.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Super Donkey Kong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Software Development Kit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System Development Kit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Super Drama King</a:t>
            </a:r>
          </a:p>
        </p:txBody>
      </p:sp>
    </p:spTree>
    <p:extLst>
      <p:ext uri="{BB962C8B-B14F-4D97-AF65-F5344CB8AC3E}">
        <p14:creationId xmlns:p14="http://schemas.microsoft.com/office/powerpoint/2010/main" val="403965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game framework?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system to sell games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system to design, develop and publish games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program that is used to make games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kind of spectacles that pro gamers like to use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Ask </a:t>
            </a:r>
            <a:r>
              <a:rPr lang="en-US" dirty="0" err="1"/>
              <a:t>Khoon</a:t>
            </a:r>
            <a:r>
              <a:rPr lang="en-US" dirty="0"/>
              <a:t> Lin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183106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Game Engine?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A game framework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A program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Something that simplifies game making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The backbone of most games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A collection of tools</a:t>
            </a:r>
          </a:p>
          <a:p>
            <a:pPr marL="914400" lvl="1" indent="-45720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45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Multimedia API - Definitions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API stand for?</a:t>
            </a:r>
          </a:p>
          <a:p>
            <a:pPr lvl="1"/>
            <a:r>
              <a:rPr lang="en-US" dirty="0"/>
              <a:t>Application Programming Interface</a:t>
            </a:r>
          </a:p>
          <a:p>
            <a:pPr lvl="1"/>
            <a:r>
              <a:rPr lang="en-US" dirty="0"/>
              <a:t>A particular set of rules and specifications that software programs can follow to communicate with each other</a:t>
            </a:r>
          </a:p>
          <a:p>
            <a:r>
              <a:rPr lang="en-US" dirty="0"/>
              <a:t>IDE?</a:t>
            </a:r>
          </a:p>
          <a:p>
            <a:pPr lvl="1"/>
            <a:r>
              <a:rPr lang="en-US" dirty="0"/>
              <a:t>Integrated Development Environment</a:t>
            </a:r>
          </a:p>
          <a:p>
            <a:pPr lvl="1"/>
            <a:r>
              <a:rPr lang="en-US" dirty="0"/>
              <a:t>Combination of various software development tools into one GUI</a:t>
            </a:r>
          </a:p>
          <a:p>
            <a:r>
              <a:rPr lang="en-US" dirty="0"/>
              <a:t>SDK?</a:t>
            </a:r>
          </a:p>
          <a:p>
            <a:pPr lvl="1"/>
            <a:r>
              <a:rPr lang="en-US" dirty="0"/>
              <a:t>Software/System development kit</a:t>
            </a:r>
          </a:p>
          <a:p>
            <a:pPr lvl="1"/>
            <a:r>
              <a:rPr lang="en-US" dirty="0"/>
              <a:t>Set of tools for creating applications (including an API)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9154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Multimedia API - Definitions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  <a:p>
            <a:pPr lvl="1"/>
            <a:r>
              <a:rPr lang="en-US" dirty="0"/>
              <a:t>Collection of software libraries providing a defined and easy to use API</a:t>
            </a:r>
          </a:p>
          <a:p>
            <a:r>
              <a:rPr lang="en-US" dirty="0"/>
              <a:t>Game Engine</a:t>
            </a:r>
          </a:p>
          <a:p>
            <a:pPr lvl="1"/>
            <a:r>
              <a:rPr lang="en-US" dirty="0"/>
              <a:t>A system designed to ease the creation and development of video games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7615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Multimedia API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DirectX</a:t>
            </a:r>
          </a:p>
          <a:p>
            <a:pPr lvl="1"/>
            <a:r>
              <a:rPr lang="en-US" dirty="0"/>
              <a:t>OpenGL (and derivatives)</a:t>
            </a:r>
          </a:p>
          <a:p>
            <a:pPr lvl="1"/>
            <a:r>
              <a:rPr lang="en-US" dirty="0"/>
              <a:t>Java</a:t>
            </a:r>
          </a:p>
          <a:p>
            <a:pPr lvl="1"/>
            <a:r>
              <a:rPr lang="en-US" dirty="0"/>
              <a:t>Many others that are OS dependent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1386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Multimedia API - DirectX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at version 12</a:t>
            </a:r>
          </a:p>
          <a:p>
            <a:r>
              <a:rPr lang="en-US" dirty="0"/>
              <a:t>Comes built in with the new windows SDK</a:t>
            </a:r>
          </a:p>
          <a:p>
            <a:r>
              <a:rPr lang="en-US" dirty="0"/>
              <a:t>This class will still be using D3DX9 libraries</a:t>
            </a:r>
          </a:p>
          <a:p>
            <a:r>
              <a:rPr lang="en-US" dirty="0"/>
              <a:t>Reason – long, but you are encouraged to read “Beginning Direct X 11” to supplement your knowledge on DX programming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31504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Multimedia API – DirectX</a:t>
            </a:r>
            <a:endParaRPr lang="en-MY" dirty="0"/>
          </a:p>
        </p:txBody>
      </p:sp>
      <p:sp>
        <p:nvSpPr>
          <p:cNvPr id="3" name="Rectangle 2"/>
          <p:cNvSpPr/>
          <p:nvPr/>
        </p:nvSpPr>
        <p:spPr>
          <a:xfrm>
            <a:off x="467544" y="1700808"/>
            <a:ext cx="4032448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Win 32 Application</a:t>
            </a:r>
            <a:endParaRPr lang="en-MY" sz="2000" dirty="0"/>
          </a:p>
        </p:txBody>
      </p:sp>
      <p:sp>
        <p:nvSpPr>
          <p:cNvPr id="5" name="Rectangle 4"/>
          <p:cNvSpPr/>
          <p:nvPr/>
        </p:nvSpPr>
        <p:spPr>
          <a:xfrm>
            <a:off x="4644008" y="1700808"/>
            <a:ext cx="4032448" cy="648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Win 32 Application</a:t>
            </a:r>
            <a:endParaRPr lang="en-MY" sz="2000" dirty="0"/>
          </a:p>
        </p:txBody>
      </p:sp>
      <p:sp>
        <p:nvSpPr>
          <p:cNvPr id="6" name="Rectangle 5"/>
          <p:cNvSpPr/>
          <p:nvPr/>
        </p:nvSpPr>
        <p:spPr>
          <a:xfrm>
            <a:off x="467544" y="2475147"/>
            <a:ext cx="4032448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Direct3D API</a:t>
            </a:r>
            <a:endParaRPr lang="en-MY" sz="2000" dirty="0"/>
          </a:p>
        </p:txBody>
      </p:sp>
      <p:sp>
        <p:nvSpPr>
          <p:cNvPr id="7" name="Rectangle 6"/>
          <p:cNvSpPr/>
          <p:nvPr/>
        </p:nvSpPr>
        <p:spPr>
          <a:xfrm>
            <a:off x="4644008" y="2475146"/>
            <a:ext cx="4032448" cy="141805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GDI</a:t>
            </a:r>
            <a:endParaRPr lang="en-MY" sz="2000" dirty="0"/>
          </a:p>
        </p:txBody>
      </p:sp>
      <p:sp>
        <p:nvSpPr>
          <p:cNvPr id="8" name="Rectangle 7"/>
          <p:cNvSpPr/>
          <p:nvPr/>
        </p:nvSpPr>
        <p:spPr>
          <a:xfrm>
            <a:off x="467544" y="3249993"/>
            <a:ext cx="4032448" cy="6432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HAL Device</a:t>
            </a:r>
            <a:endParaRPr lang="en-MY" sz="2000" dirty="0"/>
          </a:p>
        </p:txBody>
      </p:sp>
      <p:sp>
        <p:nvSpPr>
          <p:cNvPr id="9" name="Rectangle 8"/>
          <p:cNvSpPr/>
          <p:nvPr/>
        </p:nvSpPr>
        <p:spPr>
          <a:xfrm>
            <a:off x="467544" y="4005064"/>
            <a:ext cx="8208912" cy="6432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Device Driver Interface</a:t>
            </a:r>
            <a:endParaRPr lang="en-MY" sz="2000" dirty="0"/>
          </a:p>
        </p:txBody>
      </p:sp>
      <p:sp>
        <p:nvSpPr>
          <p:cNvPr id="10" name="Rectangle 9"/>
          <p:cNvSpPr/>
          <p:nvPr/>
        </p:nvSpPr>
        <p:spPr>
          <a:xfrm>
            <a:off x="467544" y="4759459"/>
            <a:ext cx="8208912" cy="634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Graphics Hardware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556683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Multimedia API - DirectX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why?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28898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Game Engine Components</a:t>
            </a:r>
            <a:endParaRPr lang="en-MY" dirty="0"/>
          </a:p>
        </p:txBody>
      </p:sp>
      <p:sp>
        <p:nvSpPr>
          <p:cNvPr id="5" name="Rectangle 4"/>
          <p:cNvSpPr/>
          <p:nvPr/>
        </p:nvSpPr>
        <p:spPr>
          <a:xfrm>
            <a:off x="466327" y="1737826"/>
            <a:ext cx="8208912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Main Application</a:t>
            </a:r>
            <a:endParaRPr lang="en-MY" sz="2000" dirty="0"/>
          </a:p>
        </p:txBody>
      </p:sp>
      <p:sp>
        <p:nvSpPr>
          <p:cNvPr id="6" name="Rectangle 5"/>
          <p:cNvSpPr/>
          <p:nvPr/>
        </p:nvSpPr>
        <p:spPr>
          <a:xfrm>
            <a:off x="466327" y="2528900"/>
            <a:ext cx="1585393" cy="64807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System (Windows)</a:t>
            </a:r>
            <a:endParaRPr lang="en-MY" sz="2000" dirty="0"/>
          </a:p>
        </p:txBody>
      </p:sp>
      <p:sp>
        <p:nvSpPr>
          <p:cNvPr id="10" name="Rectangle 9"/>
          <p:cNvSpPr/>
          <p:nvPr/>
        </p:nvSpPr>
        <p:spPr>
          <a:xfrm>
            <a:off x="2195736" y="2528900"/>
            <a:ext cx="4824536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2D Graphics</a:t>
            </a:r>
            <a:endParaRPr lang="en-MY" sz="2000" dirty="0"/>
          </a:p>
        </p:txBody>
      </p:sp>
      <p:sp>
        <p:nvSpPr>
          <p:cNvPr id="12" name="Rectangle 11"/>
          <p:cNvSpPr/>
          <p:nvPr/>
        </p:nvSpPr>
        <p:spPr>
          <a:xfrm>
            <a:off x="7164288" y="2528900"/>
            <a:ext cx="1510951" cy="64807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Input</a:t>
            </a:r>
            <a:endParaRPr lang="en-MY" sz="2000" dirty="0"/>
          </a:p>
        </p:txBody>
      </p:sp>
      <p:sp>
        <p:nvSpPr>
          <p:cNvPr id="13" name="Rectangle 12"/>
          <p:cNvSpPr/>
          <p:nvPr/>
        </p:nvSpPr>
        <p:spPr>
          <a:xfrm>
            <a:off x="2195737" y="3343672"/>
            <a:ext cx="1512167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Sprite</a:t>
            </a:r>
            <a:endParaRPr lang="en-MY" sz="2000" dirty="0"/>
          </a:p>
        </p:txBody>
      </p:sp>
      <p:sp>
        <p:nvSpPr>
          <p:cNvPr id="18" name="Rectangle 17"/>
          <p:cNvSpPr/>
          <p:nvPr/>
        </p:nvSpPr>
        <p:spPr>
          <a:xfrm>
            <a:off x="3860304" y="3343672"/>
            <a:ext cx="1503784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Line</a:t>
            </a:r>
            <a:endParaRPr lang="en-MY" sz="2000" dirty="0"/>
          </a:p>
        </p:txBody>
      </p:sp>
      <p:sp>
        <p:nvSpPr>
          <p:cNvPr id="19" name="Rectangle 18"/>
          <p:cNvSpPr/>
          <p:nvPr/>
        </p:nvSpPr>
        <p:spPr>
          <a:xfrm>
            <a:off x="5508104" y="3343672"/>
            <a:ext cx="1512168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Font</a:t>
            </a:r>
            <a:endParaRPr lang="en-MY" sz="2000" dirty="0"/>
          </a:p>
        </p:txBody>
      </p:sp>
      <p:sp>
        <p:nvSpPr>
          <p:cNvPr id="20" name="Rectangle 19"/>
          <p:cNvSpPr/>
          <p:nvPr/>
        </p:nvSpPr>
        <p:spPr>
          <a:xfrm>
            <a:off x="2186405" y="4144144"/>
            <a:ext cx="1512167" cy="648072"/>
          </a:xfrm>
          <a:prstGeom prst="rect">
            <a:avLst/>
          </a:prstGeom>
          <a:solidFill>
            <a:srgbClr val="F58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Texture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96880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13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Game Engine Components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to be added in the coming semesters:</a:t>
            </a:r>
          </a:p>
          <a:p>
            <a:pPr lvl="1"/>
            <a:r>
              <a:rPr lang="en-US" dirty="0"/>
              <a:t>Artificial Intelligence</a:t>
            </a:r>
          </a:p>
          <a:p>
            <a:pPr lvl="1"/>
            <a:r>
              <a:rPr lang="en-US" dirty="0"/>
              <a:t>Particle systems</a:t>
            </a:r>
          </a:p>
          <a:p>
            <a:pPr lvl="1"/>
            <a:r>
              <a:rPr lang="en-US" dirty="0"/>
              <a:t>Networking</a:t>
            </a:r>
          </a:p>
          <a:p>
            <a:pPr lvl="1"/>
            <a:r>
              <a:rPr lang="en-US" dirty="0"/>
              <a:t>Others as deemed necessary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82100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Game Engine Components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these components will make up your game program</a:t>
            </a:r>
          </a:p>
          <a:p>
            <a:r>
              <a:rPr lang="en-US" dirty="0"/>
              <a:t>The components will be executed at different stages of the program</a:t>
            </a:r>
          </a:p>
          <a:p>
            <a:r>
              <a:rPr lang="en-US" dirty="0"/>
              <a:t>A game has a special characteristic differing from other software called the “</a:t>
            </a:r>
            <a:r>
              <a:rPr lang="en-US" b="1" dirty="0"/>
              <a:t>Game Loop</a:t>
            </a:r>
            <a:r>
              <a:rPr lang="en-US" dirty="0"/>
              <a:t>”</a:t>
            </a:r>
          </a:p>
          <a:p>
            <a:r>
              <a:rPr lang="en-US" dirty="0"/>
              <a:t>This allows a game to be highly interactive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70787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Game Engine Components</a:t>
            </a:r>
            <a:endParaRPr lang="en-MY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 program structure</a:t>
            </a:r>
            <a:endParaRPr lang="en-MY" dirty="0"/>
          </a:p>
        </p:txBody>
      </p:sp>
      <p:sp>
        <p:nvSpPr>
          <p:cNvPr id="3" name="Rectangle 2"/>
          <p:cNvSpPr/>
          <p:nvPr/>
        </p:nvSpPr>
        <p:spPr>
          <a:xfrm>
            <a:off x="465313" y="2184020"/>
            <a:ext cx="8208912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Initialization and memory allocation</a:t>
            </a:r>
            <a:endParaRPr lang="en-MY" sz="2000" dirty="0"/>
          </a:p>
        </p:txBody>
      </p:sp>
      <p:sp>
        <p:nvSpPr>
          <p:cNvPr id="4" name="Rectangle 3"/>
          <p:cNvSpPr/>
          <p:nvPr/>
        </p:nvSpPr>
        <p:spPr>
          <a:xfrm>
            <a:off x="464298" y="2983755"/>
            <a:ext cx="8209927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Main</a:t>
            </a:r>
            <a:endParaRPr lang="en-MY" sz="20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464298" y="3803389"/>
            <a:ext cx="8209927" cy="659590"/>
            <a:chOff x="464298" y="4149080"/>
            <a:chExt cx="8209927" cy="659590"/>
          </a:xfrm>
        </p:grpSpPr>
        <p:sp>
          <p:nvSpPr>
            <p:cNvPr id="5" name="Rectangle 4"/>
            <p:cNvSpPr/>
            <p:nvPr/>
          </p:nvSpPr>
          <p:spPr>
            <a:xfrm>
              <a:off x="464298" y="4149080"/>
              <a:ext cx="1947462" cy="648072"/>
            </a:xfrm>
            <a:prstGeom prst="rect">
              <a:avLst/>
            </a:prstGeom>
            <a:solidFill>
              <a:srgbClr val="009F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Input</a:t>
              </a:r>
              <a:endParaRPr lang="en-MY" sz="20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69263" y="4149080"/>
              <a:ext cx="1914809" cy="648072"/>
            </a:xfrm>
            <a:prstGeom prst="rect">
              <a:avLst/>
            </a:prstGeom>
            <a:solidFill>
              <a:srgbClr val="009F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AI / Physics</a:t>
              </a:r>
              <a:endParaRPr lang="en-MY" sz="20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669528" y="4160598"/>
              <a:ext cx="1989248" cy="648072"/>
            </a:xfrm>
            <a:prstGeom prst="rect">
              <a:avLst/>
            </a:prstGeom>
            <a:solidFill>
              <a:srgbClr val="009F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Game Logic</a:t>
              </a:r>
              <a:endParaRPr lang="en-MY" sz="20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804248" y="4160598"/>
              <a:ext cx="1869977" cy="648072"/>
            </a:xfrm>
            <a:prstGeom prst="rect">
              <a:avLst/>
            </a:prstGeom>
            <a:solidFill>
              <a:srgbClr val="009F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Render</a:t>
              </a:r>
              <a:endParaRPr lang="en-MY" sz="2000" dirty="0"/>
            </a:p>
          </p:txBody>
        </p:sp>
      </p:grpSp>
      <p:sp>
        <p:nvSpPr>
          <p:cNvPr id="9" name="Rectangle 8"/>
          <p:cNvSpPr/>
          <p:nvPr/>
        </p:nvSpPr>
        <p:spPr>
          <a:xfrm>
            <a:off x="465315" y="4595477"/>
            <a:ext cx="8208910" cy="64807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Clean up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39726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Game Engine Components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 looks like: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88266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Applied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the best practices for modelling your game objects in the OO paradigm will be challenging but rewarding</a:t>
            </a:r>
          </a:p>
          <a:p>
            <a:r>
              <a:rPr lang="en-US" dirty="0"/>
              <a:t>This will make full use of the features of OO such as:</a:t>
            </a:r>
          </a:p>
          <a:p>
            <a:pPr lvl="1"/>
            <a:r>
              <a:rPr lang="en-US" dirty="0"/>
              <a:t>Encapsulation</a:t>
            </a:r>
          </a:p>
          <a:p>
            <a:pPr lvl="1"/>
            <a:r>
              <a:rPr lang="en-US" dirty="0"/>
              <a:t>Polymorphism</a:t>
            </a:r>
          </a:p>
          <a:p>
            <a:pPr lvl="1"/>
            <a:r>
              <a:rPr lang="en-US" dirty="0"/>
              <a:t>Abstraction</a:t>
            </a:r>
          </a:p>
          <a:p>
            <a:pPr lvl="1"/>
            <a:r>
              <a:rPr lang="en-US" dirty="0"/>
              <a:t>Inheritance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41359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Applied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STATE and BEHAVIOUR for all your necessary objects</a:t>
            </a:r>
          </a:p>
          <a:p>
            <a:r>
              <a:rPr lang="en-US" dirty="0"/>
              <a:t>Pro tip 1: </a:t>
            </a:r>
          </a:p>
          <a:p>
            <a:pPr lvl="1"/>
            <a:r>
              <a:rPr lang="en-US" dirty="0"/>
              <a:t>Is a? </a:t>
            </a:r>
          </a:p>
          <a:p>
            <a:pPr lvl="1"/>
            <a:r>
              <a:rPr lang="en-US" dirty="0"/>
              <a:t>Has a?</a:t>
            </a:r>
          </a:p>
          <a:p>
            <a:pPr lvl="1"/>
            <a:r>
              <a:rPr lang="en-US" dirty="0"/>
              <a:t>Example: A weapon is a? A weapon has a?</a:t>
            </a:r>
          </a:p>
          <a:p>
            <a:r>
              <a:rPr lang="en-US" dirty="0"/>
              <a:t>Pro tip 2:</a:t>
            </a:r>
          </a:p>
          <a:p>
            <a:pPr lvl="1"/>
            <a:r>
              <a:rPr lang="en-US" dirty="0"/>
              <a:t>Diagram it out</a:t>
            </a:r>
          </a:p>
          <a:p>
            <a:pPr lvl="1"/>
            <a:r>
              <a:rPr lang="en-US" dirty="0"/>
              <a:t>You are not too smart for diagrams</a:t>
            </a:r>
          </a:p>
          <a:p>
            <a:pPr lvl="1"/>
            <a:r>
              <a:rPr lang="en-US" dirty="0"/>
              <a:t>No, what you imagine in your head is incorrect</a:t>
            </a:r>
          </a:p>
          <a:p>
            <a:pPr lvl="1"/>
            <a:r>
              <a:rPr lang="en-US" dirty="0"/>
              <a:t>Diagrams help everyone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30811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spending the effort and time to design a good OO game framework, you reduce your future work tremendously.</a:t>
            </a:r>
          </a:p>
          <a:p>
            <a:r>
              <a:rPr lang="en-US" dirty="0"/>
              <a:t>The idea at the end of the day is to tell your computer; “Make me a game.” and all the necessary components for a game such as the input, sound, graphics are all created for you.</a:t>
            </a:r>
          </a:p>
          <a:p>
            <a:r>
              <a:rPr lang="en-US" dirty="0"/>
              <a:t>Imagine telling a machine “make me a car” and an entire car appears for you. You do not have to worry about telling the machine to make a wheel, a seatbelt, an engine, etc.</a:t>
            </a:r>
          </a:p>
        </p:txBody>
      </p:sp>
    </p:spTree>
    <p:extLst>
      <p:ext uri="{BB962C8B-B14F-4D97-AF65-F5344CB8AC3E}">
        <p14:creationId xmlns:p14="http://schemas.microsoft.com/office/powerpoint/2010/main" val="1043548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not all cars are the same</a:t>
            </a:r>
          </a:p>
          <a:p>
            <a:r>
              <a:rPr lang="en-US" dirty="0"/>
              <a:t>Your OO framework should allow the user to input parameters to change the ‘car’ into any kind of car they like.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16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Applied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try that.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24013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Metro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</TotalTime>
  <Words>724</Words>
  <Application>Microsoft Office PowerPoint</Application>
  <PresentationFormat>On-screen Show (4:3)</PresentationFormat>
  <Paragraphs>139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Segoe UI Light</vt:lpstr>
      <vt:lpstr>Office Theme</vt:lpstr>
      <vt:lpstr>LECTURE 1</vt:lpstr>
      <vt:lpstr>Overview</vt:lpstr>
      <vt:lpstr>Super Quiz - Definitions</vt:lpstr>
      <vt:lpstr>Super Quiz - Definitions</vt:lpstr>
      <vt:lpstr>Super Quiz - Definitions</vt:lpstr>
      <vt:lpstr>Super Quiz - Definitions</vt:lpstr>
      <vt:lpstr>Super Quiz - Definitions</vt:lpstr>
      <vt:lpstr>Multimedia API - Definitions</vt:lpstr>
      <vt:lpstr>Multimedia API - Definitions</vt:lpstr>
      <vt:lpstr>Multimedia API</vt:lpstr>
      <vt:lpstr>Multimedia API - DirectX</vt:lpstr>
      <vt:lpstr>Multimedia API – DirectX</vt:lpstr>
      <vt:lpstr>Multimedia API - DirectX</vt:lpstr>
      <vt:lpstr>2D Game Engine Components</vt:lpstr>
      <vt:lpstr>2D Game Engine Components</vt:lpstr>
      <vt:lpstr>2D Game Engine Components</vt:lpstr>
      <vt:lpstr>2D Game Engine Components</vt:lpstr>
      <vt:lpstr>2D Game Engine Components</vt:lpstr>
      <vt:lpstr>Object Oriented Applied</vt:lpstr>
      <vt:lpstr>Object Oriented Applied</vt:lpstr>
      <vt:lpstr>Object Oriented Applied</vt:lpstr>
      <vt:lpstr>Object Oriented Applied</vt:lpstr>
      <vt:lpstr>Object Oriented Applied</vt:lpstr>
    </vt:vector>
  </TitlesOfParts>
  <Company>SAINT-GOBAIN 1.7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Alesandra Blakeston</dc:creator>
  <cp:lastModifiedBy>LIM YONG CHIEN</cp:lastModifiedBy>
  <cp:revision>32</cp:revision>
  <dcterms:created xsi:type="dcterms:W3CDTF">2013-06-03T12:57:42Z</dcterms:created>
  <dcterms:modified xsi:type="dcterms:W3CDTF">2022-07-14T05:22:53Z</dcterms:modified>
</cp:coreProperties>
</file>