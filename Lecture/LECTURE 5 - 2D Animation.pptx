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5" r:id="rId5"/>
    <p:sldId id="257" r:id="rId6"/>
    <p:sldId id="258" r:id="rId7"/>
    <p:sldId id="259" r:id="rId8"/>
    <p:sldId id="260" r:id="rId9"/>
    <p:sldId id="261" r:id="rId10"/>
    <p:sldId id="267" r:id="rId11"/>
    <p:sldId id="266" r:id="rId12"/>
    <p:sldId id="265" r:id="rId13"/>
    <p:sldId id="264" r:id="rId14"/>
    <p:sldId id="263" r:id="rId15"/>
    <p:sldId id="26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261"/>
    <a:srgbClr val="F58D01"/>
    <a:srgbClr val="009F3C"/>
    <a:srgbClr val="464543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85679" autoAdjust="0"/>
  </p:normalViewPr>
  <p:slideViewPr>
    <p:cSldViewPr>
      <p:cViewPr>
        <p:scale>
          <a:sx n="66" d="100"/>
          <a:sy n="66" d="100"/>
        </p:scale>
        <p:origin x="-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668344" y="116632"/>
            <a:ext cx="1368152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482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2786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1734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0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107504" y="6388737"/>
            <a:ext cx="7776864" cy="31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AACS2173</a:t>
            </a:r>
            <a:r>
              <a:rPr lang="en-GB" sz="1800" baseline="0" dirty="0"/>
              <a:t> – Computer Game Programming I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34593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</p:spPr>
        <p:txBody>
          <a:bodyPr/>
          <a:lstStyle/>
          <a:p>
            <a:r>
              <a:rPr lang="en-GB" dirty="0"/>
              <a:t>LECTURE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2D Animation</a:t>
            </a:r>
          </a:p>
        </p:txBody>
      </p:sp>
    </p:spTree>
    <p:extLst>
      <p:ext uri="{BB962C8B-B14F-4D97-AF65-F5344CB8AC3E}">
        <p14:creationId xmlns:p14="http://schemas.microsoft.com/office/powerpoint/2010/main" val="263179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all PCs the same speed?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Yes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No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Maybe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I don’t know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What is a PC?</a:t>
            </a:r>
          </a:p>
        </p:txBody>
      </p:sp>
    </p:spTree>
    <p:extLst>
      <p:ext uri="{BB962C8B-B14F-4D97-AF65-F5344CB8AC3E}">
        <p14:creationId xmlns:p14="http://schemas.microsoft.com/office/powerpoint/2010/main" val="118435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FPS stand for?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Feet Per Second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Frames Per Second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First Person Shooter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Fast Packet Switching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Facial Plastic Surgery</a:t>
            </a:r>
          </a:p>
        </p:txBody>
      </p:sp>
    </p:spTree>
    <p:extLst>
      <p:ext uri="{BB962C8B-B14F-4D97-AF65-F5344CB8AC3E}">
        <p14:creationId xmlns:p14="http://schemas.microsoft.com/office/powerpoint/2010/main" val="256227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game loop affect the FPS?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The more loops per second, the higher the FPS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The more loops per second, the lower the FPS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The FPS is not affected by the game loop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The game loop affects the FPS in mysterious ways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When the FPS is low, the game loop has a sad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None of </a:t>
            </a:r>
            <a:r>
              <a:rPr lang="en-US"/>
              <a:t>the above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32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animation</a:t>
            </a:r>
          </a:p>
          <a:p>
            <a:r>
              <a:rPr lang="en-US" dirty="0"/>
              <a:t>Timer </a:t>
            </a:r>
          </a:p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  <a:p>
            <a:r>
              <a:rPr lang="en-US" dirty="0"/>
              <a:t>Simple Collision</a:t>
            </a:r>
          </a:p>
        </p:txBody>
      </p:sp>
    </p:spTree>
    <p:extLst>
      <p:ext uri="{BB962C8B-B14F-4D97-AF65-F5344CB8AC3E}">
        <p14:creationId xmlns:p14="http://schemas.microsoft.com/office/powerpoint/2010/main" val="389154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Animation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message loop of your game/windows program loops infinitely</a:t>
            </a:r>
          </a:p>
          <a:p>
            <a:r>
              <a:rPr lang="en-US" dirty="0"/>
              <a:t>The number of times per second the loop will run is dependent on the power of the PC the program is run on</a:t>
            </a:r>
          </a:p>
          <a:p>
            <a:r>
              <a:rPr lang="en-US" dirty="0"/>
              <a:t>If physics, input, rendering, sound and all other game components are processes within the game loop, </a:t>
            </a:r>
            <a:r>
              <a:rPr lang="en-US" b="1" dirty="0"/>
              <a:t>what would happen if a game is run on two very different computers?</a:t>
            </a:r>
          </a:p>
          <a:p>
            <a:r>
              <a:rPr lang="en-US" b="1" dirty="0"/>
              <a:t>Damage???</a:t>
            </a:r>
          </a:p>
        </p:txBody>
      </p:sp>
    </p:spTree>
    <p:extLst>
      <p:ext uri="{BB962C8B-B14F-4D97-AF65-F5344CB8AC3E}">
        <p14:creationId xmlns:p14="http://schemas.microsoft.com/office/powerpoint/2010/main" val="2914805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needs to be a way to control the game to ensure that the internal workings of the game run consistently no matter what PC the game is run on</a:t>
            </a:r>
          </a:p>
          <a:p>
            <a:r>
              <a:rPr lang="en-US" dirty="0"/>
              <a:t>This is achieved using a timer</a:t>
            </a:r>
          </a:p>
          <a:p>
            <a:r>
              <a:rPr lang="en-US" dirty="0"/>
              <a:t>Conceptually:</a:t>
            </a:r>
          </a:p>
          <a:p>
            <a:pPr lvl="1"/>
            <a:r>
              <a:rPr lang="en-US" dirty="0"/>
              <a:t>Pre-define your mechanics based on time</a:t>
            </a:r>
          </a:p>
          <a:p>
            <a:pPr lvl="2"/>
            <a:r>
              <a:rPr lang="en-US" dirty="0"/>
              <a:t>Calculate how long it took to finish one loop – we call this the delta time</a:t>
            </a:r>
          </a:p>
          <a:p>
            <a:pPr lvl="2"/>
            <a:r>
              <a:rPr lang="en-US" dirty="0"/>
              <a:t>Calculate how much of your mechanics should be in action based on the time passed</a:t>
            </a:r>
          </a:p>
        </p:txBody>
      </p:sp>
    </p:spTree>
    <p:extLst>
      <p:ext uri="{BB962C8B-B14F-4D97-AF65-F5344CB8AC3E}">
        <p14:creationId xmlns:p14="http://schemas.microsoft.com/office/powerpoint/2010/main" val="404427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Define the movement of a character as 50 pixels per second</a:t>
            </a:r>
          </a:p>
          <a:p>
            <a:pPr lvl="1"/>
            <a:r>
              <a:rPr lang="en-US" dirty="0"/>
              <a:t>Calculate how many seconds have passed in your game loop (lets say we obtain the delta time value is 0.01 seconds)</a:t>
            </a:r>
          </a:p>
          <a:p>
            <a:pPr lvl="1"/>
            <a:r>
              <a:rPr lang="en-US" dirty="0"/>
              <a:t>Calculate the actual movement of the character in this loop </a:t>
            </a:r>
          </a:p>
          <a:p>
            <a:pPr lvl="2"/>
            <a:r>
              <a:rPr lang="en-US" dirty="0"/>
              <a:t>0.01s * 50px/s = 0.5px</a:t>
            </a:r>
          </a:p>
          <a:p>
            <a:pPr lvl="1"/>
            <a:r>
              <a:rPr lang="en-US" dirty="0"/>
              <a:t>Move the character by 0.5 pixels for this loop(???)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7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Frame-based timer updates the frame in fixed interval time.</a:t>
            </a:r>
          </a:p>
          <a:p>
            <a:pPr>
              <a:lnSpc>
                <a:spcPct val="90000"/>
              </a:lnSpc>
            </a:pPr>
            <a:r>
              <a:rPr lang="en-US" altLang="en-US" sz="3000" dirty="0"/>
              <a:t>Algorithm: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STEP 1: Calculate the interval per frame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STEP 2: Calculate how many frames to update in the new cycle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Then you can determine in your render function how much frames you need to update</a:t>
            </a:r>
          </a:p>
          <a:p>
            <a:pPr>
              <a:lnSpc>
                <a:spcPct val="90000"/>
              </a:lnSpc>
            </a:pPr>
            <a:r>
              <a:rPr lang="en-US" altLang="en-US" sz="3000" dirty="0"/>
              <a:t>Frame-based timer can be modeled in OO having </a:t>
            </a:r>
            <a:r>
              <a:rPr lang="en-US" altLang="en-US" sz="30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30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en-US" sz="3000" dirty="0"/>
              <a:t> and </a:t>
            </a:r>
            <a:r>
              <a:rPr lang="en-US" altLang="en-US" sz="3000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30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en-US" sz="3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7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FrameTimer.h</a:t>
            </a:r>
            <a:endParaRPr lang="en-US" alt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FrameTimer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	Public: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	Private: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LARGE_INTEGER </a:t>
            </a:r>
            <a:r>
              <a:rPr lang="en-MY" altLang="en-US" sz="2400" dirty="0" err="1">
                <a:latin typeface="Courier New" pitchFamily="49" charset="0"/>
                <a:cs typeface="Courier New" pitchFamily="49" charset="0"/>
              </a:rPr>
              <a:t>timer_freq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		LARGE_INTEGER </a:t>
            </a:r>
            <a:r>
              <a:rPr lang="en-MY" altLang="en-US" sz="2400" dirty="0" err="1">
                <a:latin typeface="Courier New" pitchFamily="49" charset="0"/>
                <a:cs typeface="Courier New" pitchFamily="49" charset="0"/>
              </a:rPr>
              <a:t>time_now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		LARGE_INTEGER </a:t>
            </a:r>
            <a:r>
              <a:rPr lang="en-MY" altLang="en-US" sz="2400" dirty="0" err="1">
                <a:latin typeface="Courier New" pitchFamily="49" charset="0"/>
                <a:cs typeface="Courier New" pitchFamily="49" charset="0"/>
              </a:rPr>
              <a:t>time_previous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MY" altLang="en-US" sz="2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MY" altLang="en-US" sz="2400" dirty="0" err="1">
                <a:latin typeface="Courier New" pitchFamily="49" charset="0"/>
                <a:cs typeface="Courier New" pitchFamily="49" charset="0"/>
              </a:rPr>
              <a:t>Requested_FPS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		float </a:t>
            </a:r>
            <a:r>
              <a:rPr lang="en-MY" altLang="en-US" sz="2400" dirty="0" err="1">
                <a:latin typeface="Courier New" pitchFamily="49" charset="0"/>
                <a:cs typeface="Courier New" pitchFamily="49" charset="0"/>
              </a:rPr>
              <a:t>intervalsPerFrame</a:t>
            </a:r>
            <a:r>
              <a:rPr lang="en-MY" altLang="en-US" sz="2400" dirty="0"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21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//FrameTimer.cpp</a:t>
            </a:r>
          </a:p>
          <a:p>
            <a:pPr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FrameTimer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fps){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QueryPerformanceFrequency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timerFreq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QueryPerformanceCounter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timeNow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QueryPerformanceCounter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timePrevious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 //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fps time info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Requested_FPS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=fps;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//The number of intervals in the given</a:t>
            </a:r>
          </a:p>
          <a:p>
            <a:pPr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 //timer, per frame at the requested rate.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intervalsPerFrame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=         </a:t>
            </a:r>
          </a:p>
          <a:p>
            <a:pPr>
              <a:buNone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    ((float)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timerFreq.QuadPart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/ 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Requested_FPS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7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//FrameTimer.cpp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FrameTimer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(){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= 0;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QueryPerformanceCounter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timeNow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	//getting the delta time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intervalsSinceLastUpdate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= (float)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timeNow.QuadPart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- (float)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timePrevious.QuadPart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     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)( 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intervalsSinceLastUpdate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/ </a:t>
            </a:r>
            <a:r>
              <a:rPr lang="en-US" altLang="en-US" sz="2000" b="1" dirty="0" err="1">
                <a:latin typeface="Courier New" pitchFamily="49" charset="0"/>
                <a:cs typeface="Courier New" pitchFamily="49" charset="0"/>
              </a:rPr>
              <a:t>intervalsPerFrame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//If we are not updating any frames, 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  //keep the old previous timer count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  if (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 != 0){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      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QueryPerformanceCounter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timePrevious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   }</a:t>
            </a: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   return 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When using Frame-based timer, it will be easier to manage the codes in OO.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Each sprite will have an </a:t>
            </a:r>
            <a:r>
              <a:rPr lang="en-US" altLang="en-US" dirty="0" err="1"/>
              <a:t>updateFrame</a:t>
            </a:r>
            <a:r>
              <a:rPr lang="en-US" altLang="en-US" dirty="0"/>
              <a:t> method which looks like following;</a:t>
            </a:r>
          </a:p>
          <a:p>
            <a:pPr>
              <a:lnSpc>
                <a:spcPct val="80000"/>
              </a:lnSpc>
              <a:buNone/>
            </a:pPr>
            <a:endParaRPr lang="en-US" altLang="en-US" dirty="0"/>
          </a:p>
          <a:p>
            <a:pPr>
              <a:lnSpc>
                <a:spcPct val="80000"/>
              </a:lnSpc>
              <a:buNone/>
            </a:pP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AnyClass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updateFrame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noOfFrames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noOfFrames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  //example moving on x-axis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position.x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+= 2;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frame++;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  if(frame &gt;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max_frame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    frame = 1; //resetting frame counter to 1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yoursprite.setframe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(frame);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34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GameMain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(HWND 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wndHandle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){ 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...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//create a new animation test object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animTest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AnimationTest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animTest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dxManager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-&gt;getD3DDevice());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//create a new frame timer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b="1" dirty="0" err="1">
                <a:latin typeface="Courier New" pitchFamily="49" charset="0"/>
                <a:cs typeface="Courier New" pitchFamily="49" charset="0"/>
              </a:rPr>
              <a:t>timer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en-US" sz="2400" b="1" dirty="0" err="1">
                <a:latin typeface="Courier New" pitchFamily="49" charset="0"/>
                <a:cs typeface="Courier New" pitchFamily="49" charset="0"/>
              </a:rPr>
              <a:t>FrameTimer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None/>
            </a:pPr>
            <a:endParaRPr lang="en-US" alt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   //</a:t>
            </a:r>
            <a:r>
              <a:rPr lang="en-US" altLang="en-US" sz="24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 to maintain 60 frames per second 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timer-&gt;</a:t>
            </a:r>
            <a:r>
              <a:rPr lang="en-US" altLang="en-US" sz="2400" b="1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(60); </a:t>
            </a: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2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return true;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90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//This method is called in the message loop of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WinAPI</a:t>
            </a: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GameMain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::update(void){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//call our update function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 = timer-&gt;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sz="16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animTest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updateFrames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framesToUpdate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);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// begin rendering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dxManager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beginRender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//game render calls go here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textManager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drawText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("Hello World", 30, 30, 300, 300);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testSurface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setSize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(100);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testSurface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setPosition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(60,80);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testSurface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-&gt;render(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dxManager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-&gt;getD3DDevice());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    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animTest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-&gt;render(</a:t>
            </a:r>
            <a:r>
              <a:rPr lang="en-US" altLang="en-US" sz="1600" b="1" dirty="0" err="1">
                <a:latin typeface="Courier New" pitchFamily="49" charset="0"/>
                <a:cs typeface="Courier New" pitchFamily="49" charset="0"/>
              </a:rPr>
              <a:t>dxManager</a:t>
            </a:r>
            <a:r>
              <a:rPr lang="en-US" altLang="en-US" sz="1600" b="1" dirty="0">
                <a:latin typeface="Courier New" pitchFamily="49" charset="0"/>
                <a:cs typeface="Courier New" pitchFamily="49" charset="0"/>
              </a:rPr>
              <a:t>-&gt;getD3DDevice());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     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//end render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dxManager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endRender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16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5715000" y="2492896"/>
            <a:ext cx="838200" cy="174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6553200" y="2362200"/>
            <a:ext cx="2286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Updating to the correct frame before rendering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6324600" y="5129898"/>
            <a:ext cx="381000" cy="381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6705600" y="5206098"/>
            <a:ext cx="228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Render the frame</a:t>
            </a:r>
          </a:p>
        </p:txBody>
      </p:sp>
    </p:spTree>
    <p:extLst>
      <p:ext uri="{BB962C8B-B14F-4D97-AF65-F5344CB8AC3E}">
        <p14:creationId xmlns:p14="http://schemas.microsoft.com/office/powerpoint/2010/main" val="277451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61"/>
          <a:stretch>
            <a:fillRect/>
          </a:stretch>
        </p:blipFill>
        <p:spPr bwMode="auto">
          <a:xfrm>
            <a:off x="3124200" y="2514600"/>
            <a:ext cx="458152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Clipping an image using D3DXSprite approach is by changing the window position of rendering.</a:t>
            </a:r>
          </a:p>
          <a:p>
            <a:r>
              <a:rPr lang="en-US" altLang="en-US" dirty="0"/>
              <a:t>Example: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24200" y="2514600"/>
            <a:ext cx="381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905000" y="2667000"/>
            <a:ext cx="11430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990600" y="3352800"/>
            <a:ext cx="1868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Clipping rectangle</a:t>
            </a:r>
          </a:p>
        </p:txBody>
      </p:sp>
    </p:spTree>
    <p:extLst>
      <p:ext uri="{BB962C8B-B14F-4D97-AF65-F5344CB8AC3E}">
        <p14:creationId xmlns:p14="http://schemas.microsoft.com/office/powerpoint/2010/main" val="230330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04" b="21761"/>
          <a:stretch>
            <a:fillRect/>
          </a:stretch>
        </p:blipFill>
        <p:spPr bwMode="auto">
          <a:xfrm>
            <a:off x="6248400" y="2133600"/>
            <a:ext cx="22860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38800" y="1763713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(0,0)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2133600"/>
            <a:ext cx="3810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76800" y="2362200"/>
            <a:ext cx="12954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4343400" y="3200400"/>
            <a:ext cx="1336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16 px width</a:t>
            </a:r>
          </a:p>
          <a:p>
            <a:pPr eaLnBrk="1" hangingPunct="1"/>
            <a:r>
              <a:rPr lang="en-US" altLang="en-US">
                <a:latin typeface="Calibri" pitchFamily="34" charset="0"/>
              </a:rPr>
              <a:t>20 px height</a:t>
            </a: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6248400" y="16764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[1]</a:t>
            </a: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6705600" y="1687513"/>
            <a:ext cx="44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[2]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7162800" y="16764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[3]</a:t>
            </a: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7620000" y="16764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[4]</a:t>
            </a:r>
          </a:p>
        </p:txBody>
      </p:sp>
      <p:sp>
        <p:nvSpPr>
          <p:cNvPr id="13" name="TextBox 14"/>
          <p:cNvSpPr txBox="1">
            <a:spLocks noChangeArrowheads="1"/>
          </p:cNvSpPr>
          <p:nvPr/>
        </p:nvSpPr>
        <p:spPr bwMode="auto">
          <a:xfrm>
            <a:off x="8077200" y="16764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[5]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0" y="2209800"/>
            <a:ext cx="12954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5" name="TextBox 19"/>
          <p:cNvSpPr txBox="1">
            <a:spLocks noChangeArrowheads="1"/>
          </p:cNvSpPr>
          <p:nvPr/>
        </p:nvSpPr>
        <p:spPr bwMode="auto">
          <a:xfrm>
            <a:off x="533400" y="1828800"/>
            <a:ext cx="92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top, left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524000" y="2057400"/>
            <a:ext cx="12954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609601" y="2971800"/>
            <a:ext cx="1524000" cy="3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27"/>
          <p:cNvSpPr txBox="1">
            <a:spLocks noChangeArrowheads="1"/>
          </p:cNvSpPr>
          <p:nvPr/>
        </p:nvSpPr>
        <p:spPr bwMode="auto">
          <a:xfrm>
            <a:off x="1828800" y="167640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width</a:t>
            </a:r>
          </a:p>
        </p:txBody>
      </p:sp>
      <p:sp>
        <p:nvSpPr>
          <p:cNvPr id="19" name="TextBox 28"/>
          <p:cNvSpPr txBox="1">
            <a:spLocks noChangeArrowheads="1"/>
          </p:cNvSpPr>
          <p:nvPr/>
        </p:nvSpPr>
        <p:spPr bwMode="auto">
          <a:xfrm>
            <a:off x="590550" y="2743200"/>
            <a:ext cx="781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height</a:t>
            </a:r>
          </a:p>
        </p:txBody>
      </p:sp>
      <p:sp>
        <p:nvSpPr>
          <p:cNvPr id="20" name="TextBox 29"/>
          <p:cNvSpPr txBox="1">
            <a:spLocks noChangeArrowheads="1"/>
          </p:cNvSpPr>
          <p:nvPr/>
        </p:nvSpPr>
        <p:spPr bwMode="auto">
          <a:xfrm>
            <a:off x="2819400" y="3733800"/>
            <a:ext cx="1431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bottom, right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rot="10800000" flipV="1">
            <a:off x="2438400" y="41148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32"/>
          <p:cNvSpPr txBox="1">
            <a:spLocks noChangeArrowheads="1"/>
          </p:cNvSpPr>
          <p:nvPr/>
        </p:nvSpPr>
        <p:spPr bwMode="auto">
          <a:xfrm>
            <a:off x="1295400" y="4931320"/>
            <a:ext cx="2243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bottom = top + height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16200000" flipH="1">
            <a:off x="3429000" y="4648200"/>
            <a:ext cx="1143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3886200" y="5410200"/>
            <a:ext cx="191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right = left + width</a:t>
            </a:r>
          </a:p>
        </p:txBody>
      </p:sp>
    </p:spTree>
    <p:extLst>
      <p:ext uri="{BB962C8B-B14F-4D97-AF65-F5344CB8AC3E}">
        <p14:creationId xmlns:p14="http://schemas.microsoft.com/office/powerpoint/2010/main" val="1227219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>
                <a:cs typeface="Courier New" pitchFamily="49" charset="0"/>
              </a:rPr>
              <a:t>Code Snippet:</a:t>
            </a:r>
          </a:p>
          <a:p>
            <a:pPr>
              <a:buNone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width = 16;</a:t>
            </a:r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height = 20;</a:t>
            </a:r>
          </a:p>
          <a:p>
            <a:pPr>
              <a:buNone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RECT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clipWindow.top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clipWindow.left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clipWindow.bottom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clipWindow.top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+ height;</a:t>
            </a:r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clipWIndow.right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clipWindow.left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+width;</a:t>
            </a:r>
          </a:p>
          <a:p>
            <a:pPr>
              <a:buNone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altLang="en-US" dirty="0">
                <a:latin typeface="Courier New" pitchFamily="49" charset="0"/>
              </a:rPr>
              <a:t>sprite-&gt;Draw(texture, </a:t>
            </a:r>
            <a:r>
              <a:rPr lang="en-GB" altLang="en-US" b="1" dirty="0">
                <a:latin typeface="Courier New" pitchFamily="49" charset="0"/>
              </a:rPr>
              <a:t>&amp;</a:t>
            </a:r>
            <a:r>
              <a:rPr lang="en-GB" altLang="en-US" b="1" dirty="0" err="1">
                <a:latin typeface="Courier New" pitchFamily="49" charset="0"/>
              </a:rPr>
              <a:t>clipWindow</a:t>
            </a:r>
            <a:r>
              <a:rPr lang="en-GB" altLang="en-US" dirty="0">
                <a:latin typeface="Courier New" pitchFamily="49" charset="0"/>
              </a:rPr>
              <a:t>, NULL, NULL, &amp;position D3DCOLOR_XRGB(255, 255, 255));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94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04" b="21761"/>
          <a:stretch>
            <a:fillRect/>
          </a:stretch>
        </p:blipFill>
        <p:spPr bwMode="auto">
          <a:xfrm>
            <a:off x="1136600" y="3333328"/>
            <a:ext cx="22860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27000" y="2888178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(0,0)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6600" y="3258065"/>
            <a:ext cx="381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1136600" y="2800865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[1]</a:t>
            </a:r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1593800" y="2800865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[2]</a:t>
            </a: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2051000" y="2800865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[3]</a:t>
            </a: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2508200" y="2800865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[4]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2965400" y="2800865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[5]</a:t>
            </a:r>
          </a:p>
        </p:txBody>
      </p:sp>
      <p:sp>
        <p:nvSpPr>
          <p:cNvPr id="12" name="TextBox 16"/>
          <p:cNvSpPr txBox="1">
            <a:spLocks noChangeArrowheads="1"/>
          </p:cNvSpPr>
          <p:nvPr/>
        </p:nvSpPr>
        <p:spPr bwMode="auto">
          <a:xfrm>
            <a:off x="3727342" y="1289222"/>
            <a:ext cx="48768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width = 16;</a:t>
            </a:r>
          </a:p>
          <a:p>
            <a:pPr eaLnBrk="1" hangingPunct="1"/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height = 20;</a:t>
            </a:r>
          </a:p>
          <a:p>
            <a:pPr eaLnBrk="1" hangingPunct="1"/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frame = 1;</a:t>
            </a:r>
          </a:p>
          <a:p>
            <a:pPr eaLnBrk="1" hangingPunct="1"/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gap = 2;</a:t>
            </a:r>
          </a:p>
          <a:p>
            <a:pPr eaLnBrk="1" hangingPunct="1"/>
            <a:r>
              <a:rPr lang="en-US" alt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/>
            <a:r>
              <a:rPr lang="en-US" altLang="en-US" dirty="0">
                <a:latin typeface="Courier New" pitchFamily="49" charset="0"/>
                <a:cs typeface="Courier New" pitchFamily="49" charset="0"/>
              </a:rPr>
              <a:t>RECT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clipWindow.top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 eaLnBrk="1" hangingPunct="1"/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clipWindow.left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(frame-1)*(width + gap)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clipWindow.bottom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clipWindow.top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+ height;</a:t>
            </a:r>
          </a:p>
          <a:p>
            <a:pPr eaLnBrk="1" hangingPunct="1"/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clipWIndow.right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clipWindow.left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+width;</a:t>
            </a:r>
          </a:p>
          <a:p>
            <a:pPr eaLnBrk="1" hangingPunct="1"/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frame++;</a:t>
            </a:r>
          </a:p>
          <a:p>
            <a:pPr eaLnBrk="1" hangingPunct="1"/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GB" altLang="en-US" dirty="0">
                <a:latin typeface="Courier New" pitchFamily="49" charset="0"/>
              </a:rPr>
              <a:t>sprite-&gt;Draw(texture, &amp;</a:t>
            </a:r>
            <a:r>
              <a:rPr lang="en-GB" altLang="en-US" dirty="0" err="1">
                <a:latin typeface="Courier New" pitchFamily="49" charset="0"/>
              </a:rPr>
              <a:t>clipWindow</a:t>
            </a:r>
            <a:r>
              <a:rPr lang="en-GB" altLang="en-US" dirty="0">
                <a:latin typeface="Courier New" pitchFamily="49" charset="0"/>
              </a:rPr>
              <a:t>, NULL, NULL, &amp;position,  D3DCOLOR_XRGB(255, 255, 255));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93800" y="3258065"/>
            <a:ext cx="381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51000" y="3258065"/>
            <a:ext cx="381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8200" y="3258065"/>
            <a:ext cx="381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965400" y="3258065"/>
            <a:ext cx="3810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rot="5400000">
            <a:off x="1334244" y="2954059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1376313" y="2343665"/>
            <a:ext cx="908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2px gap</a:t>
            </a:r>
          </a:p>
        </p:txBody>
      </p:sp>
      <p:sp>
        <p:nvSpPr>
          <p:cNvPr id="19" name="TextBox 24"/>
          <p:cNvSpPr txBox="1">
            <a:spLocks noChangeArrowheads="1"/>
          </p:cNvSpPr>
          <p:nvPr/>
        </p:nvSpPr>
        <p:spPr bwMode="auto">
          <a:xfrm>
            <a:off x="603200" y="1276865"/>
            <a:ext cx="29606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itchFamily="34" charset="0"/>
              </a:rPr>
              <a:t>Gap between clipping image</a:t>
            </a:r>
            <a:br>
              <a:rPr lang="en-US" altLang="en-US" dirty="0">
                <a:latin typeface="Calibri" pitchFamily="34" charset="0"/>
              </a:rPr>
            </a:br>
            <a:r>
              <a:rPr lang="en-US" altLang="en-US" dirty="0">
                <a:latin typeface="Calibri" pitchFamily="34" charset="0"/>
              </a:rPr>
              <a:t>depends on how image strip</a:t>
            </a:r>
            <a:br>
              <a:rPr lang="en-US" altLang="en-US" dirty="0">
                <a:latin typeface="Calibri" pitchFamily="34" charset="0"/>
              </a:rPr>
            </a:br>
            <a:r>
              <a:rPr lang="en-US" altLang="en-US" dirty="0">
                <a:latin typeface="Calibri" pitchFamily="34" charset="0"/>
              </a:rPr>
              <a:t>is prepared.</a:t>
            </a:r>
          </a:p>
        </p:txBody>
      </p:sp>
    </p:spTree>
    <p:extLst>
      <p:ext uri="{BB962C8B-B14F-4D97-AF65-F5344CB8AC3E}">
        <p14:creationId xmlns:p14="http://schemas.microsoft.com/office/powerpoint/2010/main" val="427992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04" b="62836"/>
          <a:stretch>
            <a:fillRect/>
          </a:stretch>
        </p:blipFill>
        <p:spPr bwMode="auto">
          <a:xfrm>
            <a:off x="3581400" y="2133600"/>
            <a:ext cx="22860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581400" y="2133600"/>
            <a:ext cx="2286000" cy="45720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6" name="Straight Arrow Connector 5"/>
          <p:cNvCxnSpPr>
            <a:endCxn id="5" idx="3"/>
          </p:cNvCxnSpPr>
          <p:nvPr/>
        </p:nvCxnSpPr>
        <p:spPr>
          <a:xfrm rot="10800000">
            <a:off x="5867400" y="23622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6477000" y="2133600"/>
            <a:ext cx="24384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 b="1" dirty="0">
                <a:latin typeface="Calibri" pitchFamily="34" charset="0"/>
              </a:rPr>
              <a:t>Images for left and right</a:t>
            </a:r>
          </a:p>
          <a:p>
            <a:pPr eaLnBrk="1" hangingPunct="1"/>
            <a:endParaRPr lang="en-US" altLang="en-US" dirty="0">
              <a:latin typeface="Calibri" pitchFamily="34" charset="0"/>
            </a:endParaRPr>
          </a:p>
          <a:p>
            <a:pPr eaLnBrk="1" hangingPunct="1"/>
            <a:r>
              <a:rPr lang="en-US" altLang="en-US" dirty="0">
                <a:latin typeface="Calibri" pitchFamily="34" charset="0"/>
              </a:rPr>
              <a:t>NOTE: </a:t>
            </a:r>
          </a:p>
          <a:p>
            <a:pPr eaLnBrk="1" hangingPunct="1"/>
            <a:r>
              <a:rPr lang="en-US" altLang="en-US" dirty="0">
                <a:latin typeface="Calibri" pitchFamily="34" charset="0"/>
              </a:rPr>
              <a:t>To flip image to left, scale to -1 on x-axis.</a:t>
            </a:r>
          </a:p>
          <a:p>
            <a:pPr eaLnBrk="1" hangingPunct="1"/>
            <a:endParaRPr lang="en-US" altLang="en-US" dirty="0">
              <a:latin typeface="Calibri" pitchFamily="34" charset="0"/>
            </a:endParaRPr>
          </a:p>
          <a:p>
            <a:pPr marL="0" lvl="1" eaLnBrk="1" hangingPunct="1"/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D3DXVECTOR2 </a:t>
            </a:r>
          </a:p>
          <a:p>
            <a:pPr marL="0" lvl="1" eaLnBrk="1" hangingPunct="1"/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scaling(-1.0f,0.0f);</a:t>
            </a:r>
            <a:r>
              <a:rPr lang="en-US" altLang="en-US" dirty="0">
                <a:latin typeface="Calibri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1400" y="2614613"/>
            <a:ext cx="2286000" cy="4572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2817813"/>
            <a:ext cx="68580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1219200" y="2590800"/>
            <a:ext cx="175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Images for down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19400" y="32766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81400" y="3094038"/>
            <a:ext cx="2286000" cy="45720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1428750" y="30480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Images for up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1524000" y="5486400"/>
            <a:ext cx="66849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3200">
                <a:latin typeface="Calibri" pitchFamily="34" charset="0"/>
              </a:rPr>
              <a:t>Q: How to put such into programming?</a:t>
            </a:r>
          </a:p>
        </p:txBody>
      </p:sp>
    </p:spTree>
    <p:extLst>
      <p:ext uri="{BB962C8B-B14F-4D97-AF65-F5344CB8AC3E}">
        <p14:creationId xmlns:p14="http://schemas.microsoft.com/office/powerpoint/2010/main" val="245769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04" b="62836"/>
          <a:stretch>
            <a:fillRect/>
          </a:stretch>
        </p:blipFill>
        <p:spPr bwMode="auto">
          <a:xfrm>
            <a:off x="3352800" y="2819400"/>
            <a:ext cx="2286000" cy="1447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52800" y="2819400"/>
            <a:ext cx="2286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2800" y="3300413"/>
            <a:ext cx="2286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3779838"/>
            <a:ext cx="2286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352800" y="23622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[1]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810000" y="23622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[2]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267200" y="23622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[3]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724400" y="23622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[4]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181600" y="23622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[5]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429000" y="1905000"/>
            <a:ext cx="908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2px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2800" y="2819400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0000" y="2819400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200" y="2819400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24400" y="2819400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81600" y="2819400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rot="5400000">
            <a:off x="3543300" y="251460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609600" y="2906713"/>
            <a:ext cx="2663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en-US">
                <a:latin typeface="Calibri" pitchFamily="34" charset="0"/>
              </a:rPr>
              <a:t>Animate move left or right</a:t>
            </a:r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1139825" y="3352800"/>
            <a:ext cx="213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en-US">
                <a:latin typeface="Calibri" pitchFamily="34" charset="0"/>
              </a:rPr>
              <a:t>Animate move down</a:t>
            </a:r>
          </a:p>
        </p:txBody>
      </p:sp>
      <p:sp>
        <p:nvSpPr>
          <p:cNvPr id="22" name="TextBox 22"/>
          <p:cNvSpPr txBox="1">
            <a:spLocks noChangeArrowheads="1"/>
          </p:cNvSpPr>
          <p:nvPr/>
        </p:nvSpPr>
        <p:spPr bwMode="auto">
          <a:xfrm>
            <a:off x="1428750" y="3810000"/>
            <a:ext cx="1847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altLang="en-US">
                <a:latin typeface="Calibri" pitchFamily="34" charset="0"/>
              </a:rPr>
              <a:t>Animate move up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10800000" flipV="1">
            <a:off x="5715000" y="25908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6172200" y="2209800"/>
            <a:ext cx="25828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Earlier we use variable</a:t>
            </a:r>
            <a:br>
              <a:rPr lang="en-US" altLang="en-US">
                <a:latin typeface="Calibri" pitchFamily="34" charset="0"/>
              </a:rPr>
            </a:br>
            <a:r>
              <a:rPr lang="en-US" altLang="en-US">
                <a:latin typeface="Courier New" pitchFamily="49" charset="0"/>
                <a:cs typeface="Courier New" pitchFamily="49" charset="0"/>
              </a:rPr>
              <a:t>frame</a:t>
            </a:r>
            <a:r>
              <a:rPr lang="en-US" altLang="en-US">
                <a:latin typeface="Calibri" pitchFamily="34" charset="0"/>
              </a:rPr>
              <a:t> to represent each</a:t>
            </a:r>
            <a:br>
              <a:rPr lang="en-US" altLang="en-US">
                <a:latin typeface="Calibri" pitchFamily="34" charset="0"/>
              </a:rPr>
            </a:br>
            <a:r>
              <a:rPr lang="en-US" altLang="en-US">
                <a:latin typeface="Calibri" pitchFamily="34" charset="0"/>
              </a:rPr>
              <a:t>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2800" y="3298825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10000" y="3298825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67200" y="3298825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724400" y="3298825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81600" y="3298825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52800" y="3779838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10000" y="3779838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67200" y="3779838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24400" y="3779838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181600" y="3779838"/>
            <a:ext cx="38100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381000" y="1371600"/>
            <a:ext cx="815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>
                <a:latin typeface="Calibri" pitchFamily="34" charset="0"/>
              </a:rPr>
              <a:t>Solving such problem is similar to accessing a 2-dimensionals array.</a:t>
            </a:r>
          </a:p>
        </p:txBody>
      </p:sp>
      <p:sp>
        <p:nvSpPr>
          <p:cNvPr id="36" name="TextBox 36"/>
          <p:cNvSpPr txBox="1">
            <a:spLocks noChangeArrowheads="1"/>
          </p:cNvSpPr>
          <p:nvPr/>
        </p:nvSpPr>
        <p:spPr bwMode="auto">
          <a:xfrm>
            <a:off x="5715000" y="28575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[1]</a:t>
            </a:r>
          </a:p>
        </p:txBody>
      </p:sp>
      <p:sp>
        <p:nvSpPr>
          <p:cNvPr id="37" name="TextBox 37"/>
          <p:cNvSpPr txBox="1">
            <a:spLocks noChangeArrowheads="1"/>
          </p:cNvSpPr>
          <p:nvPr/>
        </p:nvSpPr>
        <p:spPr bwMode="auto">
          <a:xfrm>
            <a:off x="5715000" y="332105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[2]</a:t>
            </a:r>
          </a:p>
        </p:txBody>
      </p:sp>
      <p:sp>
        <p:nvSpPr>
          <p:cNvPr id="38" name="TextBox 38"/>
          <p:cNvSpPr txBox="1">
            <a:spLocks noChangeArrowheads="1"/>
          </p:cNvSpPr>
          <p:nvPr/>
        </p:nvSpPr>
        <p:spPr bwMode="auto">
          <a:xfrm>
            <a:off x="5715000" y="3810000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[3]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rot="16200000" flipV="1">
            <a:off x="5981700" y="43053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41"/>
          <p:cNvSpPr txBox="1">
            <a:spLocks noChangeArrowheads="1"/>
          </p:cNvSpPr>
          <p:nvPr/>
        </p:nvSpPr>
        <p:spPr bwMode="auto">
          <a:xfrm>
            <a:off x="5943600" y="4724400"/>
            <a:ext cx="27860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Can use a variable called</a:t>
            </a:r>
          </a:p>
          <a:p>
            <a:pPr eaLnBrk="1" hangingPunct="1"/>
            <a:r>
              <a:rPr lang="en-US" altLang="en-US">
                <a:latin typeface="Courier New" pitchFamily="49" charset="0"/>
                <a:cs typeface="Courier New" pitchFamily="49" charset="0"/>
              </a:rPr>
              <a:t>state</a:t>
            </a:r>
            <a:r>
              <a:rPr lang="en-US" altLang="en-US">
                <a:latin typeface="Calibri" pitchFamily="34" charset="0"/>
              </a:rPr>
              <a:t> to represent the set</a:t>
            </a:r>
            <a:br>
              <a:rPr lang="en-US" altLang="en-US">
                <a:latin typeface="Calibri" pitchFamily="34" charset="0"/>
              </a:rPr>
            </a:br>
            <a:r>
              <a:rPr lang="en-US" altLang="en-US">
                <a:latin typeface="Calibri" pitchFamily="34" charset="0"/>
              </a:rPr>
              <a:t>of images.</a:t>
            </a:r>
          </a:p>
        </p:txBody>
      </p:sp>
      <p:sp>
        <p:nvSpPr>
          <p:cNvPr id="41" name="TextBox 43"/>
          <p:cNvSpPr txBox="1">
            <a:spLocks noChangeArrowheads="1"/>
          </p:cNvSpPr>
          <p:nvPr/>
        </p:nvSpPr>
        <p:spPr bwMode="auto">
          <a:xfrm>
            <a:off x="609600" y="4800600"/>
            <a:ext cx="4495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For this problem, you will need an additional variable called flip for left and right in which the value will be -1 (left) and 1 (right).</a:t>
            </a:r>
          </a:p>
        </p:txBody>
      </p:sp>
    </p:spTree>
    <p:extLst>
      <p:ext uri="{BB962C8B-B14F-4D97-AF65-F5344CB8AC3E}">
        <p14:creationId xmlns:p14="http://schemas.microsoft.com/office/powerpoint/2010/main" val="1925139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Essentially you will be changing the clipping window based on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frame</a:t>
            </a:r>
            <a:r>
              <a:rPr lang="en-US" altLang="en-US" sz="2000" dirty="0"/>
              <a:t>,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state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flip</a:t>
            </a:r>
            <a:r>
              <a:rPr lang="en-US" altLang="en-US" sz="2000" dirty="0"/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Code snippet: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  <a:buNone/>
            </a:pPr>
            <a:r>
              <a:rPr lang="en-MY" altLang="en-US" sz="1600" dirty="0">
                <a:latin typeface="Courier New" pitchFamily="49" charset="0"/>
                <a:cs typeface="Courier New" pitchFamily="49" charset="0"/>
              </a:rPr>
              <a:t>// Define the macro needed to check the state of the keys on the keyboard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sz="1600" dirty="0">
                <a:latin typeface="Courier New" pitchFamily="49" charset="0"/>
                <a:cs typeface="Courier New" pitchFamily="49" charset="0"/>
              </a:rPr>
              <a:t>#define KEYDOWN(name, key) (name[key] &amp; 0x80)</a:t>
            </a:r>
          </a:p>
          <a:p>
            <a:pPr>
              <a:lnSpc>
                <a:spcPct val="80000"/>
              </a:lnSpc>
              <a:buNone/>
            </a:pPr>
            <a:endParaRPr lang="en-MY" alt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MY" altLang="en-US" sz="1600" dirty="0">
                <a:latin typeface="Courier New" pitchFamily="49" charset="0"/>
                <a:cs typeface="Courier New" pitchFamily="49" charset="0"/>
              </a:rPr>
              <a:t>// This is the required keyboard buffer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char buffer[256];</a:t>
            </a:r>
          </a:p>
          <a:p>
            <a:pPr>
              <a:lnSpc>
                <a:spcPct val="80000"/>
              </a:lnSpc>
              <a:buNone/>
            </a:pPr>
            <a:endParaRPr lang="en-GB" alt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// Constant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600" b="1" dirty="0" err="1">
                <a:latin typeface="Courier New" pitchFamily="49" charset="0"/>
                <a:cs typeface="Courier New" pitchFamily="49" charset="0"/>
              </a:rPr>
              <a:t>enum</a:t>
            </a:r>
            <a:r>
              <a:rPr lang="en-GB" altLang="en-US" sz="1600" b="1" dirty="0">
                <a:latin typeface="Courier New" pitchFamily="49" charset="0"/>
                <a:cs typeface="Courier New" pitchFamily="49" charset="0"/>
              </a:rPr>
              <a:t>{SIDE, UP, DOWN};</a:t>
            </a:r>
          </a:p>
          <a:p>
            <a:pPr>
              <a:lnSpc>
                <a:spcPct val="80000"/>
              </a:lnSpc>
              <a:buNone/>
            </a:pPr>
            <a:endParaRPr lang="en-GB" alt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GB" altLang="en-US" sz="1600" dirty="0">
                <a:latin typeface="Courier New" pitchFamily="49" charset="0"/>
                <a:cs typeface="Courier New" pitchFamily="49" charset="0"/>
              </a:rPr>
              <a:t>//variables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altLang="en-US" sz="1600" b="1" dirty="0">
                <a:latin typeface="Courier New" pitchFamily="49" charset="0"/>
                <a:cs typeface="Courier New" pitchFamily="49" charset="0"/>
              </a:rPr>
              <a:t> state = UP;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altLang="en-US" sz="1600" b="1" dirty="0">
                <a:latin typeface="Courier New" pitchFamily="49" charset="0"/>
                <a:cs typeface="Courier New" pitchFamily="49" charset="0"/>
              </a:rPr>
              <a:t> flip = 1;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219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// This is the main game loop, read from the input device each frame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while ( 1 )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// Check the keyboard and see if any keys are currently </a:t>
            </a: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being pressed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 err="1">
                <a:latin typeface="Courier New" pitchFamily="49" charset="0"/>
                <a:cs typeface="Courier New" pitchFamily="49" charset="0"/>
              </a:rPr>
              <a:t>g_lpDIDevice</a:t>
            </a: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GB" altLang="en-US" sz="1400" dirty="0" err="1">
                <a:latin typeface="Courier New" pitchFamily="49" charset="0"/>
                <a:cs typeface="Courier New" pitchFamily="49" charset="0"/>
              </a:rPr>
              <a:t>GetDeviceState</a:t>
            </a: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GB" altLang="en-US" sz="1400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( buffer ),(LPVOID )&amp;buffer );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// Do something with the input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if (KEYDOWN(buffer, DIK_UP)){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state = UP;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	flip = 1;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}else if (KEYDOWN(buffer, DIK_DOWN)){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state = DOWN;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	flip = 1;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}else if (KEYDOWN(buffer, DIK_LEFT)){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state = SIDE;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	flip = -1;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}else if (KEYDOWN(buffer, DIK_RIGHT)){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state = SIDE;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MY" altLang="en-US" sz="1400" b="1" dirty="0">
                <a:latin typeface="Courier New" pitchFamily="49" charset="0"/>
                <a:cs typeface="Courier New" pitchFamily="49" charset="0"/>
              </a:rPr>
              <a:t>	flip = 1;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}else{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	//reset the state, flip and frame to default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GB" altLang="en-US" sz="1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//render codes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en-US" sz="1400" dirty="0">
              <a:latin typeface="Calibri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9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//Rendering codes</a:t>
            </a:r>
          </a:p>
          <a:p>
            <a:pPr marL="0" indent="0"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RECT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clipWindow.top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(state-1)*(height)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clipWindow.left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= (frame-1)*(width + gap);</a:t>
            </a:r>
          </a:p>
          <a:p>
            <a:pPr marL="0" indent="0">
              <a:buNone/>
            </a:pP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clipWindow.bottom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clipWindow.top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+ height;</a:t>
            </a:r>
          </a:p>
          <a:p>
            <a:pPr marL="0" indent="0">
              <a:buNone/>
            </a:pP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clipWIndow.right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en-US" sz="2200" dirty="0" err="1">
                <a:latin typeface="Courier New" pitchFamily="49" charset="0"/>
                <a:cs typeface="Courier New" pitchFamily="49" charset="0"/>
              </a:rPr>
              <a:t>clipWindow.left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 +width;</a:t>
            </a:r>
          </a:p>
          <a:p>
            <a:pPr marL="0" indent="0">
              <a:buNone/>
            </a:pP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frame++;</a:t>
            </a:r>
          </a:p>
          <a:p>
            <a:pPr marL="0" indent="0">
              <a:buNone/>
            </a:pPr>
            <a:endParaRPr lang="en-US" altLang="en-US" sz="2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altLang="en-US" sz="2200" dirty="0">
                <a:latin typeface="Courier New" pitchFamily="49" charset="0"/>
              </a:rPr>
              <a:t>sprite-&gt;Draw(texture, &amp;</a:t>
            </a:r>
            <a:r>
              <a:rPr lang="en-GB" altLang="en-US" sz="2200" dirty="0" err="1">
                <a:latin typeface="Courier New" pitchFamily="49" charset="0"/>
              </a:rPr>
              <a:t>clipWindow</a:t>
            </a:r>
            <a:r>
              <a:rPr lang="en-GB" altLang="en-US" sz="2200" dirty="0">
                <a:latin typeface="Courier New" pitchFamily="49" charset="0"/>
              </a:rPr>
              <a:t>, NULL, NULL, &amp;position, D3DCOLOR_XRGB(255, 255, 255));</a:t>
            </a:r>
            <a:endParaRPr lang="en-US" altLang="en-US" sz="2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2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lot more you can do with </a:t>
            </a:r>
            <a:r>
              <a:rPr lang="en-US" dirty="0" err="1"/>
              <a:t>spritesheets</a:t>
            </a:r>
            <a:r>
              <a:rPr lang="en-US" dirty="0"/>
              <a:t> and </a:t>
            </a:r>
            <a:r>
              <a:rPr lang="en-US" dirty="0" err="1"/>
              <a:t>tilesets</a:t>
            </a:r>
            <a:r>
              <a:rPr lang="en-US" dirty="0"/>
              <a:t> such as maps, map editors and  complex animations, to be taught in the coming semesters</a:t>
            </a:r>
          </a:p>
          <a:p>
            <a:r>
              <a:rPr lang="en-US" dirty="0"/>
              <a:t>You should explore them if you are interested ^_^</a:t>
            </a:r>
          </a:p>
        </p:txBody>
      </p:sp>
    </p:spTree>
    <p:extLst>
      <p:ext uri="{BB962C8B-B14F-4D97-AF65-F5344CB8AC3E}">
        <p14:creationId xmlns:p14="http://schemas.microsoft.com/office/powerpoint/2010/main" val="244313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Collision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basic form of collision is to represent all objects as a rectangle</a:t>
            </a:r>
          </a:p>
          <a:p>
            <a:r>
              <a:rPr lang="en-US" dirty="0"/>
              <a:t>These rectangles can be used for all game objects such as:</a:t>
            </a:r>
          </a:p>
          <a:p>
            <a:pPr lvl="1"/>
            <a:r>
              <a:rPr lang="en-US" dirty="0"/>
              <a:t>User interface elements (labels and buttons)</a:t>
            </a:r>
          </a:p>
          <a:p>
            <a:pPr lvl="1"/>
            <a:r>
              <a:rPr lang="en-US" dirty="0"/>
              <a:t>Game map elements (trees, walls, doors)</a:t>
            </a:r>
          </a:p>
          <a:p>
            <a:pPr lvl="1"/>
            <a:r>
              <a:rPr lang="en-US" dirty="0"/>
              <a:t>Characters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17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Collision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Detecting collision with bounding box is essentially looking for intersection within 2 rectangles 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0" y="2819400"/>
            <a:ext cx="1447800" cy="1447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7200" y="3276600"/>
            <a:ext cx="1752600" cy="1295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cxnSp>
        <p:nvCxnSpPr>
          <p:cNvPr id="6" name="Straight Arrow Connector 5"/>
          <p:cNvCxnSpPr>
            <a:stCxn id="8" idx="1"/>
          </p:cNvCxnSpPr>
          <p:nvPr/>
        </p:nvCxnSpPr>
        <p:spPr>
          <a:xfrm rot="10800000" flipV="1">
            <a:off x="4495800" y="2622550"/>
            <a:ext cx="914400" cy="654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8" idx="1"/>
          </p:cNvCxnSpPr>
          <p:nvPr/>
        </p:nvCxnSpPr>
        <p:spPr>
          <a:xfrm rot="10800000" flipV="1">
            <a:off x="4267200" y="2622550"/>
            <a:ext cx="1143000" cy="164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2"/>
          <p:cNvSpPr txBox="1">
            <a:spLocks noChangeArrowheads="1"/>
          </p:cNvSpPr>
          <p:nvPr/>
        </p:nvSpPr>
        <p:spPr bwMode="auto">
          <a:xfrm>
            <a:off x="5410200" y="2438400"/>
            <a:ext cx="1365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/>
              <a:t>intersection</a:t>
            </a:r>
          </a:p>
        </p:txBody>
      </p:sp>
    </p:spTree>
    <p:extLst>
      <p:ext uri="{BB962C8B-B14F-4D97-AF65-F5344CB8AC3E}">
        <p14:creationId xmlns:p14="http://schemas.microsoft.com/office/powerpoint/2010/main" val="2946509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Collision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logic:</a:t>
            </a:r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70000"/>
              </a:lnSpc>
              <a:buFontTx/>
              <a:buNone/>
            </a:pPr>
            <a:r>
              <a:rPr lang="en-MY" altLang="en-US" dirty="0">
                <a:latin typeface="Courier New" pitchFamily="49" charset="0"/>
                <a:cs typeface="Courier New" pitchFamily="49" charset="0"/>
              </a:rPr>
              <a:t>		if (bottom1 &lt; top2) false;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MY" altLang="en-US" dirty="0">
                <a:latin typeface="Courier New" pitchFamily="49" charset="0"/>
                <a:cs typeface="Courier New" pitchFamily="49" charset="0"/>
              </a:rPr>
              <a:t>		if (top1 &gt; bottom2) false;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MY" altLang="en-US" dirty="0">
                <a:latin typeface="Courier New" pitchFamily="49" charset="0"/>
                <a:cs typeface="Courier New" pitchFamily="49" charset="0"/>
              </a:rPr>
              <a:t>		if (right1 &lt; left2) false;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MY" altLang="en-US" dirty="0">
                <a:latin typeface="Courier New" pitchFamily="49" charset="0"/>
                <a:cs typeface="Courier New" pitchFamily="49" charset="0"/>
              </a:rPr>
              <a:t>		if (left1 &gt; right2) false;</a:t>
            </a:r>
          </a:p>
          <a:p>
            <a:pPr>
              <a:lnSpc>
                <a:spcPct val="70000"/>
              </a:lnSpc>
              <a:buFontTx/>
              <a:buNone/>
            </a:pPr>
            <a:endParaRPr lang="en-MY" altLang="en-US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70000"/>
              </a:lnSpc>
            </a:pPr>
            <a:r>
              <a:rPr lang="en-MY" altLang="en-US" dirty="0"/>
              <a:t>What does this mean?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8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Words>1855</Words>
  <Application>Microsoft Office PowerPoint</Application>
  <PresentationFormat>On-screen Show (4:3)</PresentationFormat>
  <Paragraphs>266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Segoe UI Light</vt:lpstr>
      <vt:lpstr>Office Theme</vt:lpstr>
      <vt:lpstr>LECTURE 5</vt:lpstr>
      <vt:lpstr>Super Quiz - Animations</vt:lpstr>
      <vt:lpstr>Super Quiz - Animations</vt:lpstr>
      <vt:lpstr>Super Quiz - Animations</vt:lpstr>
      <vt:lpstr>Overview</vt:lpstr>
      <vt:lpstr>Consistent Animation </vt:lpstr>
      <vt:lpstr>Consistent Animation</vt:lpstr>
      <vt:lpstr>Consistent Animation</vt:lpstr>
      <vt:lpstr>Timer</vt:lpstr>
      <vt:lpstr>Timer</vt:lpstr>
      <vt:lpstr>Timer</vt:lpstr>
      <vt:lpstr>Timer</vt:lpstr>
      <vt:lpstr>Timer</vt:lpstr>
      <vt:lpstr>Timer</vt:lpstr>
      <vt:lpstr>Timer</vt:lpstr>
      <vt:lpstr>Spritesheets and Tilesets</vt:lpstr>
      <vt:lpstr>Spritesheets and Tilesets</vt:lpstr>
      <vt:lpstr>Spritesheets and Tilesets</vt:lpstr>
      <vt:lpstr>Spritesheets and Tilesets</vt:lpstr>
      <vt:lpstr>Spritesheets and Tilesets</vt:lpstr>
      <vt:lpstr>Spritesheets and Tilesets</vt:lpstr>
      <vt:lpstr>Spritesheets and Tilesets</vt:lpstr>
      <vt:lpstr>Spritesheets and Tilesets</vt:lpstr>
      <vt:lpstr>Spritesheets and Tilesets</vt:lpstr>
      <vt:lpstr>Spritesheets and Tilesets</vt:lpstr>
      <vt:lpstr>Simple Collision</vt:lpstr>
      <vt:lpstr>Simple Collision</vt:lpstr>
      <vt:lpstr>Simple Collision</vt:lpstr>
    </vt:vector>
  </TitlesOfParts>
  <Company>SAINT-GOBAIN 1.7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Alesandra Blakeston</dc:creator>
  <cp:lastModifiedBy>LIM YONG CHIEN</cp:lastModifiedBy>
  <cp:revision>32</cp:revision>
  <dcterms:created xsi:type="dcterms:W3CDTF">2013-06-03T12:57:42Z</dcterms:created>
  <dcterms:modified xsi:type="dcterms:W3CDTF">2022-08-04T05:48:41Z</dcterms:modified>
</cp:coreProperties>
</file>