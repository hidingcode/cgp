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79" r:id="rId5"/>
    <p:sldId id="280" r:id="rId6"/>
    <p:sldId id="281" r:id="rId7"/>
    <p:sldId id="259" r:id="rId8"/>
    <p:sldId id="260" r:id="rId9"/>
    <p:sldId id="261" r:id="rId10"/>
    <p:sldId id="263" r:id="rId11"/>
    <p:sldId id="262" r:id="rId12"/>
    <p:sldId id="264" r:id="rId13"/>
    <p:sldId id="265" r:id="rId14"/>
    <p:sldId id="266" r:id="rId15"/>
    <p:sldId id="267" r:id="rId16"/>
    <p:sldId id="268" r:id="rId17"/>
    <p:sldId id="284" r:id="rId18"/>
    <p:sldId id="269" r:id="rId19"/>
    <p:sldId id="270" r:id="rId20"/>
    <p:sldId id="271" r:id="rId21"/>
    <p:sldId id="272" r:id="rId22"/>
    <p:sldId id="273" r:id="rId23"/>
    <p:sldId id="274" r:id="rId24"/>
    <p:sldId id="275" r:id="rId25"/>
    <p:sldId id="283" r:id="rId26"/>
    <p:sldId id="276" r:id="rId27"/>
    <p:sldId id="282" r:id="rId28"/>
    <p:sldId id="278" r:id="rId29"/>
    <p:sldId id="27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2580" y="-102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862CEB2-E7A1-4C97-85A7-F8341845E55D}" type="datetimeFigureOut">
              <a:rPr lang="en-MY" smtClean="0"/>
              <a:t>10/6/2020</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0BE5ACD2-1877-4E1E-919F-79019782F558}" type="slidenum">
              <a:rPr lang="en-MY" smtClean="0"/>
              <a:t>‹#›</a:t>
            </a:fld>
            <a:endParaRPr lang="en-MY"/>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62CEB2-E7A1-4C97-85A7-F8341845E55D}" type="datetimeFigureOut">
              <a:rPr lang="en-MY" smtClean="0"/>
              <a:t>10/6/2020</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0BE5ACD2-1877-4E1E-919F-79019782F558}" type="slidenum">
              <a:rPr lang="en-MY" smtClean="0"/>
              <a:t>‹#›</a:t>
            </a:fld>
            <a:endParaRPr lang="en-MY"/>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A862CEB2-E7A1-4C97-85A7-F8341845E55D}" type="datetimeFigureOut">
              <a:rPr lang="en-MY" smtClean="0"/>
              <a:t>10/6/2020</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0BE5ACD2-1877-4E1E-919F-79019782F558}" type="slidenum">
              <a:rPr lang="en-MY" smtClean="0"/>
              <a:t>‹#›</a:t>
            </a:fld>
            <a:endParaRPr lang="en-MY"/>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862CEB2-E7A1-4C97-85A7-F8341845E55D}" type="datetimeFigureOut">
              <a:rPr lang="en-MY" smtClean="0"/>
              <a:t>10/6/2020</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0BE5ACD2-1877-4E1E-919F-79019782F558}" type="slidenum">
              <a:rPr lang="en-MY" smtClean="0"/>
              <a:t>‹#›</a:t>
            </a:fld>
            <a:endParaRPr lang="en-MY"/>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862CEB2-E7A1-4C97-85A7-F8341845E55D}" type="datetimeFigureOut">
              <a:rPr lang="en-MY" smtClean="0"/>
              <a:t>10/6/2020</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0BE5ACD2-1877-4E1E-919F-79019782F558}" type="slidenum">
              <a:rPr lang="en-MY" smtClean="0"/>
              <a:t>‹#›</a:t>
            </a:fld>
            <a:endParaRPr lang="en-MY"/>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862CEB2-E7A1-4C97-85A7-F8341845E55D}" type="datetimeFigureOut">
              <a:rPr lang="en-MY" smtClean="0"/>
              <a:t>10/6/2020</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0BE5ACD2-1877-4E1E-919F-79019782F558}" type="slidenum">
              <a:rPr lang="en-MY" smtClean="0"/>
              <a:t>‹#›</a:t>
            </a:fld>
            <a:endParaRPr lang="en-MY"/>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62CEB2-E7A1-4C97-85A7-F8341845E55D}" type="datetimeFigureOut">
              <a:rPr lang="en-MY" smtClean="0"/>
              <a:t>10/6/2020</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0BE5ACD2-1877-4E1E-919F-79019782F558}" type="slidenum">
              <a:rPr lang="en-MY" smtClean="0"/>
              <a:t>‹#›</a:t>
            </a:fld>
            <a:endParaRPr lang="en-MY"/>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A862CEB2-E7A1-4C97-85A7-F8341845E55D}" type="datetimeFigureOut">
              <a:rPr lang="en-MY" smtClean="0"/>
              <a:t>10/6/2020</a:t>
            </a:fld>
            <a:endParaRPr lang="en-MY"/>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MY"/>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BE5ACD2-1877-4E1E-919F-79019782F558}" type="slidenum">
              <a:rPr lang="en-MY" smtClean="0"/>
              <a:t>‹#›</a:t>
            </a:fld>
            <a:endParaRPr lang="en-MY"/>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62CEB2-E7A1-4C97-85A7-F8341845E55D}" type="datetimeFigureOut">
              <a:rPr lang="en-MY" smtClean="0"/>
              <a:t>10/6/2020</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0BE5ACD2-1877-4E1E-919F-79019782F558}" type="slidenum">
              <a:rPr lang="en-MY" smtClean="0"/>
              <a:t>‹#›</a:t>
            </a:fld>
            <a:endParaRPr lang="en-MY"/>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62CEB2-E7A1-4C97-85A7-F8341845E55D}" type="datetimeFigureOut">
              <a:rPr lang="en-MY" smtClean="0"/>
              <a:t>10/6/2020</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0BE5ACD2-1877-4E1E-919F-79019782F558}" type="slidenum">
              <a:rPr lang="en-MY" smtClean="0"/>
              <a:t>‹#›</a:t>
            </a:fld>
            <a:endParaRPr lang="en-MY"/>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62CEB2-E7A1-4C97-85A7-F8341845E55D}" type="datetimeFigureOut">
              <a:rPr lang="en-MY" smtClean="0"/>
              <a:t>10/6/2020</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0BE5ACD2-1877-4E1E-919F-79019782F558}" type="slidenum">
              <a:rPr lang="en-MY" smtClean="0"/>
              <a:t>‹#›</a:t>
            </a:fld>
            <a:endParaRPr lang="en-MY"/>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A862CEB2-E7A1-4C97-85A7-F8341845E55D}" type="datetimeFigureOut">
              <a:rPr lang="en-MY" smtClean="0"/>
              <a:t>10/6/2020</a:t>
            </a:fld>
            <a:endParaRPr lang="en-MY"/>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MY"/>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BE5ACD2-1877-4E1E-919F-79019782F558}" type="slidenum">
              <a:rPr lang="en-MY" smtClean="0"/>
              <a:t>‹#›</a:t>
            </a:fld>
            <a:endParaRPr lang="en-MY"/>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fmod.com/download"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smtClean="0"/>
              <a:t>AACS3044 Computer Game Programming</a:t>
            </a:r>
            <a:endParaRPr lang="en-MY" sz="3600" dirty="0"/>
          </a:p>
        </p:txBody>
      </p:sp>
      <p:sp>
        <p:nvSpPr>
          <p:cNvPr id="3" name="Subtitle 2"/>
          <p:cNvSpPr>
            <a:spLocks noGrp="1"/>
          </p:cNvSpPr>
          <p:nvPr>
            <p:ph type="subTitle" idx="1"/>
          </p:nvPr>
        </p:nvSpPr>
        <p:spPr/>
        <p:txBody>
          <a:bodyPr>
            <a:normAutofit lnSpcReduction="10000"/>
          </a:bodyPr>
          <a:lstStyle/>
          <a:p>
            <a:r>
              <a:rPr lang="en-US" sz="2000" dirty="0" smtClean="0"/>
              <a:t>Programming Sound</a:t>
            </a:r>
            <a:endParaRPr lang="en-MY" sz="2000" dirty="0"/>
          </a:p>
        </p:txBody>
      </p:sp>
      <p:pic>
        <p:nvPicPr>
          <p:cNvPr id="9220" name="Picture 4" descr="http://www.fillingtheframe.com.ar/photoblog/images/20080629180546_shou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2996952"/>
            <a:ext cx="4988506" cy="3312368"/>
          </a:xfrm>
          <a:prstGeom prst="rect">
            <a:avLst/>
          </a:prstGeom>
          <a:noFill/>
          <a:effectLst>
            <a:outerShdw blurRad="76200" dir="18900000" sy="23000" kx="-1200000" algn="bl" rotWithShape="0">
              <a:prstClr val="black">
                <a:alpha val="20000"/>
              </a:prstClr>
            </a:outerShdw>
          </a:effectLst>
          <a:scene3d>
            <a:camera prst="perspectiveContrastingLeftFacing"/>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3788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Sound in Games</a:t>
            </a:r>
            <a:endParaRPr lang="en-MY" dirty="0"/>
          </a:p>
        </p:txBody>
      </p:sp>
      <p:sp>
        <p:nvSpPr>
          <p:cNvPr id="3" name="Content Placeholder 2"/>
          <p:cNvSpPr>
            <a:spLocks noGrp="1"/>
          </p:cNvSpPr>
          <p:nvPr>
            <p:ph idx="1"/>
          </p:nvPr>
        </p:nvSpPr>
        <p:spPr>
          <a:xfrm>
            <a:off x="822960" y="1100628"/>
            <a:ext cx="7520940" cy="5352708"/>
          </a:xfrm>
        </p:spPr>
        <p:txBody>
          <a:bodyPr>
            <a:noAutofit/>
          </a:bodyPr>
          <a:lstStyle/>
          <a:p>
            <a:pPr>
              <a:defRPr/>
            </a:pPr>
            <a:r>
              <a:rPr lang="en-GB" sz="1800" dirty="0"/>
              <a:t>Sound adds emotional engagement to games when it is used appropriately.</a:t>
            </a:r>
          </a:p>
          <a:p>
            <a:pPr lvl="1">
              <a:defRPr/>
            </a:pPr>
            <a:r>
              <a:rPr lang="en-MY" sz="1800" dirty="0"/>
              <a:t>Consider the ominous ambient sounds of Resident Evil, the effects of which compound the tension and horror as you happen upon those relentless zombies chewing up your Alpha Team comrades. </a:t>
            </a:r>
          </a:p>
          <a:p>
            <a:pPr lvl="1">
              <a:defRPr/>
            </a:pPr>
            <a:r>
              <a:rPr lang="en-MY" sz="1800" dirty="0"/>
              <a:t>Even early games like Space Invaders earned much of their addictive appeal by getting into your head with thumping, repetitive sound schemes. As the aliens got faster and closer, the music got faster and louder. </a:t>
            </a:r>
          </a:p>
          <a:p>
            <a:pPr>
              <a:defRPr/>
            </a:pPr>
            <a:r>
              <a:rPr lang="en-MY" sz="1800" dirty="0"/>
              <a:t>Properly designed, sound and visual cues work together to produce an experience greater than the sum of their parts. </a:t>
            </a:r>
            <a:endParaRPr lang="en-GB" sz="1800" dirty="0"/>
          </a:p>
        </p:txBody>
      </p:sp>
    </p:spTree>
    <p:extLst>
      <p:ext uri="{BB962C8B-B14F-4D97-AF65-F5344CB8AC3E}">
        <p14:creationId xmlns:p14="http://schemas.microsoft.com/office/powerpoint/2010/main" val="124573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can sound do in games?</a:t>
            </a:r>
            <a:endParaRPr lang="en-MY" dirty="0"/>
          </a:p>
        </p:txBody>
      </p:sp>
      <p:sp>
        <p:nvSpPr>
          <p:cNvPr id="3" name="Content Placeholder 2"/>
          <p:cNvSpPr>
            <a:spLocks noGrp="1"/>
          </p:cNvSpPr>
          <p:nvPr>
            <p:ph idx="1"/>
          </p:nvPr>
        </p:nvSpPr>
        <p:spPr/>
        <p:txBody>
          <a:bodyPr/>
          <a:lstStyle/>
          <a:p>
            <a:r>
              <a:rPr lang="en-GB" sz="1800" dirty="0"/>
              <a:t>Sound can be used to </a:t>
            </a:r>
          </a:p>
          <a:p>
            <a:pPr lvl="1"/>
            <a:r>
              <a:rPr lang="en-GB" sz="1800" dirty="0"/>
              <a:t>Set the mood</a:t>
            </a:r>
          </a:p>
          <a:p>
            <a:pPr lvl="1"/>
            <a:r>
              <a:rPr lang="en-GB" sz="1800" dirty="0"/>
              <a:t>Building tension</a:t>
            </a:r>
          </a:p>
          <a:p>
            <a:pPr lvl="1"/>
            <a:r>
              <a:rPr lang="en-GB" sz="1800" dirty="0"/>
              <a:t>Or Celebrate</a:t>
            </a:r>
          </a:p>
          <a:p>
            <a:r>
              <a:rPr lang="en-GB" sz="1800" dirty="0"/>
              <a:t>In the context of software development, sound is another medium of feedback we can give to users in addition to visual.</a:t>
            </a:r>
          </a:p>
          <a:p>
            <a:pPr lvl="1"/>
            <a:r>
              <a:rPr lang="en-GB" sz="1800" dirty="0" err="1"/>
              <a:t>Eg</a:t>
            </a:r>
            <a:r>
              <a:rPr lang="en-GB" sz="1800" dirty="0"/>
              <a:t>. When selected a button on a game. Sound effect of the button is played.</a:t>
            </a:r>
          </a:p>
          <a:p>
            <a:endParaRPr lang="en-MY" dirty="0"/>
          </a:p>
        </p:txBody>
      </p:sp>
    </p:spTree>
    <p:extLst>
      <p:ext uri="{BB962C8B-B14F-4D97-AF65-F5344CB8AC3E}">
        <p14:creationId xmlns:p14="http://schemas.microsoft.com/office/powerpoint/2010/main" val="1710174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nature of sound</a:t>
            </a:r>
            <a:endParaRPr lang="en-US" dirty="0"/>
          </a:p>
        </p:txBody>
      </p:sp>
      <p:sp>
        <p:nvSpPr>
          <p:cNvPr id="3" name="Content Placeholder 2"/>
          <p:cNvSpPr>
            <a:spLocks noGrp="1"/>
          </p:cNvSpPr>
          <p:nvPr>
            <p:ph idx="1"/>
          </p:nvPr>
        </p:nvSpPr>
        <p:spPr/>
        <p:txBody>
          <a:bodyPr/>
          <a:lstStyle/>
          <a:p>
            <a:r>
              <a:rPr lang="en-US" sz="1800" dirty="0"/>
              <a:t>Sound is a complex relationship involving a vibrating object (sound source), a transmission medium (usually air), a receiver (</a:t>
            </a:r>
            <a:r>
              <a:rPr lang="en-US" sz="1800" dirty="0" smtClean="0"/>
              <a:t>ear</a:t>
            </a:r>
            <a:r>
              <a:rPr lang="en-US" sz="1800" dirty="0"/>
              <a:t>) and a preceptor (brain).</a:t>
            </a:r>
          </a:p>
          <a:p>
            <a:endParaRPr lang="en-US" dirty="0"/>
          </a:p>
        </p:txBody>
      </p:sp>
      <p:pic>
        <p:nvPicPr>
          <p:cNvPr id="4" name="Picture 2" descr="http://www.topnews.in/files/ea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793" y="3073850"/>
            <a:ext cx="1570038"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http://www.edupics.com/mouth-t1070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593" y="2769050"/>
            <a:ext cx="1978025"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descr="http://www.turboread.com/images/brain.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6393" y="2235650"/>
            <a:ext cx="19526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Arrow Connector 6"/>
          <p:cNvCxnSpPr/>
          <p:nvPr/>
        </p:nvCxnSpPr>
        <p:spPr>
          <a:xfrm>
            <a:off x="2664618" y="3469138"/>
            <a:ext cx="1908175" cy="152400"/>
          </a:xfrm>
          <a:prstGeom prst="straightConnector1">
            <a:avLst/>
          </a:prstGeom>
          <a:ln w="57150">
            <a:prstDash val="sysDash"/>
            <a:tailEnd type="arrow"/>
          </a:ln>
        </p:spPr>
        <p:style>
          <a:lnRef idx="1">
            <a:schemeClr val="accent1"/>
          </a:lnRef>
          <a:fillRef idx="0">
            <a:schemeClr val="accent1"/>
          </a:fillRef>
          <a:effectRef idx="0">
            <a:schemeClr val="accent1"/>
          </a:effectRef>
          <a:fontRef idx="minor">
            <a:schemeClr val="tx1"/>
          </a:fontRef>
        </p:style>
      </p:cxnSp>
      <p:sp>
        <p:nvSpPr>
          <p:cNvPr id="8" name="TextBox 9"/>
          <p:cNvSpPr txBox="1">
            <a:spLocks noChangeArrowheads="1"/>
          </p:cNvSpPr>
          <p:nvPr/>
        </p:nvSpPr>
        <p:spPr bwMode="auto">
          <a:xfrm>
            <a:off x="305593" y="3556450"/>
            <a:ext cx="11287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nstantia" pitchFamily="18" charset="0"/>
                <a:cs typeface="Arial" charset="0"/>
              </a:defRPr>
            </a:lvl1pPr>
            <a:lvl2pPr marL="742950" indent="-285750">
              <a:defRPr>
                <a:solidFill>
                  <a:schemeClr val="tx1"/>
                </a:solidFill>
                <a:latin typeface="Constantia" pitchFamily="18" charset="0"/>
                <a:cs typeface="Arial" charset="0"/>
              </a:defRPr>
            </a:lvl2pPr>
            <a:lvl3pPr marL="1143000" indent="-228600">
              <a:defRPr>
                <a:solidFill>
                  <a:schemeClr val="tx1"/>
                </a:solidFill>
                <a:latin typeface="Constantia" pitchFamily="18" charset="0"/>
                <a:cs typeface="Arial" charset="0"/>
              </a:defRPr>
            </a:lvl3pPr>
            <a:lvl4pPr marL="1600200" indent="-228600">
              <a:defRPr>
                <a:solidFill>
                  <a:schemeClr val="tx1"/>
                </a:solidFill>
                <a:latin typeface="Constantia" pitchFamily="18" charset="0"/>
                <a:cs typeface="Arial" charset="0"/>
              </a:defRPr>
            </a:lvl4pPr>
            <a:lvl5pPr marL="2057400" indent="-228600">
              <a:defRPr>
                <a:solidFill>
                  <a:schemeClr val="tx1"/>
                </a:solidFill>
                <a:latin typeface="Constantia" pitchFamily="18" charset="0"/>
                <a:cs typeface="Arial" charset="0"/>
              </a:defRPr>
            </a:lvl5pPr>
            <a:lvl6pPr marL="2514600" indent="-228600" fontAlgn="base">
              <a:spcBef>
                <a:spcPct val="0"/>
              </a:spcBef>
              <a:spcAft>
                <a:spcPct val="0"/>
              </a:spcAft>
              <a:defRPr>
                <a:solidFill>
                  <a:schemeClr val="tx1"/>
                </a:solidFill>
                <a:latin typeface="Constantia" pitchFamily="18" charset="0"/>
                <a:cs typeface="Arial" charset="0"/>
              </a:defRPr>
            </a:lvl6pPr>
            <a:lvl7pPr marL="2971800" indent="-228600" fontAlgn="base">
              <a:spcBef>
                <a:spcPct val="0"/>
              </a:spcBef>
              <a:spcAft>
                <a:spcPct val="0"/>
              </a:spcAft>
              <a:defRPr>
                <a:solidFill>
                  <a:schemeClr val="tx1"/>
                </a:solidFill>
                <a:latin typeface="Constantia" pitchFamily="18" charset="0"/>
                <a:cs typeface="Arial" charset="0"/>
              </a:defRPr>
            </a:lvl7pPr>
            <a:lvl8pPr marL="3429000" indent="-228600" fontAlgn="base">
              <a:spcBef>
                <a:spcPct val="0"/>
              </a:spcBef>
              <a:spcAft>
                <a:spcPct val="0"/>
              </a:spcAft>
              <a:defRPr>
                <a:solidFill>
                  <a:schemeClr val="tx1"/>
                </a:solidFill>
                <a:latin typeface="Constantia" pitchFamily="18" charset="0"/>
                <a:cs typeface="Arial" charset="0"/>
              </a:defRPr>
            </a:lvl8pPr>
            <a:lvl9pPr marL="3886200" indent="-228600" fontAlgn="base">
              <a:spcBef>
                <a:spcPct val="0"/>
              </a:spcBef>
              <a:spcAft>
                <a:spcPct val="0"/>
              </a:spcAft>
              <a:defRPr>
                <a:solidFill>
                  <a:schemeClr val="tx1"/>
                </a:solidFill>
                <a:latin typeface="Constantia" pitchFamily="18" charset="0"/>
                <a:cs typeface="Arial" charset="0"/>
              </a:defRPr>
            </a:lvl9pPr>
          </a:lstStyle>
          <a:p>
            <a:r>
              <a:rPr lang="en-US"/>
              <a:t>Vibrating</a:t>
            </a:r>
          </a:p>
          <a:p>
            <a:r>
              <a:rPr lang="en-US"/>
              <a:t>object</a:t>
            </a:r>
          </a:p>
        </p:txBody>
      </p:sp>
      <p:sp>
        <p:nvSpPr>
          <p:cNvPr id="9" name="TextBox 10"/>
          <p:cNvSpPr txBox="1">
            <a:spLocks noChangeArrowheads="1"/>
          </p:cNvSpPr>
          <p:nvPr/>
        </p:nvSpPr>
        <p:spPr bwMode="auto">
          <a:xfrm>
            <a:off x="2362993" y="3759650"/>
            <a:ext cx="18653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nstantia" pitchFamily="18" charset="0"/>
                <a:cs typeface="Arial" charset="0"/>
              </a:defRPr>
            </a:lvl1pPr>
            <a:lvl2pPr marL="742950" indent="-285750">
              <a:defRPr>
                <a:solidFill>
                  <a:schemeClr val="tx1"/>
                </a:solidFill>
                <a:latin typeface="Constantia" pitchFamily="18" charset="0"/>
                <a:cs typeface="Arial" charset="0"/>
              </a:defRPr>
            </a:lvl2pPr>
            <a:lvl3pPr marL="1143000" indent="-228600">
              <a:defRPr>
                <a:solidFill>
                  <a:schemeClr val="tx1"/>
                </a:solidFill>
                <a:latin typeface="Constantia" pitchFamily="18" charset="0"/>
                <a:cs typeface="Arial" charset="0"/>
              </a:defRPr>
            </a:lvl3pPr>
            <a:lvl4pPr marL="1600200" indent="-228600">
              <a:defRPr>
                <a:solidFill>
                  <a:schemeClr val="tx1"/>
                </a:solidFill>
                <a:latin typeface="Constantia" pitchFamily="18" charset="0"/>
                <a:cs typeface="Arial" charset="0"/>
              </a:defRPr>
            </a:lvl4pPr>
            <a:lvl5pPr marL="2057400" indent="-228600">
              <a:defRPr>
                <a:solidFill>
                  <a:schemeClr val="tx1"/>
                </a:solidFill>
                <a:latin typeface="Constantia" pitchFamily="18" charset="0"/>
                <a:cs typeface="Arial" charset="0"/>
              </a:defRPr>
            </a:lvl5pPr>
            <a:lvl6pPr marL="2514600" indent="-228600" fontAlgn="base">
              <a:spcBef>
                <a:spcPct val="0"/>
              </a:spcBef>
              <a:spcAft>
                <a:spcPct val="0"/>
              </a:spcAft>
              <a:defRPr>
                <a:solidFill>
                  <a:schemeClr val="tx1"/>
                </a:solidFill>
                <a:latin typeface="Constantia" pitchFamily="18" charset="0"/>
                <a:cs typeface="Arial" charset="0"/>
              </a:defRPr>
            </a:lvl6pPr>
            <a:lvl7pPr marL="2971800" indent="-228600" fontAlgn="base">
              <a:spcBef>
                <a:spcPct val="0"/>
              </a:spcBef>
              <a:spcAft>
                <a:spcPct val="0"/>
              </a:spcAft>
              <a:defRPr>
                <a:solidFill>
                  <a:schemeClr val="tx1"/>
                </a:solidFill>
                <a:latin typeface="Constantia" pitchFamily="18" charset="0"/>
                <a:cs typeface="Arial" charset="0"/>
              </a:defRPr>
            </a:lvl7pPr>
            <a:lvl8pPr marL="3429000" indent="-228600" fontAlgn="base">
              <a:spcBef>
                <a:spcPct val="0"/>
              </a:spcBef>
              <a:spcAft>
                <a:spcPct val="0"/>
              </a:spcAft>
              <a:defRPr>
                <a:solidFill>
                  <a:schemeClr val="tx1"/>
                </a:solidFill>
                <a:latin typeface="Constantia" pitchFamily="18" charset="0"/>
                <a:cs typeface="Arial" charset="0"/>
              </a:defRPr>
            </a:lvl8pPr>
            <a:lvl9pPr marL="3886200" indent="-228600" fontAlgn="base">
              <a:spcBef>
                <a:spcPct val="0"/>
              </a:spcBef>
              <a:spcAft>
                <a:spcPct val="0"/>
              </a:spcAft>
              <a:defRPr>
                <a:solidFill>
                  <a:schemeClr val="tx1"/>
                </a:solidFill>
                <a:latin typeface="Constantia" pitchFamily="18" charset="0"/>
                <a:cs typeface="Arial" charset="0"/>
              </a:defRPr>
            </a:lvl9pPr>
          </a:lstStyle>
          <a:p>
            <a:r>
              <a:rPr lang="en-US"/>
              <a:t>Molecule around</a:t>
            </a:r>
          </a:p>
          <a:p>
            <a:r>
              <a:rPr lang="en-US"/>
              <a:t>vibrates</a:t>
            </a:r>
          </a:p>
        </p:txBody>
      </p:sp>
      <p:sp>
        <p:nvSpPr>
          <p:cNvPr id="10" name="TextBox 11"/>
          <p:cNvSpPr txBox="1">
            <a:spLocks noChangeArrowheads="1"/>
          </p:cNvSpPr>
          <p:nvPr/>
        </p:nvSpPr>
        <p:spPr bwMode="auto">
          <a:xfrm>
            <a:off x="4953793" y="4140650"/>
            <a:ext cx="11144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nstantia" pitchFamily="18" charset="0"/>
                <a:cs typeface="Arial" charset="0"/>
              </a:defRPr>
            </a:lvl1pPr>
            <a:lvl2pPr marL="742950" indent="-285750">
              <a:defRPr>
                <a:solidFill>
                  <a:schemeClr val="tx1"/>
                </a:solidFill>
                <a:latin typeface="Constantia" pitchFamily="18" charset="0"/>
                <a:cs typeface="Arial" charset="0"/>
              </a:defRPr>
            </a:lvl2pPr>
            <a:lvl3pPr marL="1143000" indent="-228600">
              <a:defRPr>
                <a:solidFill>
                  <a:schemeClr val="tx1"/>
                </a:solidFill>
                <a:latin typeface="Constantia" pitchFamily="18" charset="0"/>
                <a:cs typeface="Arial" charset="0"/>
              </a:defRPr>
            </a:lvl3pPr>
            <a:lvl4pPr marL="1600200" indent="-228600">
              <a:defRPr>
                <a:solidFill>
                  <a:schemeClr val="tx1"/>
                </a:solidFill>
                <a:latin typeface="Constantia" pitchFamily="18" charset="0"/>
                <a:cs typeface="Arial" charset="0"/>
              </a:defRPr>
            </a:lvl4pPr>
            <a:lvl5pPr marL="2057400" indent="-228600">
              <a:defRPr>
                <a:solidFill>
                  <a:schemeClr val="tx1"/>
                </a:solidFill>
                <a:latin typeface="Constantia" pitchFamily="18" charset="0"/>
                <a:cs typeface="Arial" charset="0"/>
              </a:defRPr>
            </a:lvl5pPr>
            <a:lvl6pPr marL="2514600" indent="-228600" fontAlgn="base">
              <a:spcBef>
                <a:spcPct val="0"/>
              </a:spcBef>
              <a:spcAft>
                <a:spcPct val="0"/>
              </a:spcAft>
              <a:defRPr>
                <a:solidFill>
                  <a:schemeClr val="tx1"/>
                </a:solidFill>
                <a:latin typeface="Constantia" pitchFamily="18" charset="0"/>
                <a:cs typeface="Arial" charset="0"/>
              </a:defRPr>
            </a:lvl6pPr>
            <a:lvl7pPr marL="2971800" indent="-228600" fontAlgn="base">
              <a:spcBef>
                <a:spcPct val="0"/>
              </a:spcBef>
              <a:spcAft>
                <a:spcPct val="0"/>
              </a:spcAft>
              <a:defRPr>
                <a:solidFill>
                  <a:schemeClr val="tx1"/>
                </a:solidFill>
                <a:latin typeface="Constantia" pitchFamily="18" charset="0"/>
                <a:cs typeface="Arial" charset="0"/>
              </a:defRPr>
            </a:lvl7pPr>
            <a:lvl8pPr marL="3429000" indent="-228600" fontAlgn="base">
              <a:spcBef>
                <a:spcPct val="0"/>
              </a:spcBef>
              <a:spcAft>
                <a:spcPct val="0"/>
              </a:spcAft>
              <a:defRPr>
                <a:solidFill>
                  <a:schemeClr val="tx1"/>
                </a:solidFill>
                <a:latin typeface="Constantia" pitchFamily="18" charset="0"/>
                <a:cs typeface="Arial" charset="0"/>
              </a:defRPr>
            </a:lvl8pPr>
            <a:lvl9pPr marL="3886200" indent="-228600" fontAlgn="base">
              <a:spcBef>
                <a:spcPct val="0"/>
              </a:spcBef>
              <a:spcAft>
                <a:spcPct val="0"/>
              </a:spcAft>
              <a:defRPr>
                <a:solidFill>
                  <a:schemeClr val="tx1"/>
                </a:solidFill>
                <a:latin typeface="Constantia" pitchFamily="18" charset="0"/>
                <a:cs typeface="Arial" charset="0"/>
              </a:defRPr>
            </a:lvl9pPr>
          </a:lstStyle>
          <a:p>
            <a:r>
              <a:rPr lang="en-US"/>
              <a:t>Ear drum</a:t>
            </a:r>
          </a:p>
          <a:p>
            <a:r>
              <a:rPr lang="en-US"/>
              <a:t>vibrates</a:t>
            </a:r>
          </a:p>
        </p:txBody>
      </p:sp>
      <p:sp>
        <p:nvSpPr>
          <p:cNvPr id="11" name="TextBox 12"/>
          <p:cNvSpPr txBox="1">
            <a:spLocks noChangeArrowheads="1"/>
          </p:cNvSpPr>
          <p:nvPr/>
        </p:nvSpPr>
        <p:spPr bwMode="auto">
          <a:xfrm>
            <a:off x="7163593" y="3912050"/>
            <a:ext cx="1400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nstantia" pitchFamily="18" charset="0"/>
                <a:cs typeface="Arial" charset="0"/>
              </a:defRPr>
            </a:lvl1pPr>
            <a:lvl2pPr marL="742950" indent="-285750">
              <a:defRPr>
                <a:solidFill>
                  <a:schemeClr val="tx1"/>
                </a:solidFill>
                <a:latin typeface="Constantia" pitchFamily="18" charset="0"/>
                <a:cs typeface="Arial" charset="0"/>
              </a:defRPr>
            </a:lvl2pPr>
            <a:lvl3pPr marL="1143000" indent="-228600">
              <a:defRPr>
                <a:solidFill>
                  <a:schemeClr val="tx1"/>
                </a:solidFill>
                <a:latin typeface="Constantia" pitchFamily="18" charset="0"/>
                <a:cs typeface="Arial" charset="0"/>
              </a:defRPr>
            </a:lvl3pPr>
            <a:lvl4pPr marL="1600200" indent="-228600">
              <a:defRPr>
                <a:solidFill>
                  <a:schemeClr val="tx1"/>
                </a:solidFill>
                <a:latin typeface="Constantia" pitchFamily="18" charset="0"/>
                <a:cs typeface="Arial" charset="0"/>
              </a:defRPr>
            </a:lvl4pPr>
            <a:lvl5pPr marL="2057400" indent="-228600">
              <a:defRPr>
                <a:solidFill>
                  <a:schemeClr val="tx1"/>
                </a:solidFill>
                <a:latin typeface="Constantia" pitchFamily="18" charset="0"/>
                <a:cs typeface="Arial" charset="0"/>
              </a:defRPr>
            </a:lvl5pPr>
            <a:lvl6pPr marL="2514600" indent="-228600" fontAlgn="base">
              <a:spcBef>
                <a:spcPct val="0"/>
              </a:spcBef>
              <a:spcAft>
                <a:spcPct val="0"/>
              </a:spcAft>
              <a:defRPr>
                <a:solidFill>
                  <a:schemeClr val="tx1"/>
                </a:solidFill>
                <a:latin typeface="Constantia" pitchFamily="18" charset="0"/>
                <a:cs typeface="Arial" charset="0"/>
              </a:defRPr>
            </a:lvl6pPr>
            <a:lvl7pPr marL="2971800" indent="-228600" fontAlgn="base">
              <a:spcBef>
                <a:spcPct val="0"/>
              </a:spcBef>
              <a:spcAft>
                <a:spcPct val="0"/>
              </a:spcAft>
              <a:defRPr>
                <a:solidFill>
                  <a:schemeClr val="tx1"/>
                </a:solidFill>
                <a:latin typeface="Constantia" pitchFamily="18" charset="0"/>
                <a:cs typeface="Arial" charset="0"/>
              </a:defRPr>
            </a:lvl7pPr>
            <a:lvl8pPr marL="3429000" indent="-228600" fontAlgn="base">
              <a:spcBef>
                <a:spcPct val="0"/>
              </a:spcBef>
              <a:spcAft>
                <a:spcPct val="0"/>
              </a:spcAft>
              <a:defRPr>
                <a:solidFill>
                  <a:schemeClr val="tx1"/>
                </a:solidFill>
                <a:latin typeface="Constantia" pitchFamily="18" charset="0"/>
                <a:cs typeface="Arial" charset="0"/>
              </a:defRPr>
            </a:lvl8pPr>
            <a:lvl9pPr marL="3886200" indent="-228600" fontAlgn="base">
              <a:spcBef>
                <a:spcPct val="0"/>
              </a:spcBef>
              <a:spcAft>
                <a:spcPct val="0"/>
              </a:spcAft>
              <a:defRPr>
                <a:solidFill>
                  <a:schemeClr val="tx1"/>
                </a:solidFill>
                <a:latin typeface="Constantia" pitchFamily="18" charset="0"/>
                <a:cs typeface="Arial" charset="0"/>
              </a:defRPr>
            </a:lvl9pPr>
          </a:lstStyle>
          <a:p>
            <a:r>
              <a:rPr lang="en-US"/>
              <a:t>Information</a:t>
            </a:r>
          </a:p>
          <a:p>
            <a:r>
              <a:rPr lang="en-US"/>
              <a:t>processed</a:t>
            </a:r>
          </a:p>
        </p:txBody>
      </p:sp>
      <p:cxnSp>
        <p:nvCxnSpPr>
          <p:cNvPr id="12" name="Straight Arrow Connector 11"/>
          <p:cNvCxnSpPr/>
          <p:nvPr/>
        </p:nvCxnSpPr>
        <p:spPr>
          <a:xfrm flipV="1">
            <a:off x="6142831" y="3054800"/>
            <a:ext cx="563562" cy="566738"/>
          </a:xfrm>
          <a:prstGeom prst="straightConnector1">
            <a:avLst/>
          </a:prstGeom>
          <a:ln w="57150">
            <a:prstDash val="sysDash"/>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246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nature of sound</a:t>
            </a:r>
            <a:endParaRPr lang="en-US" dirty="0"/>
          </a:p>
        </p:txBody>
      </p:sp>
      <p:sp>
        <p:nvSpPr>
          <p:cNvPr id="3" name="Content Placeholder 2"/>
          <p:cNvSpPr>
            <a:spLocks noGrp="1"/>
          </p:cNvSpPr>
          <p:nvPr>
            <p:ph idx="1"/>
          </p:nvPr>
        </p:nvSpPr>
        <p:spPr/>
        <p:txBody>
          <a:bodyPr/>
          <a:lstStyle/>
          <a:p>
            <a:r>
              <a:rPr lang="en-US" sz="1800" dirty="0"/>
              <a:t>Sounds are vibration of air usually termed as waveform.</a:t>
            </a:r>
          </a:p>
          <a:p>
            <a:r>
              <a:rPr lang="en-US" sz="1800" dirty="0"/>
              <a:t>The unit of regularity is called a cycle or known as Hertz (Hz) after Heinrich Hertz (a pioneer in the field of acoustics).</a:t>
            </a:r>
          </a:p>
          <a:p>
            <a:endParaRPr lang="en-US" dirty="0"/>
          </a:p>
        </p:txBody>
      </p:sp>
      <p:pic>
        <p:nvPicPr>
          <p:cNvPr id="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988" y="2924944"/>
            <a:ext cx="413067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a:spLocks noChangeArrowheads="1"/>
          </p:cNvSpPr>
          <p:nvPr/>
        </p:nvSpPr>
        <p:spPr bwMode="auto">
          <a:xfrm>
            <a:off x="5320388" y="3153544"/>
            <a:ext cx="3200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nstantia" pitchFamily="18" charset="0"/>
                <a:cs typeface="Arial" charset="0"/>
              </a:defRPr>
            </a:lvl1pPr>
            <a:lvl2pPr marL="742950" indent="-285750">
              <a:defRPr>
                <a:solidFill>
                  <a:schemeClr val="tx1"/>
                </a:solidFill>
                <a:latin typeface="Constantia" pitchFamily="18" charset="0"/>
                <a:cs typeface="Arial" charset="0"/>
              </a:defRPr>
            </a:lvl2pPr>
            <a:lvl3pPr marL="1143000" indent="-228600">
              <a:defRPr>
                <a:solidFill>
                  <a:schemeClr val="tx1"/>
                </a:solidFill>
                <a:latin typeface="Constantia" pitchFamily="18" charset="0"/>
                <a:cs typeface="Arial" charset="0"/>
              </a:defRPr>
            </a:lvl3pPr>
            <a:lvl4pPr marL="1600200" indent="-228600">
              <a:defRPr>
                <a:solidFill>
                  <a:schemeClr val="tx1"/>
                </a:solidFill>
                <a:latin typeface="Constantia" pitchFamily="18" charset="0"/>
                <a:cs typeface="Arial" charset="0"/>
              </a:defRPr>
            </a:lvl4pPr>
            <a:lvl5pPr marL="2057400" indent="-228600">
              <a:defRPr>
                <a:solidFill>
                  <a:schemeClr val="tx1"/>
                </a:solidFill>
                <a:latin typeface="Constantia" pitchFamily="18" charset="0"/>
                <a:cs typeface="Arial" charset="0"/>
              </a:defRPr>
            </a:lvl5pPr>
            <a:lvl6pPr marL="2514600" indent="-228600" fontAlgn="base">
              <a:spcBef>
                <a:spcPct val="0"/>
              </a:spcBef>
              <a:spcAft>
                <a:spcPct val="0"/>
              </a:spcAft>
              <a:defRPr>
                <a:solidFill>
                  <a:schemeClr val="tx1"/>
                </a:solidFill>
                <a:latin typeface="Constantia" pitchFamily="18" charset="0"/>
                <a:cs typeface="Arial" charset="0"/>
              </a:defRPr>
            </a:lvl6pPr>
            <a:lvl7pPr marL="2971800" indent="-228600" fontAlgn="base">
              <a:spcBef>
                <a:spcPct val="0"/>
              </a:spcBef>
              <a:spcAft>
                <a:spcPct val="0"/>
              </a:spcAft>
              <a:defRPr>
                <a:solidFill>
                  <a:schemeClr val="tx1"/>
                </a:solidFill>
                <a:latin typeface="Constantia" pitchFamily="18" charset="0"/>
                <a:cs typeface="Arial" charset="0"/>
              </a:defRPr>
            </a:lvl7pPr>
            <a:lvl8pPr marL="3429000" indent="-228600" fontAlgn="base">
              <a:spcBef>
                <a:spcPct val="0"/>
              </a:spcBef>
              <a:spcAft>
                <a:spcPct val="0"/>
              </a:spcAft>
              <a:defRPr>
                <a:solidFill>
                  <a:schemeClr val="tx1"/>
                </a:solidFill>
                <a:latin typeface="Constantia" pitchFamily="18" charset="0"/>
                <a:cs typeface="Arial" charset="0"/>
              </a:defRPr>
            </a:lvl8pPr>
            <a:lvl9pPr marL="3886200" indent="-228600" fontAlgn="base">
              <a:spcBef>
                <a:spcPct val="0"/>
              </a:spcBef>
              <a:spcAft>
                <a:spcPct val="0"/>
              </a:spcAft>
              <a:defRPr>
                <a:solidFill>
                  <a:schemeClr val="tx1"/>
                </a:solidFill>
                <a:latin typeface="Constantia" pitchFamily="18" charset="0"/>
                <a:cs typeface="Arial" charset="0"/>
              </a:defRPr>
            </a:lvl9pPr>
          </a:lstStyle>
          <a:p>
            <a:r>
              <a:rPr lang="en-US" sz="2400"/>
              <a:t>1,2,3 are the path the object traverse to complete a cycle</a:t>
            </a:r>
          </a:p>
          <a:p>
            <a:r>
              <a:rPr lang="en-US" sz="2400"/>
              <a:t>vibration</a:t>
            </a:r>
          </a:p>
        </p:txBody>
      </p:sp>
    </p:spTree>
    <p:extLst>
      <p:ext uri="{BB962C8B-B14F-4D97-AF65-F5344CB8AC3E}">
        <p14:creationId xmlns:p14="http://schemas.microsoft.com/office/powerpoint/2010/main" val="542156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nature of sound</a:t>
            </a:r>
            <a:endParaRPr lang="en-US" dirty="0"/>
          </a:p>
        </p:txBody>
      </p:sp>
      <p:sp>
        <p:nvSpPr>
          <p:cNvPr id="3" name="Content Placeholder 2"/>
          <p:cNvSpPr>
            <a:spLocks noGrp="1"/>
          </p:cNvSpPr>
          <p:nvPr>
            <p:ph idx="1"/>
          </p:nvPr>
        </p:nvSpPr>
        <p:spPr/>
        <p:txBody>
          <a:bodyPr/>
          <a:lstStyle/>
          <a:p>
            <a:r>
              <a:rPr lang="en-US" sz="1800" dirty="0"/>
              <a:t>Sound can be </a:t>
            </a:r>
            <a:r>
              <a:rPr lang="en-US" sz="1800" dirty="0" err="1"/>
              <a:t>characterised</a:t>
            </a:r>
            <a:r>
              <a:rPr lang="en-US" sz="1800" dirty="0"/>
              <a:t> as:</a:t>
            </a:r>
          </a:p>
          <a:p>
            <a:pPr lvl="1"/>
            <a:r>
              <a:rPr lang="en-US" sz="1800" b="1" dirty="0"/>
              <a:t>Frequency (pitch) </a:t>
            </a:r>
            <a:r>
              <a:rPr lang="en-US" sz="1800" dirty="0"/>
              <a:t>is the count of complete cycles for a wave measured in Hz (Hertz).</a:t>
            </a:r>
          </a:p>
          <a:p>
            <a:pPr lvl="1"/>
            <a:r>
              <a:rPr lang="en-US" sz="1800" dirty="0"/>
              <a:t>Human hearing frequency falls in the range of 20 to 20,000 Hz (20 KHz).</a:t>
            </a:r>
          </a:p>
          <a:p>
            <a:pPr lvl="1"/>
            <a:r>
              <a:rPr lang="en-US" sz="1800" b="1" dirty="0"/>
              <a:t>Amplitude </a:t>
            </a:r>
            <a:r>
              <a:rPr lang="en-US" sz="1800" dirty="0"/>
              <a:t>is the loudness of the sound measured in dB (decibel).</a:t>
            </a:r>
          </a:p>
          <a:p>
            <a:pPr lvl="1"/>
            <a:r>
              <a:rPr lang="en-US" sz="1800" b="1" dirty="0"/>
              <a:t>Timbre </a:t>
            </a:r>
            <a:r>
              <a:rPr lang="en-US" sz="1800" dirty="0"/>
              <a:t>defined as the quality of the tone.</a:t>
            </a:r>
          </a:p>
          <a:p>
            <a:pPr lvl="1"/>
            <a:r>
              <a:rPr lang="en-US" sz="1800" dirty="0"/>
              <a:t>All sound has its own </a:t>
            </a:r>
            <a:r>
              <a:rPr lang="en-US" sz="1800" b="1" dirty="0"/>
              <a:t>duration.</a:t>
            </a:r>
            <a:endParaRPr lang="en-US" sz="1800" dirty="0"/>
          </a:p>
          <a:p>
            <a:endParaRPr lang="en-US" dirty="0"/>
          </a:p>
        </p:txBody>
      </p:sp>
    </p:spTree>
    <p:extLst>
      <p:ext uri="{BB962C8B-B14F-4D97-AF65-F5344CB8AC3E}">
        <p14:creationId xmlns:p14="http://schemas.microsoft.com/office/powerpoint/2010/main" val="433828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DirectSound?</a:t>
            </a:r>
            <a:endParaRPr lang="en-MY" dirty="0"/>
          </a:p>
        </p:txBody>
      </p:sp>
      <p:sp>
        <p:nvSpPr>
          <p:cNvPr id="3" name="Content Placeholder 2"/>
          <p:cNvSpPr>
            <a:spLocks noGrp="1"/>
          </p:cNvSpPr>
          <p:nvPr>
            <p:ph idx="1"/>
          </p:nvPr>
        </p:nvSpPr>
        <p:spPr/>
        <p:txBody>
          <a:bodyPr>
            <a:normAutofit/>
          </a:bodyPr>
          <a:lstStyle/>
          <a:p>
            <a:r>
              <a:rPr lang="en-US" sz="1800" dirty="0" smtClean="0"/>
              <a:t>Depreciated and replaced with XACT and XAUDIO</a:t>
            </a:r>
          </a:p>
          <a:p>
            <a:pPr lvl="1"/>
            <a:r>
              <a:rPr lang="en-US" sz="1800" dirty="0" smtClean="0"/>
              <a:t>Can still be used (moved to </a:t>
            </a:r>
            <a:r>
              <a:rPr lang="en-US" sz="1800" dirty="0" err="1" smtClean="0"/>
              <a:t>directsound.h</a:t>
            </a:r>
            <a:r>
              <a:rPr lang="en-US" sz="1800" dirty="0" smtClean="0"/>
              <a:t>/lib), but the DirectSound library is ancient and very troublesome to use.</a:t>
            </a:r>
          </a:p>
          <a:p>
            <a:pPr lvl="1"/>
            <a:r>
              <a:rPr lang="en-US" sz="1800" dirty="0" smtClean="0"/>
              <a:t>XACT requires a standalone software to compile the audio files</a:t>
            </a:r>
          </a:p>
          <a:p>
            <a:pPr lvl="1"/>
            <a:r>
              <a:rPr lang="en-US" sz="1800" dirty="0" err="1" smtClean="0"/>
              <a:t>XAudio</a:t>
            </a:r>
            <a:r>
              <a:rPr lang="en-US" sz="1800" dirty="0" smtClean="0"/>
              <a:t> is the replacement for DirectSound, and as such, it is also very low level, and tedious to use.</a:t>
            </a:r>
          </a:p>
          <a:p>
            <a:r>
              <a:rPr lang="en-US" sz="1800" dirty="0" smtClean="0"/>
              <a:t>BUT WE STILL WANT SOUND!</a:t>
            </a:r>
          </a:p>
        </p:txBody>
      </p:sp>
    </p:spTree>
    <p:extLst>
      <p:ext uri="{BB962C8B-B14F-4D97-AF65-F5344CB8AC3E}">
        <p14:creationId xmlns:p14="http://schemas.microsoft.com/office/powerpoint/2010/main" val="1427134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How does DirectSound </a:t>
            </a:r>
            <a:r>
              <a:rPr lang="en-GB" dirty="0" smtClean="0"/>
              <a:t>Work?</a:t>
            </a:r>
            <a:endParaRPr lang="en-MY" dirty="0"/>
          </a:p>
        </p:txBody>
      </p:sp>
      <p:sp>
        <p:nvSpPr>
          <p:cNvPr id="3" name="Content Placeholder 2"/>
          <p:cNvSpPr>
            <a:spLocks noGrp="1"/>
          </p:cNvSpPr>
          <p:nvPr>
            <p:ph idx="1"/>
          </p:nvPr>
        </p:nvSpPr>
        <p:spPr/>
        <p:txBody>
          <a:bodyPr>
            <a:normAutofit/>
          </a:bodyPr>
          <a:lstStyle/>
          <a:p>
            <a:r>
              <a:rPr lang="en-US" sz="1800" dirty="0" smtClean="0"/>
              <a:t>For concept sake:</a:t>
            </a:r>
          </a:p>
          <a:p>
            <a:pPr>
              <a:defRPr/>
            </a:pPr>
            <a:r>
              <a:rPr lang="en-MY" sz="1800" dirty="0"/>
              <a:t>DirectSound manages the sound data through the use of </a:t>
            </a:r>
            <a:r>
              <a:rPr lang="en-MY" sz="1800" i="1" dirty="0"/>
              <a:t>buffers. </a:t>
            </a:r>
          </a:p>
          <a:p>
            <a:pPr lvl="1">
              <a:defRPr/>
            </a:pPr>
            <a:r>
              <a:rPr lang="en-MY" sz="1800" i="1" dirty="0"/>
              <a:t>Buffers are areas of </a:t>
            </a:r>
            <a:r>
              <a:rPr lang="en-MY" sz="1800" dirty="0"/>
              <a:t>memory that hold sound data. </a:t>
            </a:r>
          </a:p>
          <a:p>
            <a:pPr>
              <a:defRPr/>
            </a:pPr>
            <a:r>
              <a:rPr lang="en-MY" sz="1800" dirty="0"/>
              <a:t>When you’re using DirectSound, you can have multiple buffers that hold any sound data you want to load. </a:t>
            </a:r>
          </a:p>
          <a:p>
            <a:pPr>
              <a:defRPr/>
            </a:pPr>
            <a:r>
              <a:rPr lang="en-MY" sz="1800" dirty="0"/>
              <a:t>You can then manipulate or play the data within these buffers. </a:t>
            </a:r>
          </a:p>
          <a:p>
            <a:pPr lvl="1">
              <a:defRPr/>
            </a:pPr>
            <a:r>
              <a:rPr lang="en-MY" sz="1800" dirty="0"/>
              <a:t>DirectSound mixes these sounds into a single buffer. </a:t>
            </a:r>
          </a:p>
          <a:p>
            <a:pPr lvl="1">
              <a:defRPr/>
            </a:pPr>
            <a:r>
              <a:rPr lang="en-MY" sz="1800" dirty="0"/>
              <a:t>This single buffer contains the final sound that the user hears. </a:t>
            </a:r>
          </a:p>
          <a:p>
            <a:pPr>
              <a:defRPr/>
            </a:pPr>
            <a:r>
              <a:rPr lang="en-MY" sz="1800" dirty="0"/>
              <a:t>The sound buffers can reside either on sound card memory or in system memory.</a:t>
            </a:r>
            <a:endParaRPr lang="en-GB" sz="1800" dirty="0"/>
          </a:p>
          <a:p>
            <a:endParaRPr lang="en-MY" sz="1800" dirty="0"/>
          </a:p>
        </p:txBody>
      </p:sp>
    </p:spTree>
    <p:extLst>
      <p:ext uri="{BB962C8B-B14F-4D97-AF65-F5344CB8AC3E}">
        <p14:creationId xmlns:p14="http://schemas.microsoft.com/office/powerpoint/2010/main" val="1522274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buffer in DirectSound</a:t>
            </a:r>
            <a:endParaRPr lang="en-MY" dirty="0"/>
          </a:p>
        </p:txBody>
      </p:sp>
      <p:sp>
        <p:nvSpPr>
          <p:cNvPr id="3" name="Content Placeholder 2"/>
          <p:cNvSpPr>
            <a:spLocks noGrp="1"/>
          </p:cNvSpPr>
          <p:nvPr>
            <p:ph idx="1"/>
          </p:nvPr>
        </p:nvSpPr>
        <p:spPr/>
        <p:txBody>
          <a:bodyPr>
            <a:noAutofit/>
          </a:bodyPr>
          <a:lstStyle/>
          <a:p>
            <a:pPr>
              <a:defRPr/>
            </a:pPr>
            <a:r>
              <a:rPr lang="en-MY" dirty="0"/>
              <a:t>Primary buffer. </a:t>
            </a:r>
          </a:p>
          <a:p>
            <a:pPr lvl="1">
              <a:defRPr/>
            </a:pPr>
            <a:r>
              <a:rPr lang="en-MY" dirty="0"/>
              <a:t>All sounds played are mixed into the primary buffer. The sound card uses the resulting mixed sound in the primary buffer to create the actual </a:t>
            </a:r>
            <a:r>
              <a:rPr lang="en-GB" dirty="0"/>
              <a:t>sound that you hear.</a:t>
            </a:r>
          </a:p>
          <a:p>
            <a:pPr>
              <a:defRPr/>
            </a:pPr>
            <a:r>
              <a:rPr lang="en-MY" dirty="0"/>
              <a:t>Secondary buffer. </a:t>
            </a:r>
          </a:p>
          <a:p>
            <a:pPr lvl="1">
              <a:defRPr/>
            </a:pPr>
            <a:r>
              <a:rPr lang="en-MY" dirty="0"/>
              <a:t>These are the buffers that hold all the sound data that your game needs. DirectSound lets you play multiple sounds by accessing more than </a:t>
            </a:r>
            <a:r>
              <a:rPr lang="en-GB" dirty="0"/>
              <a:t>one secondary buffer simultaneously.</a:t>
            </a:r>
          </a:p>
          <a:p>
            <a:pPr>
              <a:defRPr/>
            </a:pPr>
            <a:r>
              <a:rPr lang="en-MY" dirty="0"/>
              <a:t>Static buffer. </a:t>
            </a:r>
          </a:p>
          <a:p>
            <a:pPr lvl="1">
              <a:defRPr/>
            </a:pPr>
            <a:r>
              <a:rPr lang="en-MY" dirty="0"/>
              <a:t>When sound data is of limited size, you can create a static or fixed size buffer. This buffer allows for the complete loading of a particular sound into </a:t>
            </a:r>
            <a:r>
              <a:rPr lang="en-GB" dirty="0"/>
              <a:t>memory.</a:t>
            </a:r>
          </a:p>
          <a:p>
            <a:pPr>
              <a:defRPr/>
            </a:pPr>
            <a:r>
              <a:rPr lang="en-MY" dirty="0"/>
              <a:t>Streaming buffer. </a:t>
            </a:r>
          </a:p>
          <a:p>
            <a:pPr lvl="1">
              <a:defRPr/>
            </a:pPr>
            <a:r>
              <a:rPr lang="en-MY" dirty="0"/>
              <a:t>Sometimes, sounds that you want to play might be too large to fit into memory at one time. In this instance, you need a streaming buffer. The streaming buffer allows for only a portion of a sound to be loaded into it before being sent off to be played. As the sound within the streaming buffer is played, new sound data is loaded into it.</a:t>
            </a:r>
            <a:endParaRPr lang="en-GB" dirty="0"/>
          </a:p>
          <a:p>
            <a:endParaRPr lang="en-MY" dirty="0"/>
          </a:p>
        </p:txBody>
      </p:sp>
    </p:spTree>
    <p:extLst>
      <p:ext uri="{BB962C8B-B14F-4D97-AF65-F5344CB8AC3E}">
        <p14:creationId xmlns:p14="http://schemas.microsoft.com/office/powerpoint/2010/main" val="2022369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DirectSound’s complexity</a:t>
            </a:r>
            <a:endParaRPr lang="en-MY" dirty="0"/>
          </a:p>
        </p:txBody>
      </p:sp>
      <p:sp>
        <p:nvSpPr>
          <p:cNvPr id="3" name="Content Placeholder 2"/>
          <p:cNvSpPr>
            <a:spLocks noGrp="1"/>
          </p:cNvSpPr>
          <p:nvPr>
            <p:ph idx="1"/>
          </p:nvPr>
        </p:nvSpPr>
        <p:spPr/>
        <p:txBody>
          <a:bodyPr/>
          <a:lstStyle/>
          <a:p>
            <a:r>
              <a:rPr lang="en-GB" dirty="0"/>
              <a:t>STEP </a:t>
            </a:r>
            <a:r>
              <a:rPr lang="en-GB" dirty="0" smtClean="0"/>
              <a:t>1: Creating </a:t>
            </a:r>
            <a:r>
              <a:rPr lang="en-GB" dirty="0"/>
              <a:t>DirectSound </a:t>
            </a:r>
            <a:r>
              <a:rPr lang="en-GB" dirty="0" smtClean="0"/>
              <a:t>Device</a:t>
            </a:r>
          </a:p>
          <a:p>
            <a:r>
              <a:rPr lang="en-GB" dirty="0" smtClean="0"/>
              <a:t>STEP 2: Enumerate the devices</a:t>
            </a:r>
          </a:p>
          <a:p>
            <a:r>
              <a:rPr lang="en-GB" dirty="0" smtClean="0"/>
              <a:t>STEP 3</a:t>
            </a:r>
            <a:r>
              <a:rPr lang="en-GB" dirty="0"/>
              <a:t>: Setting the </a:t>
            </a:r>
            <a:r>
              <a:rPr lang="en-GB" dirty="0" smtClean="0"/>
              <a:t>Cooperative Level</a:t>
            </a:r>
          </a:p>
          <a:p>
            <a:r>
              <a:rPr lang="en-GB" dirty="0" smtClean="0"/>
              <a:t>STEP 4</a:t>
            </a:r>
            <a:r>
              <a:rPr lang="en-GB" dirty="0"/>
              <a:t>: Setting up Secondary </a:t>
            </a:r>
            <a:r>
              <a:rPr lang="en-GB" dirty="0" smtClean="0"/>
              <a:t>Buffer</a:t>
            </a:r>
          </a:p>
          <a:p>
            <a:r>
              <a:rPr lang="en-GB" dirty="0" smtClean="0"/>
              <a:t>STEP 5</a:t>
            </a:r>
            <a:r>
              <a:rPr lang="en-GB" dirty="0"/>
              <a:t>: Creating a Secondary </a:t>
            </a:r>
            <a:r>
              <a:rPr lang="en-GB" dirty="0" smtClean="0"/>
              <a:t>Buffer</a:t>
            </a:r>
          </a:p>
          <a:p>
            <a:r>
              <a:rPr lang="en-US" dirty="0" smtClean="0"/>
              <a:t>STEP 6</a:t>
            </a:r>
            <a:r>
              <a:rPr lang="en-US" dirty="0"/>
              <a:t>: Reading the Sound Data into the </a:t>
            </a:r>
            <a:r>
              <a:rPr lang="en-US" dirty="0" smtClean="0"/>
              <a:t>buffer</a:t>
            </a:r>
          </a:p>
          <a:p>
            <a:r>
              <a:rPr lang="en-GB" dirty="0" smtClean="0"/>
              <a:t>STEP 7</a:t>
            </a:r>
            <a:r>
              <a:rPr lang="en-GB" dirty="0"/>
              <a:t>: Locking the Sound </a:t>
            </a:r>
            <a:r>
              <a:rPr lang="en-GB" dirty="0" smtClean="0"/>
              <a:t>Buffer</a:t>
            </a:r>
          </a:p>
          <a:p>
            <a:r>
              <a:rPr lang="en-GB" dirty="0" smtClean="0"/>
              <a:t>STEP 8</a:t>
            </a:r>
            <a:r>
              <a:rPr lang="en-GB" dirty="0"/>
              <a:t>: Unlocking (only for manipulation after loading) </a:t>
            </a:r>
            <a:endParaRPr lang="en-GB" dirty="0" smtClean="0"/>
          </a:p>
          <a:p>
            <a:r>
              <a:rPr lang="en-GB" dirty="0" smtClean="0"/>
              <a:t>STEP 9</a:t>
            </a:r>
            <a:r>
              <a:rPr lang="en-GB" dirty="0"/>
              <a:t>: Resetting WAV and place data into secondary </a:t>
            </a:r>
            <a:r>
              <a:rPr lang="en-GB" dirty="0" smtClean="0"/>
              <a:t>buffer</a:t>
            </a:r>
          </a:p>
          <a:p>
            <a:r>
              <a:rPr lang="en-GB" dirty="0" smtClean="0"/>
              <a:t>FINALLY, we can play and control the sound…</a:t>
            </a:r>
            <a:endParaRPr lang="en-MY" dirty="0"/>
          </a:p>
        </p:txBody>
      </p:sp>
    </p:spTree>
    <p:extLst>
      <p:ext uri="{BB962C8B-B14F-4D97-AF65-F5344CB8AC3E}">
        <p14:creationId xmlns:p14="http://schemas.microsoft.com/office/powerpoint/2010/main" val="3016091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FMOD TO THE RESCUE!</a:t>
            </a:r>
            <a:endParaRPr lang="en-MY" dirty="0"/>
          </a:p>
        </p:txBody>
      </p:sp>
      <p:sp>
        <p:nvSpPr>
          <p:cNvPr id="3" name="Content Placeholder 2"/>
          <p:cNvSpPr>
            <a:spLocks noGrp="1"/>
          </p:cNvSpPr>
          <p:nvPr>
            <p:ph idx="1"/>
          </p:nvPr>
        </p:nvSpPr>
        <p:spPr>
          <a:xfrm>
            <a:off x="822960" y="1100628"/>
            <a:ext cx="7520940" cy="3984556"/>
          </a:xfrm>
        </p:spPr>
        <p:txBody>
          <a:bodyPr>
            <a:normAutofit fontScale="92500"/>
          </a:bodyPr>
          <a:lstStyle/>
          <a:p>
            <a:r>
              <a:rPr lang="en-MY" dirty="0"/>
              <a:t>FMOD</a:t>
            </a:r>
            <a:r>
              <a:rPr lang="en-MY" b="0" dirty="0"/>
              <a:t> is a proprietary audio library made by Firelight Technologies that plays music files of diverse formats on many different operating system platforms, used in games and software applications to provide audio functionality.</a:t>
            </a:r>
          </a:p>
          <a:p>
            <a:r>
              <a:rPr lang="en-MY" b="0" dirty="0"/>
              <a:t>Prior to version 3.75, the library was named simply as FMOD. Since then, the FMOD sound system has been redesigned and now contains three main parts:</a:t>
            </a:r>
          </a:p>
          <a:p>
            <a:pPr>
              <a:buFont typeface="Arial" pitchFamily="34" charset="0"/>
              <a:buChar char="•"/>
            </a:pPr>
            <a:r>
              <a:rPr lang="en-MY" b="0" i="1" dirty="0"/>
              <a:t>FMOD Ex</a:t>
            </a:r>
            <a:r>
              <a:rPr lang="en-MY" b="0" dirty="0"/>
              <a:t>, the low-level sound engine</a:t>
            </a:r>
          </a:p>
          <a:p>
            <a:pPr>
              <a:buFont typeface="Arial" pitchFamily="34" charset="0"/>
              <a:buChar char="•"/>
            </a:pPr>
            <a:r>
              <a:rPr lang="en-MY" b="0" i="1" dirty="0"/>
              <a:t>FMOD Event System</a:t>
            </a:r>
            <a:r>
              <a:rPr lang="en-MY" b="0" dirty="0"/>
              <a:t>, more abstract, higher level application layer to simplify playback of content created with FMOD Designer</a:t>
            </a:r>
          </a:p>
          <a:p>
            <a:pPr>
              <a:buFont typeface="Arial" pitchFamily="34" charset="0"/>
              <a:buChar char="•"/>
            </a:pPr>
            <a:r>
              <a:rPr lang="en-MY" b="0" i="1" dirty="0"/>
              <a:t>FMOD Designer</a:t>
            </a:r>
            <a:r>
              <a:rPr lang="en-MY" b="0" dirty="0"/>
              <a:t>, the sound designer tool used for authoring complex sound events and music for playback</a:t>
            </a:r>
          </a:p>
          <a:p>
            <a:r>
              <a:rPr lang="en-MY" b="0" dirty="0"/>
              <a:t>The FMOD sound system has an advanced plugin architecture, that can be used to extend the support of audio formats or to develop new output types, e.g. for streaming</a:t>
            </a:r>
            <a:r>
              <a:rPr lang="en-MY" b="0" dirty="0" smtClean="0"/>
              <a:t>.</a:t>
            </a:r>
            <a:endParaRPr lang="en-US" b="0" dirty="0"/>
          </a:p>
          <a:p>
            <a:r>
              <a:rPr lang="en-US" b="0" dirty="0"/>
              <a:t>~http://en.wikipedia.org/wiki/FMOD</a:t>
            </a:r>
            <a:endParaRPr lang="en-MY" dirty="0"/>
          </a:p>
        </p:txBody>
      </p:sp>
    </p:spTree>
    <p:extLst>
      <p:ext uri="{BB962C8B-B14F-4D97-AF65-F5344CB8AC3E}">
        <p14:creationId xmlns:p14="http://schemas.microsoft.com/office/powerpoint/2010/main" val="1887929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FMOD LICENSING</a:t>
            </a:r>
            <a:endParaRPr lang="en-MY" dirty="0"/>
          </a:p>
        </p:txBody>
      </p:sp>
      <p:sp>
        <p:nvSpPr>
          <p:cNvPr id="3" name="Content Placeholder 2"/>
          <p:cNvSpPr>
            <a:spLocks noGrp="1"/>
          </p:cNvSpPr>
          <p:nvPr>
            <p:ph idx="1"/>
          </p:nvPr>
        </p:nvSpPr>
        <p:spPr/>
        <p:txBody>
          <a:bodyPr>
            <a:normAutofit/>
          </a:bodyPr>
          <a:lstStyle/>
          <a:p>
            <a:r>
              <a:rPr lang="en-MY" sz="1800" b="0" dirty="0"/>
              <a:t>FMOD is available under multiple license schemes</a:t>
            </a:r>
            <a:r>
              <a:rPr lang="en-MY" sz="1800" b="0" dirty="0" smtClean="0"/>
              <a:t>:</a:t>
            </a:r>
            <a:endParaRPr lang="en-MY" sz="1800" b="0" dirty="0"/>
          </a:p>
          <a:p>
            <a:r>
              <a:rPr lang="en-MY" sz="1800" b="0" i="1" dirty="0"/>
              <a:t>FMOD Non-Commercial License</a:t>
            </a:r>
            <a:r>
              <a:rPr lang="en-MY" sz="1800" b="0" dirty="0"/>
              <a:t>, which allows software not intended for commercial distribution to use FMOD for free.</a:t>
            </a:r>
          </a:p>
          <a:p>
            <a:r>
              <a:rPr lang="en-MY" sz="1800" b="0" i="1" dirty="0"/>
              <a:t>FMOD Commercial License</a:t>
            </a:r>
            <a:r>
              <a:rPr lang="en-MY" sz="1800" b="0" dirty="0"/>
              <a:t>, licensed on a per-platform basis. Intended for commercial software and games.</a:t>
            </a:r>
          </a:p>
          <a:p>
            <a:r>
              <a:rPr lang="en-MY" sz="1800" b="0" i="1" dirty="0"/>
              <a:t>FMOD Casual License</a:t>
            </a:r>
            <a:r>
              <a:rPr lang="en-MY" sz="1800" b="0" dirty="0"/>
              <a:t>, a variant of the commercial license intended for electronically distributed titles, such as those distributed via the Xbox Live Arcade, PlayStation Network</a:t>
            </a:r>
            <a:r>
              <a:rPr lang="en-MY" sz="1800" b="0" dirty="0" smtClean="0"/>
              <a:t>, Nintendo </a:t>
            </a:r>
            <a:r>
              <a:rPr lang="en-MY" sz="1800" b="0" dirty="0" err="1"/>
              <a:t>WiiWare</a:t>
            </a:r>
            <a:r>
              <a:rPr lang="en-MY" sz="1800" b="0" dirty="0"/>
              <a:t>, Windows and Mac OS X via download, as well as various mobile application distribution channels.</a:t>
            </a:r>
          </a:p>
          <a:p>
            <a:endParaRPr lang="en-MY" sz="1800" dirty="0"/>
          </a:p>
        </p:txBody>
      </p:sp>
    </p:spTree>
    <p:extLst>
      <p:ext uri="{BB962C8B-B14F-4D97-AF65-F5344CB8AC3E}">
        <p14:creationId xmlns:p14="http://schemas.microsoft.com/office/powerpoint/2010/main" val="400774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Lets begin!</a:t>
            </a:r>
            <a:endParaRPr lang="en-MY" dirty="0"/>
          </a:p>
        </p:txBody>
      </p:sp>
      <p:sp>
        <p:nvSpPr>
          <p:cNvPr id="3" name="Content Placeholder 2"/>
          <p:cNvSpPr>
            <a:spLocks noGrp="1"/>
          </p:cNvSpPr>
          <p:nvPr>
            <p:ph idx="1"/>
          </p:nvPr>
        </p:nvSpPr>
        <p:spPr/>
        <p:txBody>
          <a:bodyPr/>
          <a:lstStyle/>
          <a:p>
            <a:r>
              <a:rPr lang="en-US" dirty="0" smtClean="0"/>
              <a:t>Setting up:</a:t>
            </a:r>
          </a:p>
          <a:p>
            <a:pPr>
              <a:buFont typeface="Arial" pitchFamily="34" charset="0"/>
              <a:buChar char="•"/>
            </a:pPr>
            <a:r>
              <a:rPr lang="en-US" dirty="0" smtClean="0"/>
              <a:t>Step1: Go </a:t>
            </a:r>
            <a:r>
              <a:rPr lang="en-US" dirty="0"/>
              <a:t>to </a:t>
            </a:r>
            <a:r>
              <a:rPr lang="en-US" dirty="0">
                <a:hlinkClick r:id="rId2"/>
              </a:rPr>
              <a:t>https://</a:t>
            </a:r>
            <a:r>
              <a:rPr lang="en-US" dirty="0" smtClean="0">
                <a:hlinkClick r:id="rId2"/>
              </a:rPr>
              <a:t>www.fmod.com/download</a:t>
            </a:r>
            <a:r>
              <a:rPr lang="en-US" dirty="0" smtClean="0"/>
              <a:t> and download the FMOD Studio API. (I will be using the one for Windows). You may need to create an account to sign in before this.</a:t>
            </a:r>
          </a:p>
          <a:p>
            <a:pPr>
              <a:buFont typeface="Arial" pitchFamily="34" charset="0"/>
              <a:buChar char="•"/>
            </a:pPr>
            <a:r>
              <a:rPr lang="en-US" dirty="0" smtClean="0"/>
              <a:t>Step 2: Install the API</a:t>
            </a:r>
          </a:p>
          <a:p>
            <a:pPr>
              <a:buFont typeface="Arial" pitchFamily="34" charset="0"/>
              <a:buChar char="•"/>
            </a:pPr>
            <a:r>
              <a:rPr lang="en-US" dirty="0" smtClean="0"/>
              <a:t>Step 3: …</a:t>
            </a:r>
          </a:p>
          <a:p>
            <a:pPr>
              <a:buFont typeface="Arial" pitchFamily="34" charset="0"/>
              <a:buChar char="•"/>
            </a:pPr>
            <a:r>
              <a:rPr lang="en-US" dirty="0" smtClean="0"/>
              <a:t>Profit!</a:t>
            </a:r>
          </a:p>
          <a:p>
            <a:pPr>
              <a:buFont typeface="Arial" pitchFamily="34" charset="0"/>
              <a:buChar char="•"/>
            </a:pPr>
            <a:endParaRPr lang="en-US" dirty="0" smtClean="0"/>
          </a:p>
          <a:p>
            <a:pPr>
              <a:buFont typeface="Arial" pitchFamily="34" charset="0"/>
              <a:buChar char="•"/>
            </a:pPr>
            <a:endParaRPr lang="en-MY" dirty="0"/>
          </a:p>
        </p:txBody>
      </p:sp>
    </p:spTree>
    <p:extLst>
      <p:ext uri="{BB962C8B-B14F-4D97-AF65-F5344CB8AC3E}">
        <p14:creationId xmlns:p14="http://schemas.microsoft.com/office/powerpoint/2010/main" val="786721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Integrating with Visual Studio</a:t>
            </a:r>
            <a:endParaRPr lang="en-MY" dirty="0"/>
          </a:p>
        </p:txBody>
      </p:sp>
      <p:sp>
        <p:nvSpPr>
          <p:cNvPr id="3" name="Content Placeholder 2"/>
          <p:cNvSpPr>
            <a:spLocks noGrp="1"/>
          </p:cNvSpPr>
          <p:nvPr>
            <p:ph idx="1"/>
          </p:nvPr>
        </p:nvSpPr>
        <p:spPr>
          <a:xfrm>
            <a:off x="822960" y="1100628"/>
            <a:ext cx="7520940" cy="3912548"/>
          </a:xfrm>
        </p:spPr>
        <p:txBody>
          <a:bodyPr>
            <a:normAutofit fontScale="92500" lnSpcReduction="10000"/>
          </a:bodyPr>
          <a:lstStyle/>
          <a:p>
            <a:r>
              <a:rPr lang="en-US" dirty="0" smtClean="0"/>
              <a:t>A number of steps:</a:t>
            </a:r>
          </a:p>
          <a:p>
            <a:pPr>
              <a:buFont typeface="Arial" pitchFamily="34" charset="0"/>
              <a:buChar char="•"/>
            </a:pPr>
            <a:r>
              <a:rPr lang="en-US" dirty="0" smtClean="0"/>
              <a:t>Create/load your project</a:t>
            </a:r>
          </a:p>
          <a:p>
            <a:pPr>
              <a:buFont typeface="Arial" pitchFamily="34" charset="0"/>
              <a:buChar char="•"/>
            </a:pPr>
            <a:r>
              <a:rPr lang="en-US" dirty="0" smtClean="0"/>
              <a:t>Go to the properties window</a:t>
            </a:r>
          </a:p>
          <a:p>
            <a:pPr>
              <a:buFont typeface="Arial" pitchFamily="34" charset="0"/>
              <a:buChar char="•"/>
            </a:pPr>
            <a:r>
              <a:rPr lang="en-US" dirty="0" smtClean="0"/>
              <a:t>Under Configuration Properties-&gt;VC++ Directories</a:t>
            </a:r>
          </a:p>
          <a:p>
            <a:pPr>
              <a:buFont typeface="Arial" pitchFamily="34" charset="0"/>
              <a:buChar char="•"/>
            </a:pPr>
            <a:r>
              <a:rPr lang="en-US" dirty="0" smtClean="0"/>
              <a:t>Go to “Include Directories”, dive in and navigate to your FMOD directory, </a:t>
            </a:r>
            <a:r>
              <a:rPr lang="en-US" dirty="0" err="1" smtClean="0"/>
              <a:t>eg</a:t>
            </a:r>
            <a:r>
              <a:rPr lang="en-US" dirty="0" smtClean="0"/>
              <a:t>: “C:\Program Files (x86)\FMOD </a:t>
            </a:r>
            <a:r>
              <a:rPr lang="en-US" dirty="0" err="1" smtClean="0"/>
              <a:t>SoundSystem</a:t>
            </a:r>
            <a:r>
              <a:rPr lang="en-US" dirty="0" smtClean="0"/>
              <a:t>\FMOD Studio API </a:t>
            </a:r>
            <a:r>
              <a:rPr lang="en-US" dirty="0" smtClean="0"/>
              <a:t>Windows\</a:t>
            </a:r>
            <a:r>
              <a:rPr lang="en-US" dirty="0" err="1" smtClean="0"/>
              <a:t>api</a:t>
            </a:r>
            <a:r>
              <a:rPr lang="en-US" dirty="0" smtClean="0"/>
              <a:t>\core\</a:t>
            </a:r>
            <a:r>
              <a:rPr lang="en-US" dirty="0" err="1" smtClean="0"/>
              <a:t>inc</a:t>
            </a:r>
            <a:r>
              <a:rPr lang="en-MY" dirty="0" smtClean="0"/>
              <a:t>”.</a:t>
            </a:r>
          </a:p>
          <a:p>
            <a:pPr>
              <a:buFont typeface="Arial" pitchFamily="34" charset="0"/>
              <a:buChar char="•"/>
            </a:pPr>
            <a:r>
              <a:rPr lang="en-MY" dirty="0" smtClean="0"/>
              <a:t>As we are in “Include Directories”, we select the “</a:t>
            </a:r>
            <a:r>
              <a:rPr lang="en-MY" dirty="0" err="1" smtClean="0"/>
              <a:t>inc</a:t>
            </a:r>
            <a:r>
              <a:rPr lang="en-MY" dirty="0" smtClean="0"/>
              <a:t>” folder.</a:t>
            </a:r>
          </a:p>
          <a:p>
            <a:pPr>
              <a:buFont typeface="Arial" pitchFamily="34" charset="0"/>
              <a:buChar char="•"/>
            </a:pPr>
            <a:r>
              <a:rPr lang="en-US" dirty="0" smtClean="0"/>
              <a:t>Go to “Library Directories”, dive in and navigate to your FMOD directory again</a:t>
            </a:r>
            <a:r>
              <a:rPr lang="en-US" dirty="0" smtClean="0"/>
              <a:t>.</a:t>
            </a:r>
          </a:p>
          <a:p>
            <a:pPr>
              <a:buFont typeface="Arial" pitchFamily="34" charset="0"/>
              <a:buChar char="•"/>
            </a:pPr>
            <a:r>
              <a:rPr lang="en-MY" dirty="0" smtClean="0"/>
              <a:t>As </a:t>
            </a:r>
            <a:r>
              <a:rPr lang="en-MY" dirty="0" smtClean="0"/>
              <a:t>we are in </a:t>
            </a:r>
            <a:r>
              <a:rPr lang="en-US" dirty="0" smtClean="0"/>
              <a:t>“Library Directories”, </a:t>
            </a:r>
            <a:r>
              <a:rPr lang="en-MY" dirty="0" smtClean="0"/>
              <a:t>we select the “lib” folder</a:t>
            </a:r>
            <a:r>
              <a:rPr lang="en-MY" dirty="0" smtClean="0"/>
              <a:t>.</a:t>
            </a:r>
          </a:p>
          <a:p>
            <a:pPr>
              <a:buFont typeface="Arial" pitchFamily="34" charset="0"/>
              <a:buChar char="•"/>
            </a:pPr>
            <a:r>
              <a:rPr lang="en-US" dirty="0"/>
              <a:t>Go deeper </a:t>
            </a:r>
            <a:r>
              <a:rPr lang="en-US" dirty="0" smtClean="0"/>
              <a:t> and </a:t>
            </a:r>
            <a:r>
              <a:rPr lang="en-US" smtClean="0"/>
              <a:t>select the </a:t>
            </a:r>
            <a:r>
              <a:rPr lang="en-US" dirty="0"/>
              <a:t>x86 </a:t>
            </a:r>
            <a:r>
              <a:rPr lang="en-US" dirty="0" smtClean="0"/>
              <a:t>folder</a:t>
            </a:r>
            <a:endParaRPr lang="en-MY" dirty="0" smtClean="0"/>
          </a:p>
          <a:p>
            <a:pPr>
              <a:buFont typeface="Arial" pitchFamily="34" charset="0"/>
              <a:buChar char="•"/>
            </a:pPr>
            <a:r>
              <a:rPr lang="en-MY" dirty="0" smtClean="0"/>
              <a:t>Go to the Linker -&gt; Input section, and add “fmod_vc.lib” under additional dependencies</a:t>
            </a:r>
            <a:endParaRPr lang="en-MY" dirty="0"/>
          </a:p>
        </p:txBody>
      </p:sp>
    </p:spTree>
    <p:extLst>
      <p:ext uri="{BB962C8B-B14F-4D97-AF65-F5344CB8AC3E}">
        <p14:creationId xmlns:p14="http://schemas.microsoft.com/office/powerpoint/2010/main" val="27162422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Integrating with Visual Studio</a:t>
            </a:r>
            <a:endParaRPr lang="en-MY" dirty="0"/>
          </a:p>
        </p:txBody>
      </p:sp>
      <p:sp>
        <p:nvSpPr>
          <p:cNvPr id="3" name="Content Placeholder 2"/>
          <p:cNvSpPr>
            <a:spLocks noGrp="1"/>
          </p:cNvSpPr>
          <p:nvPr>
            <p:ph idx="1"/>
          </p:nvPr>
        </p:nvSpPr>
        <p:spPr/>
        <p:txBody>
          <a:bodyPr/>
          <a:lstStyle/>
          <a:p>
            <a:endParaRPr lang="en-MY"/>
          </a:p>
        </p:txBody>
      </p:sp>
      <p:pic>
        <p:nvPicPr>
          <p:cNvPr id="4" name="Picture 2" descr="C:\Users\Andrew\Dropbox\Andrew TARC\TARC\2012 sem 3\AACS3043 Computer Game Programming II\Lecture\2013\Capture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052736"/>
            <a:ext cx="7482297" cy="531725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flipV="1">
            <a:off x="323528" y="1988840"/>
            <a:ext cx="720080" cy="288032"/>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427984" y="2114492"/>
            <a:ext cx="855712" cy="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646521" y="2462668"/>
            <a:ext cx="720080" cy="288032"/>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427984" y="2501210"/>
            <a:ext cx="855712" cy="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422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Integrating with Visual Studio</a:t>
            </a:r>
            <a:endParaRPr lang="en-MY" dirty="0"/>
          </a:p>
        </p:txBody>
      </p:sp>
      <p:sp>
        <p:nvSpPr>
          <p:cNvPr id="3" name="Content Placeholder 2"/>
          <p:cNvSpPr>
            <a:spLocks noGrp="1"/>
          </p:cNvSpPr>
          <p:nvPr>
            <p:ph idx="1"/>
          </p:nvPr>
        </p:nvSpPr>
        <p:spPr>
          <a:xfrm>
            <a:off x="822960" y="1100628"/>
            <a:ext cx="3677032" cy="3579849"/>
          </a:xfrm>
        </p:spPr>
        <p:txBody>
          <a:bodyPr/>
          <a:lstStyle/>
          <a:p>
            <a:r>
              <a:rPr lang="en-US" dirty="0" smtClean="0"/>
              <a:t>Click the folder icon to drill down to the correct folder</a:t>
            </a:r>
            <a:endParaRPr lang="en-MY"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052736"/>
            <a:ext cx="4086225"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a:off x="6615112" y="1556792"/>
            <a:ext cx="855712" cy="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108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Integrating with Visual Studio</a:t>
            </a:r>
            <a:endParaRPr lang="en-MY" dirty="0"/>
          </a:p>
        </p:txBody>
      </p:sp>
      <p:pic>
        <p:nvPicPr>
          <p:cNvPr id="4" name="Picture 3"/>
          <p:cNvPicPr>
            <a:picLocks noChangeAspect="1"/>
          </p:cNvPicPr>
          <p:nvPr/>
        </p:nvPicPr>
        <p:blipFill>
          <a:blip r:embed="rId2"/>
          <a:stretch>
            <a:fillRect/>
          </a:stretch>
        </p:blipFill>
        <p:spPr>
          <a:xfrm>
            <a:off x="2187508" y="1100628"/>
            <a:ext cx="6743700" cy="3152775"/>
          </a:xfrm>
          <a:prstGeom prst="rect">
            <a:avLst/>
          </a:prstGeom>
        </p:spPr>
      </p:pic>
      <p:cxnSp>
        <p:nvCxnSpPr>
          <p:cNvPr id="7" name="Straight Arrow Connector 6"/>
          <p:cNvCxnSpPr/>
          <p:nvPr/>
        </p:nvCxnSpPr>
        <p:spPr>
          <a:xfrm flipV="1">
            <a:off x="1827468" y="2852936"/>
            <a:ext cx="720080" cy="288032"/>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2184968" y="3183180"/>
            <a:ext cx="720080" cy="288032"/>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5868144" y="1916832"/>
            <a:ext cx="720080" cy="288032"/>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25447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Integrating with Visual Studio</a:t>
            </a:r>
            <a:endParaRPr lang="en-MY" dirty="0"/>
          </a:p>
        </p:txBody>
      </p:sp>
      <p:sp>
        <p:nvSpPr>
          <p:cNvPr id="3" name="Content Placeholder 2"/>
          <p:cNvSpPr>
            <a:spLocks noGrp="1"/>
          </p:cNvSpPr>
          <p:nvPr>
            <p:ph idx="1"/>
          </p:nvPr>
        </p:nvSpPr>
        <p:spPr>
          <a:xfrm>
            <a:off x="822960" y="1100628"/>
            <a:ext cx="2668920" cy="3840540"/>
          </a:xfrm>
        </p:spPr>
        <p:txBody>
          <a:bodyPr/>
          <a:lstStyle/>
          <a:p>
            <a:r>
              <a:rPr lang="en-US" dirty="0" smtClean="0"/>
              <a:t>Right click on “Source Files”</a:t>
            </a:r>
          </a:p>
          <a:p>
            <a:r>
              <a:rPr lang="en-US" dirty="0" smtClean="0"/>
              <a:t>Select “Add” -&gt; “Existing Item”</a:t>
            </a:r>
          </a:p>
          <a:p>
            <a:r>
              <a:rPr lang="en-US" dirty="0" smtClean="0"/>
              <a:t>Browse back to your FMOD folder, drill into the “lib” folder, and select the “fmod.dll” and fmodL.dll file.</a:t>
            </a:r>
            <a:endParaRPr lang="en-MY"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888" y="908720"/>
            <a:ext cx="5378599" cy="5580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06298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Integrating with Visual Studio</a:t>
            </a:r>
            <a:endParaRPr lang="en-MY" dirty="0"/>
          </a:p>
        </p:txBody>
      </p:sp>
      <p:sp>
        <p:nvSpPr>
          <p:cNvPr id="3" name="Content Placeholder 2"/>
          <p:cNvSpPr>
            <a:spLocks noGrp="1"/>
          </p:cNvSpPr>
          <p:nvPr>
            <p:ph idx="1"/>
          </p:nvPr>
        </p:nvSpPr>
        <p:spPr/>
        <p:txBody>
          <a:bodyPr/>
          <a:lstStyle/>
          <a:p>
            <a:r>
              <a:rPr lang="en-US" dirty="0" smtClean="0"/>
              <a:t>Not done yet!</a:t>
            </a:r>
          </a:p>
          <a:p>
            <a:pPr>
              <a:buFont typeface="Arial" pitchFamily="34" charset="0"/>
              <a:buChar char="•"/>
            </a:pPr>
            <a:r>
              <a:rPr lang="en-US" dirty="0" smtClean="0"/>
              <a:t>Go to Windows Explorer/My Computer</a:t>
            </a:r>
          </a:p>
          <a:p>
            <a:pPr>
              <a:buFont typeface="Arial" pitchFamily="34" charset="0"/>
              <a:buChar char="•"/>
            </a:pPr>
            <a:r>
              <a:rPr lang="en-US" dirty="0" smtClean="0"/>
              <a:t>Browse to your FMOD folder</a:t>
            </a:r>
          </a:p>
          <a:p>
            <a:pPr>
              <a:buFont typeface="Arial" pitchFamily="34" charset="0"/>
              <a:buChar char="•"/>
            </a:pPr>
            <a:r>
              <a:rPr lang="en-US" dirty="0" smtClean="0"/>
              <a:t>Drill to the “</a:t>
            </a:r>
            <a:r>
              <a:rPr lang="en-US" dirty="0" err="1" smtClean="0"/>
              <a:t>api</a:t>
            </a:r>
            <a:r>
              <a:rPr lang="en-US" dirty="0" smtClean="0"/>
              <a:t>” folder</a:t>
            </a:r>
          </a:p>
          <a:p>
            <a:pPr>
              <a:buFont typeface="Arial" pitchFamily="34" charset="0"/>
              <a:buChar char="•"/>
            </a:pPr>
            <a:r>
              <a:rPr lang="en-US" dirty="0" smtClean="0"/>
              <a:t>Copy “fmod.dll” and fmodL.dll </a:t>
            </a:r>
          </a:p>
          <a:p>
            <a:pPr>
              <a:buFont typeface="Arial" pitchFamily="34" charset="0"/>
              <a:buChar char="•"/>
            </a:pPr>
            <a:r>
              <a:rPr lang="en-US" dirty="0" smtClean="0"/>
              <a:t>Paste it into your project folder (hint: look for your winmain.cpp file location)</a:t>
            </a:r>
            <a:endParaRPr lang="en-MY" dirty="0"/>
          </a:p>
        </p:txBody>
      </p:sp>
    </p:spTree>
    <p:extLst>
      <p:ext uri="{BB962C8B-B14F-4D97-AF65-F5344CB8AC3E}">
        <p14:creationId xmlns:p14="http://schemas.microsoft.com/office/powerpoint/2010/main" val="37073431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Ready to go!</a:t>
            </a:r>
            <a:endParaRPr lang="en-MY" dirty="0"/>
          </a:p>
        </p:txBody>
      </p:sp>
      <p:sp>
        <p:nvSpPr>
          <p:cNvPr id="3" name="Content Placeholder 2"/>
          <p:cNvSpPr>
            <a:spLocks noGrp="1"/>
          </p:cNvSpPr>
          <p:nvPr>
            <p:ph idx="1"/>
          </p:nvPr>
        </p:nvSpPr>
        <p:spPr/>
        <p:txBody>
          <a:bodyPr/>
          <a:lstStyle/>
          <a:p>
            <a:r>
              <a:rPr lang="en-US" dirty="0" smtClean="0"/>
              <a:t>Lets create a simple class to get some sound going.</a:t>
            </a:r>
          </a:p>
          <a:p>
            <a:r>
              <a:rPr lang="en-US" dirty="0" smtClean="0"/>
              <a:t>Right click on “Header Files” in your solution explorer</a:t>
            </a:r>
          </a:p>
          <a:p>
            <a:r>
              <a:rPr lang="en-US" dirty="0" smtClean="0"/>
              <a:t>Select “Add” -&gt; “Class”</a:t>
            </a:r>
          </a:p>
          <a:p>
            <a:r>
              <a:rPr lang="en-US" dirty="0" smtClean="0"/>
              <a:t>Name it Audio</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765" y="2609850"/>
            <a:ext cx="6343650"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18810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67543" y="920880"/>
            <a:ext cx="4114781" cy="4092296"/>
          </a:xfrm>
          <a:prstGeom prst="rect">
            <a:avLst/>
          </a:prstGeom>
        </p:spPr>
      </p:pic>
      <p:sp>
        <p:nvSpPr>
          <p:cNvPr id="2" name="Title 1"/>
          <p:cNvSpPr>
            <a:spLocks noGrp="1"/>
          </p:cNvSpPr>
          <p:nvPr>
            <p:ph type="title"/>
          </p:nvPr>
        </p:nvSpPr>
        <p:spPr/>
        <p:txBody>
          <a:bodyPr/>
          <a:lstStyle/>
          <a:p>
            <a:r>
              <a:rPr lang="en-US" dirty="0" err="1" smtClean="0"/>
              <a:t>Audio.H</a:t>
            </a:r>
            <a:endParaRPr lang="en-MY" dirty="0"/>
          </a:p>
        </p:txBody>
      </p:sp>
      <p:sp>
        <p:nvSpPr>
          <p:cNvPr id="3" name="Content Placeholder 2"/>
          <p:cNvSpPr>
            <a:spLocks noGrp="1"/>
          </p:cNvSpPr>
          <p:nvPr>
            <p:ph idx="1"/>
          </p:nvPr>
        </p:nvSpPr>
        <p:spPr>
          <a:xfrm>
            <a:off x="4746873" y="1988840"/>
            <a:ext cx="3816424" cy="2696104"/>
          </a:xfrm>
        </p:spPr>
        <p:txBody>
          <a:bodyPr>
            <a:normAutofit/>
          </a:bodyPr>
          <a:lstStyle/>
          <a:p>
            <a:r>
              <a:rPr lang="en-US" dirty="0" smtClean="0"/>
              <a:t>Create the Attributes. </a:t>
            </a:r>
            <a:r>
              <a:rPr lang="en-US" i="1" dirty="0" smtClean="0"/>
              <a:t>System, result </a:t>
            </a:r>
            <a:r>
              <a:rPr lang="en-US" dirty="0" smtClean="0"/>
              <a:t>and </a:t>
            </a:r>
            <a:r>
              <a:rPr lang="en-US" i="1" dirty="0" smtClean="0"/>
              <a:t>channel</a:t>
            </a:r>
            <a:r>
              <a:rPr lang="en-US" dirty="0" smtClean="0"/>
              <a:t> are compulsory. You can make however many sounds you want.</a:t>
            </a:r>
          </a:p>
          <a:p>
            <a:endParaRPr lang="en-US" dirty="0" smtClean="0"/>
          </a:p>
          <a:p>
            <a:r>
              <a:rPr lang="en-US" dirty="0" smtClean="0"/>
              <a:t>And the </a:t>
            </a:r>
            <a:r>
              <a:rPr lang="en-US" dirty="0" err="1" smtClean="0"/>
              <a:t>behaviours</a:t>
            </a:r>
            <a:r>
              <a:rPr lang="en-US" dirty="0" smtClean="0"/>
              <a:t> of this simple Audio class header. Here we assume 2 different sounds will be used. </a:t>
            </a:r>
            <a:endParaRPr lang="en-US" dirty="0"/>
          </a:p>
        </p:txBody>
      </p:sp>
      <p:cxnSp>
        <p:nvCxnSpPr>
          <p:cNvPr id="10" name="Straight Arrow Connector 9"/>
          <p:cNvCxnSpPr/>
          <p:nvPr/>
        </p:nvCxnSpPr>
        <p:spPr>
          <a:xfrm flipH="1">
            <a:off x="4211961" y="2132856"/>
            <a:ext cx="533408" cy="72008"/>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3419872" y="3372896"/>
            <a:ext cx="1325497" cy="50425"/>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74101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2054" y="1041666"/>
            <a:ext cx="7280305" cy="5634911"/>
          </a:xfrm>
          <a:prstGeom prst="rect">
            <a:avLst/>
          </a:prstGeom>
        </p:spPr>
      </p:pic>
      <p:sp>
        <p:nvSpPr>
          <p:cNvPr id="2" name="Title 1"/>
          <p:cNvSpPr>
            <a:spLocks noGrp="1"/>
          </p:cNvSpPr>
          <p:nvPr>
            <p:ph type="title"/>
          </p:nvPr>
        </p:nvSpPr>
        <p:spPr/>
        <p:txBody>
          <a:bodyPr/>
          <a:lstStyle/>
          <a:p>
            <a:r>
              <a:rPr lang="en-US" dirty="0" smtClean="0"/>
              <a:t>Audio.cpp</a:t>
            </a:r>
            <a:endParaRPr lang="en-MY" dirty="0"/>
          </a:p>
        </p:txBody>
      </p:sp>
      <p:cxnSp>
        <p:nvCxnSpPr>
          <p:cNvPr id="6" name="Straight Arrow Connector 5"/>
          <p:cNvCxnSpPr/>
          <p:nvPr/>
        </p:nvCxnSpPr>
        <p:spPr>
          <a:xfrm flipH="1" flipV="1">
            <a:off x="6283736" y="2048031"/>
            <a:ext cx="716502" cy="76558"/>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3229864" y="6021287"/>
            <a:ext cx="832485" cy="1"/>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041144" y="4297011"/>
            <a:ext cx="0" cy="359107"/>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flipV="1">
            <a:off x="4753109" y="4934790"/>
            <a:ext cx="459795" cy="37755"/>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6426193" y="4297011"/>
            <a:ext cx="494885" cy="359107"/>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3809063" y="2544665"/>
            <a:ext cx="253286" cy="296706"/>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flipV="1">
            <a:off x="4753109" y="3056233"/>
            <a:ext cx="491162" cy="281381"/>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5804139" y="2890372"/>
            <a:ext cx="622054"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814657" y="1207012"/>
            <a:ext cx="2377574" cy="276999"/>
          </a:xfrm>
          <a:prstGeom prst="rect">
            <a:avLst/>
          </a:prstGeom>
          <a:noFill/>
        </p:spPr>
        <p:txBody>
          <a:bodyPr wrap="none" rtlCol="0">
            <a:spAutoFit/>
          </a:bodyPr>
          <a:lstStyle/>
          <a:p>
            <a:r>
              <a:rPr lang="en-US" sz="1200" dirty="0" smtClean="0"/>
              <a:t>Creating the main system object</a:t>
            </a:r>
            <a:endParaRPr lang="en-MY" sz="1200" dirty="0"/>
          </a:p>
        </p:txBody>
      </p:sp>
      <p:cxnSp>
        <p:nvCxnSpPr>
          <p:cNvPr id="35" name="Straight Arrow Connector 34"/>
          <p:cNvCxnSpPr>
            <a:stCxn id="36" idx="1"/>
          </p:cNvCxnSpPr>
          <p:nvPr/>
        </p:nvCxnSpPr>
        <p:spPr>
          <a:xfrm flipH="1">
            <a:off x="3384453" y="1650602"/>
            <a:ext cx="656691" cy="302919"/>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041144" y="1512102"/>
            <a:ext cx="4158511" cy="276999"/>
          </a:xfrm>
          <a:prstGeom prst="rect">
            <a:avLst/>
          </a:prstGeom>
          <a:noFill/>
        </p:spPr>
        <p:txBody>
          <a:bodyPr wrap="none" rtlCol="0">
            <a:spAutoFit/>
          </a:bodyPr>
          <a:lstStyle/>
          <a:p>
            <a:r>
              <a:rPr lang="en-US" sz="1200" dirty="0" smtClean="0"/>
              <a:t>Specifying how many channels the system object will have</a:t>
            </a:r>
            <a:endParaRPr lang="en-MY" sz="1200" dirty="0"/>
          </a:p>
        </p:txBody>
      </p:sp>
      <p:sp>
        <p:nvSpPr>
          <p:cNvPr id="37" name="TextBox 36"/>
          <p:cNvSpPr txBox="1"/>
          <p:nvPr/>
        </p:nvSpPr>
        <p:spPr>
          <a:xfrm>
            <a:off x="7000238" y="1963229"/>
            <a:ext cx="2206053" cy="276999"/>
          </a:xfrm>
          <a:prstGeom prst="rect">
            <a:avLst/>
          </a:prstGeom>
          <a:noFill/>
        </p:spPr>
        <p:txBody>
          <a:bodyPr wrap="none" rtlCol="0">
            <a:spAutoFit/>
          </a:bodyPr>
          <a:lstStyle/>
          <a:p>
            <a:r>
              <a:rPr lang="en-US" sz="1200" dirty="0" smtClean="0"/>
              <a:t>Extra driver data, </a:t>
            </a:r>
            <a:r>
              <a:rPr lang="en-US" sz="1200" dirty="0"/>
              <a:t>w</a:t>
            </a:r>
            <a:r>
              <a:rPr lang="en-US" sz="1200" dirty="0" smtClean="0"/>
              <a:t>e’ll ignore.</a:t>
            </a:r>
            <a:endParaRPr lang="en-MY" sz="1200" dirty="0"/>
          </a:p>
        </p:txBody>
      </p:sp>
      <p:sp>
        <p:nvSpPr>
          <p:cNvPr id="38" name="TextBox 37"/>
          <p:cNvSpPr txBox="1"/>
          <p:nvPr/>
        </p:nvSpPr>
        <p:spPr>
          <a:xfrm>
            <a:off x="4079467" y="5882788"/>
            <a:ext cx="2113079" cy="276999"/>
          </a:xfrm>
          <a:prstGeom prst="rect">
            <a:avLst/>
          </a:prstGeom>
          <a:noFill/>
        </p:spPr>
        <p:txBody>
          <a:bodyPr wrap="none" rtlCol="0">
            <a:spAutoFit/>
          </a:bodyPr>
          <a:lstStyle/>
          <a:p>
            <a:r>
              <a:rPr lang="en-US" sz="1200" dirty="0" smtClean="0"/>
              <a:t>Must be called once a frame</a:t>
            </a:r>
            <a:endParaRPr lang="en-MY" sz="1200" dirty="0"/>
          </a:p>
        </p:txBody>
      </p:sp>
      <p:sp>
        <p:nvSpPr>
          <p:cNvPr id="40" name="TextBox 39"/>
          <p:cNvSpPr txBox="1"/>
          <p:nvPr/>
        </p:nvSpPr>
        <p:spPr>
          <a:xfrm>
            <a:off x="3229864" y="4007921"/>
            <a:ext cx="2890535" cy="276999"/>
          </a:xfrm>
          <a:prstGeom prst="rect">
            <a:avLst/>
          </a:prstGeom>
          <a:noFill/>
        </p:spPr>
        <p:txBody>
          <a:bodyPr wrap="none" rtlCol="0">
            <a:spAutoFit/>
          </a:bodyPr>
          <a:lstStyle/>
          <a:p>
            <a:r>
              <a:rPr lang="en-US" sz="1200" dirty="0" smtClean="0"/>
              <a:t>Filename, make sure the path is correct</a:t>
            </a:r>
            <a:endParaRPr lang="en-MY" sz="1200" dirty="0"/>
          </a:p>
        </p:txBody>
      </p:sp>
      <p:sp>
        <p:nvSpPr>
          <p:cNvPr id="43" name="TextBox 42"/>
          <p:cNvSpPr txBox="1"/>
          <p:nvPr/>
        </p:nvSpPr>
        <p:spPr>
          <a:xfrm>
            <a:off x="5273371" y="4810961"/>
            <a:ext cx="712054" cy="276999"/>
          </a:xfrm>
          <a:prstGeom prst="rect">
            <a:avLst/>
          </a:prstGeom>
          <a:noFill/>
        </p:spPr>
        <p:txBody>
          <a:bodyPr wrap="square" rtlCol="0">
            <a:spAutoFit/>
          </a:bodyPr>
          <a:lstStyle/>
          <a:p>
            <a:r>
              <a:rPr lang="en-US" sz="1200" dirty="0" smtClean="0"/>
              <a:t>No loop</a:t>
            </a:r>
            <a:endParaRPr lang="en-MY" sz="1200" dirty="0"/>
          </a:p>
        </p:txBody>
      </p:sp>
      <p:sp>
        <p:nvSpPr>
          <p:cNvPr id="46" name="TextBox 45"/>
          <p:cNvSpPr txBox="1"/>
          <p:nvPr/>
        </p:nvSpPr>
        <p:spPr>
          <a:xfrm>
            <a:off x="6921077" y="3709031"/>
            <a:ext cx="1665903" cy="830997"/>
          </a:xfrm>
          <a:prstGeom prst="rect">
            <a:avLst/>
          </a:prstGeom>
          <a:noFill/>
        </p:spPr>
        <p:txBody>
          <a:bodyPr wrap="square" rtlCol="0">
            <a:spAutoFit/>
          </a:bodyPr>
          <a:lstStyle/>
          <a:p>
            <a:r>
              <a:rPr lang="en-MY" sz="1200" dirty="0" smtClean="0"/>
              <a:t>Address of a variable to receive a newly created FMOD::Sound object</a:t>
            </a:r>
            <a:endParaRPr lang="en-MY" sz="1200" dirty="0"/>
          </a:p>
        </p:txBody>
      </p:sp>
      <p:sp>
        <p:nvSpPr>
          <p:cNvPr id="47" name="TextBox 46"/>
          <p:cNvSpPr txBox="1"/>
          <p:nvPr/>
        </p:nvSpPr>
        <p:spPr>
          <a:xfrm>
            <a:off x="4064739" y="2231353"/>
            <a:ext cx="1315834" cy="461665"/>
          </a:xfrm>
          <a:prstGeom prst="rect">
            <a:avLst/>
          </a:prstGeom>
          <a:noFill/>
        </p:spPr>
        <p:txBody>
          <a:bodyPr wrap="square" rtlCol="0">
            <a:spAutoFit/>
          </a:bodyPr>
          <a:lstStyle/>
          <a:p>
            <a:r>
              <a:rPr lang="en-US" sz="1200" dirty="0" smtClean="0"/>
              <a:t>Pointer to what sound to play</a:t>
            </a:r>
            <a:endParaRPr lang="en-MY" sz="1200" dirty="0"/>
          </a:p>
        </p:txBody>
      </p:sp>
      <p:sp>
        <p:nvSpPr>
          <p:cNvPr id="51" name="TextBox 50"/>
          <p:cNvSpPr txBox="1"/>
          <p:nvPr/>
        </p:nvSpPr>
        <p:spPr>
          <a:xfrm>
            <a:off x="5212904" y="3266704"/>
            <a:ext cx="1225015" cy="276999"/>
          </a:xfrm>
          <a:prstGeom prst="rect">
            <a:avLst/>
          </a:prstGeom>
          <a:noFill/>
        </p:spPr>
        <p:txBody>
          <a:bodyPr wrap="none" rtlCol="0">
            <a:spAutoFit/>
          </a:bodyPr>
          <a:lstStyle/>
          <a:p>
            <a:r>
              <a:rPr lang="en-US" sz="1200" dirty="0" smtClean="0"/>
              <a:t>Paused or not?</a:t>
            </a:r>
            <a:endParaRPr lang="en-MY" sz="1200" dirty="0"/>
          </a:p>
        </p:txBody>
      </p:sp>
      <p:sp>
        <p:nvSpPr>
          <p:cNvPr id="52" name="TextBox 51"/>
          <p:cNvSpPr txBox="1"/>
          <p:nvPr/>
        </p:nvSpPr>
        <p:spPr>
          <a:xfrm>
            <a:off x="6426193" y="2756201"/>
            <a:ext cx="2401545" cy="646331"/>
          </a:xfrm>
          <a:prstGeom prst="rect">
            <a:avLst/>
          </a:prstGeom>
          <a:noFill/>
        </p:spPr>
        <p:txBody>
          <a:bodyPr wrap="square" rtlCol="0">
            <a:spAutoFit/>
          </a:bodyPr>
          <a:lstStyle/>
          <a:p>
            <a:r>
              <a:rPr lang="en-MY" sz="1200" dirty="0" smtClean="0"/>
              <a:t>Address of a channel handle pointer that receives the newly playing channel</a:t>
            </a:r>
            <a:endParaRPr lang="en-MY" sz="1200" dirty="0"/>
          </a:p>
        </p:txBody>
      </p:sp>
      <p:cxnSp>
        <p:nvCxnSpPr>
          <p:cNvPr id="55" name="Straight Arrow Connector 54"/>
          <p:cNvCxnSpPr/>
          <p:nvPr/>
        </p:nvCxnSpPr>
        <p:spPr>
          <a:xfrm flipH="1">
            <a:off x="4753109" y="1855556"/>
            <a:ext cx="765797" cy="7822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5518906" y="1722573"/>
            <a:ext cx="1959191" cy="276999"/>
          </a:xfrm>
          <a:prstGeom prst="rect">
            <a:avLst/>
          </a:prstGeom>
          <a:noFill/>
        </p:spPr>
        <p:txBody>
          <a:bodyPr wrap="none" rtlCol="0">
            <a:spAutoFit/>
          </a:bodyPr>
          <a:lstStyle/>
          <a:p>
            <a:r>
              <a:rPr lang="en-US" sz="1200" dirty="0" smtClean="0"/>
              <a:t>Flags, we leave as default</a:t>
            </a:r>
            <a:endParaRPr lang="en-MY" sz="1200" dirty="0"/>
          </a:p>
        </p:txBody>
      </p:sp>
      <p:cxnSp>
        <p:nvCxnSpPr>
          <p:cNvPr id="61" name="Straight Arrow Connector 60"/>
          <p:cNvCxnSpPr/>
          <p:nvPr/>
        </p:nvCxnSpPr>
        <p:spPr>
          <a:xfrm flipH="1">
            <a:off x="3266523" y="1357317"/>
            <a:ext cx="593464" cy="365256"/>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661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6" grpId="0"/>
      <p:bldP spid="37" grpId="0"/>
      <p:bldP spid="38" grpId="0"/>
      <p:bldP spid="40" grpId="0"/>
      <p:bldP spid="43" grpId="0"/>
      <p:bldP spid="46" grpId="0"/>
      <p:bldP spid="47" grpId="0"/>
      <p:bldP spid="51" grpId="0"/>
      <p:bldP spid="52" grpId="0"/>
      <p:bldP spid="5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 understand the parameters</a:t>
            </a:r>
            <a:endParaRPr lang="en-MY" dirty="0"/>
          </a:p>
        </p:txBody>
      </p:sp>
      <p:sp>
        <p:nvSpPr>
          <p:cNvPr id="3" name="Content Placeholder 2"/>
          <p:cNvSpPr>
            <a:spLocks noGrp="1"/>
          </p:cNvSpPr>
          <p:nvPr>
            <p:ph idx="1"/>
          </p:nvPr>
        </p:nvSpPr>
        <p:spPr/>
        <p:txBody>
          <a:bodyPr/>
          <a:lstStyle/>
          <a:p>
            <a:r>
              <a:rPr lang="en-US" dirty="0" smtClean="0"/>
              <a:t>Navigate to your FMOD installation folder</a:t>
            </a:r>
          </a:p>
          <a:p>
            <a:r>
              <a:rPr lang="en-US" dirty="0" smtClean="0"/>
              <a:t>Drill to the documentation folder</a:t>
            </a:r>
            <a:r>
              <a:rPr lang="en-MY" dirty="0" smtClean="0"/>
              <a:t>, </a:t>
            </a:r>
            <a:r>
              <a:rPr lang="en-MY" dirty="0" err="1" smtClean="0"/>
              <a:t>eg</a:t>
            </a:r>
            <a:r>
              <a:rPr lang="en-MY" dirty="0"/>
              <a:t>: “C:\Program Files (x86)\FMOD </a:t>
            </a:r>
            <a:r>
              <a:rPr lang="en-MY" dirty="0" err="1"/>
              <a:t>SoundSystem</a:t>
            </a:r>
            <a:r>
              <a:rPr lang="en-MY" dirty="0"/>
              <a:t>\FMOD Programmers API </a:t>
            </a:r>
            <a:r>
              <a:rPr lang="en-MY" dirty="0" smtClean="0"/>
              <a:t>Windows\documentation”</a:t>
            </a:r>
          </a:p>
          <a:p>
            <a:r>
              <a:rPr lang="en-US" dirty="0" smtClean="0"/>
              <a:t>Open fmodex.chm</a:t>
            </a:r>
          </a:p>
          <a:p>
            <a:r>
              <a:rPr lang="en-US" dirty="0" smtClean="0"/>
              <a:t>Browse to your hearts content. This is useful to know the parameters of the functions you will be using, and what they mean</a:t>
            </a:r>
          </a:p>
          <a:p>
            <a:r>
              <a:rPr lang="en-US" dirty="0" smtClean="0"/>
              <a:t>You can also refer to “</a:t>
            </a:r>
            <a:r>
              <a:rPr lang="en-MY" dirty="0"/>
              <a:t>Getting started with FMOD for </a:t>
            </a:r>
            <a:r>
              <a:rPr lang="en-MY" dirty="0" smtClean="0"/>
              <a:t>Windows.pdf” for some tips and further understanding of FMOD</a:t>
            </a:r>
            <a:endParaRPr lang="en-US" dirty="0" smtClean="0"/>
          </a:p>
        </p:txBody>
      </p:sp>
    </p:spTree>
    <p:extLst>
      <p:ext uri="{BB962C8B-B14F-4D97-AF65-F5344CB8AC3E}">
        <p14:creationId xmlns:p14="http://schemas.microsoft.com/office/powerpoint/2010/main" val="10325107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Play my song!</a:t>
            </a:r>
            <a:endParaRPr lang="en-MY" dirty="0"/>
          </a:p>
        </p:txBody>
      </p:sp>
      <p:sp>
        <p:nvSpPr>
          <p:cNvPr id="3" name="Content Placeholder 2"/>
          <p:cNvSpPr>
            <a:spLocks noGrp="1"/>
          </p:cNvSpPr>
          <p:nvPr>
            <p:ph idx="1"/>
          </p:nvPr>
        </p:nvSpPr>
        <p:spPr/>
        <p:txBody>
          <a:bodyPr/>
          <a:lstStyle/>
          <a:p>
            <a:endParaRPr lang="en-MY"/>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489867"/>
            <a:ext cx="7343775"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flipH="1">
            <a:off x="2303342" y="1519835"/>
            <a:ext cx="711428" cy="36004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2843808" y="3212976"/>
            <a:ext cx="711428" cy="36004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3254176" y="3717032"/>
            <a:ext cx="813768" cy="3600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flipV="1">
            <a:off x="2910674" y="3929538"/>
            <a:ext cx="711428" cy="144016"/>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flipV="1">
            <a:off x="2952352" y="4077072"/>
            <a:ext cx="712192" cy="517945"/>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014770" y="1422856"/>
            <a:ext cx="2665666" cy="276999"/>
          </a:xfrm>
          <a:prstGeom prst="rect">
            <a:avLst/>
          </a:prstGeom>
          <a:noFill/>
        </p:spPr>
        <p:txBody>
          <a:bodyPr wrap="none" rtlCol="0">
            <a:spAutoFit/>
          </a:bodyPr>
          <a:lstStyle/>
          <a:p>
            <a:r>
              <a:rPr lang="en-US" sz="1200" dirty="0" smtClean="0"/>
              <a:t>Creating a pointer to an Audio object</a:t>
            </a:r>
            <a:endParaRPr lang="en-MY" sz="1200" dirty="0"/>
          </a:p>
        </p:txBody>
      </p:sp>
      <p:sp>
        <p:nvSpPr>
          <p:cNvPr id="15" name="TextBox 14"/>
          <p:cNvSpPr txBox="1"/>
          <p:nvPr/>
        </p:nvSpPr>
        <p:spPr>
          <a:xfrm>
            <a:off x="3563951" y="3042442"/>
            <a:ext cx="3885551" cy="276999"/>
          </a:xfrm>
          <a:prstGeom prst="rect">
            <a:avLst/>
          </a:prstGeom>
          <a:noFill/>
        </p:spPr>
        <p:txBody>
          <a:bodyPr wrap="none" rtlCol="0">
            <a:spAutoFit/>
          </a:bodyPr>
          <a:lstStyle/>
          <a:p>
            <a:r>
              <a:rPr lang="en-US" sz="1200" dirty="0" smtClean="0"/>
              <a:t>Creating the Audio object, and pointing our pointer to it</a:t>
            </a:r>
            <a:endParaRPr lang="en-MY" sz="1200" dirty="0"/>
          </a:p>
        </p:txBody>
      </p:sp>
      <p:sp>
        <p:nvSpPr>
          <p:cNvPr id="16" name="TextBox 15"/>
          <p:cNvSpPr txBox="1"/>
          <p:nvPr/>
        </p:nvSpPr>
        <p:spPr>
          <a:xfrm>
            <a:off x="4067944" y="3573016"/>
            <a:ext cx="3801041" cy="276999"/>
          </a:xfrm>
          <a:prstGeom prst="rect">
            <a:avLst/>
          </a:prstGeom>
          <a:noFill/>
        </p:spPr>
        <p:txBody>
          <a:bodyPr wrap="none" rtlCol="0">
            <a:spAutoFit/>
          </a:bodyPr>
          <a:lstStyle/>
          <a:p>
            <a:r>
              <a:rPr lang="en-US" sz="1200" dirty="0" smtClean="0"/>
              <a:t>Using the pointer to the object, we initialize the object</a:t>
            </a:r>
            <a:endParaRPr lang="en-MY" sz="1200" dirty="0"/>
          </a:p>
        </p:txBody>
      </p:sp>
      <p:sp>
        <p:nvSpPr>
          <p:cNvPr id="17" name="TextBox 16"/>
          <p:cNvSpPr txBox="1"/>
          <p:nvPr/>
        </p:nvSpPr>
        <p:spPr>
          <a:xfrm>
            <a:off x="3640349" y="3917350"/>
            <a:ext cx="5503652" cy="461665"/>
          </a:xfrm>
          <a:prstGeom prst="rect">
            <a:avLst/>
          </a:prstGeom>
          <a:noFill/>
        </p:spPr>
        <p:txBody>
          <a:bodyPr wrap="square" rtlCol="0">
            <a:spAutoFit/>
          </a:bodyPr>
          <a:lstStyle/>
          <a:p>
            <a:r>
              <a:rPr lang="en-US" sz="1200" dirty="0" smtClean="0"/>
              <a:t>Command the object to execute it’s loading function which loads our sounds into the channel</a:t>
            </a:r>
            <a:endParaRPr lang="en-MY" sz="1200" dirty="0"/>
          </a:p>
        </p:txBody>
      </p:sp>
      <p:sp>
        <p:nvSpPr>
          <p:cNvPr id="19" name="TextBox 18"/>
          <p:cNvSpPr txBox="1"/>
          <p:nvPr/>
        </p:nvSpPr>
        <p:spPr>
          <a:xfrm>
            <a:off x="3700436" y="4456517"/>
            <a:ext cx="1242648" cy="276999"/>
          </a:xfrm>
          <a:prstGeom prst="rect">
            <a:avLst/>
          </a:prstGeom>
          <a:noFill/>
        </p:spPr>
        <p:txBody>
          <a:bodyPr wrap="none" rtlCol="0">
            <a:spAutoFit/>
          </a:bodyPr>
          <a:lstStyle/>
          <a:p>
            <a:r>
              <a:rPr lang="en-US" sz="1200" dirty="0" smtClean="0"/>
              <a:t>Play the sound!</a:t>
            </a:r>
            <a:endParaRPr lang="en-MY" sz="1200" dirty="0"/>
          </a:p>
        </p:txBody>
      </p:sp>
    </p:spTree>
    <p:extLst>
      <p:ext uri="{BB962C8B-B14F-4D97-AF65-F5344CB8AC3E}">
        <p14:creationId xmlns:p14="http://schemas.microsoft.com/office/powerpoint/2010/main" val="8122247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38589" y="1422856"/>
            <a:ext cx="3638032" cy="3590320"/>
          </a:xfrm>
          <a:prstGeom prst="rect">
            <a:avLst/>
          </a:prstGeom>
        </p:spPr>
      </p:pic>
      <p:sp>
        <p:nvSpPr>
          <p:cNvPr id="2" name="Title 1"/>
          <p:cNvSpPr>
            <a:spLocks noGrp="1"/>
          </p:cNvSpPr>
          <p:nvPr>
            <p:ph type="title"/>
          </p:nvPr>
        </p:nvSpPr>
        <p:spPr/>
        <p:txBody>
          <a:bodyPr/>
          <a:lstStyle/>
          <a:p>
            <a:r>
              <a:rPr lang="en-US" dirty="0" smtClean="0"/>
              <a:t>Play my song!</a:t>
            </a:r>
            <a:endParaRPr lang="en-MY" dirty="0"/>
          </a:p>
        </p:txBody>
      </p:sp>
      <p:sp>
        <p:nvSpPr>
          <p:cNvPr id="3" name="Content Placeholder 2"/>
          <p:cNvSpPr>
            <a:spLocks noGrp="1"/>
          </p:cNvSpPr>
          <p:nvPr>
            <p:ph idx="1"/>
          </p:nvPr>
        </p:nvSpPr>
        <p:spPr/>
        <p:txBody>
          <a:bodyPr/>
          <a:lstStyle/>
          <a:p>
            <a:endParaRPr lang="en-MY" dirty="0"/>
          </a:p>
        </p:txBody>
      </p:sp>
      <p:cxnSp>
        <p:nvCxnSpPr>
          <p:cNvPr id="5" name="Straight Arrow Connector 4"/>
          <p:cNvCxnSpPr/>
          <p:nvPr/>
        </p:nvCxnSpPr>
        <p:spPr>
          <a:xfrm flipH="1">
            <a:off x="2659056" y="1777856"/>
            <a:ext cx="711428" cy="36004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3284635" y="2511790"/>
            <a:ext cx="711428" cy="36004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3914876" y="3020177"/>
            <a:ext cx="813768" cy="3600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flipV="1">
            <a:off x="3412844" y="3244145"/>
            <a:ext cx="711428" cy="144016"/>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flipV="1">
            <a:off x="3370484" y="3518486"/>
            <a:ext cx="712192" cy="517945"/>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459379" y="1618355"/>
            <a:ext cx="2665666" cy="276999"/>
          </a:xfrm>
          <a:prstGeom prst="rect">
            <a:avLst/>
          </a:prstGeom>
          <a:noFill/>
        </p:spPr>
        <p:txBody>
          <a:bodyPr wrap="none" rtlCol="0">
            <a:spAutoFit/>
          </a:bodyPr>
          <a:lstStyle/>
          <a:p>
            <a:r>
              <a:rPr lang="en-US" sz="1200" dirty="0" smtClean="0"/>
              <a:t>Creating a pointer to an Audio object</a:t>
            </a:r>
            <a:endParaRPr lang="en-MY" sz="1200" dirty="0"/>
          </a:p>
        </p:txBody>
      </p:sp>
      <p:sp>
        <p:nvSpPr>
          <p:cNvPr id="15" name="TextBox 14"/>
          <p:cNvSpPr txBox="1"/>
          <p:nvPr/>
        </p:nvSpPr>
        <p:spPr>
          <a:xfrm>
            <a:off x="4081016" y="2370490"/>
            <a:ext cx="3885551" cy="276999"/>
          </a:xfrm>
          <a:prstGeom prst="rect">
            <a:avLst/>
          </a:prstGeom>
          <a:noFill/>
        </p:spPr>
        <p:txBody>
          <a:bodyPr wrap="none" rtlCol="0">
            <a:spAutoFit/>
          </a:bodyPr>
          <a:lstStyle/>
          <a:p>
            <a:r>
              <a:rPr lang="en-US" sz="1200" dirty="0" smtClean="0"/>
              <a:t>Creating the Audio object, and pointing our pointer to it</a:t>
            </a:r>
            <a:endParaRPr lang="en-MY" sz="1200" dirty="0"/>
          </a:p>
        </p:txBody>
      </p:sp>
      <p:sp>
        <p:nvSpPr>
          <p:cNvPr id="16" name="TextBox 15"/>
          <p:cNvSpPr txBox="1"/>
          <p:nvPr/>
        </p:nvSpPr>
        <p:spPr>
          <a:xfrm>
            <a:off x="4792212" y="2899679"/>
            <a:ext cx="3801041" cy="276999"/>
          </a:xfrm>
          <a:prstGeom prst="rect">
            <a:avLst/>
          </a:prstGeom>
          <a:noFill/>
        </p:spPr>
        <p:txBody>
          <a:bodyPr wrap="none" rtlCol="0">
            <a:spAutoFit/>
          </a:bodyPr>
          <a:lstStyle/>
          <a:p>
            <a:r>
              <a:rPr lang="en-US" sz="1200" dirty="0" smtClean="0"/>
              <a:t>Using the pointer to the object, we initialize the object</a:t>
            </a:r>
            <a:endParaRPr lang="en-MY" sz="1200" dirty="0"/>
          </a:p>
        </p:txBody>
      </p:sp>
      <p:sp>
        <p:nvSpPr>
          <p:cNvPr id="17" name="TextBox 16"/>
          <p:cNvSpPr txBox="1"/>
          <p:nvPr/>
        </p:nvSpPr>
        <p:spPr>
          <a:xfrm>
            <a:off x="4163298" y="3242409"/>
            <a:ext cx="4429955" cy="461665"/>
          </a:xfrm>
          <a:prstGeom prst="rect">
            <a:avLst/>
          </a:prstGeom>
          <a:noFill/>
        </p:spPr>
        <p:txBody>
          <a:bodyPr wrap="square" rtlCol="0">
            <a:spAutoFit/>
          </a:bodyPr>
          <a:lstStyle/>
          <a:p>
            <a:r>
              <a:rPr lang="en-US" sz="1200" dirty="0" smtClean="0"/>
              <a:t>Command the object to execute it’s loading function which loads our sounds into the channel</a:t>
            </a:r>
            <a:endParaRPr lang="en-MY" sz="1200" dirty="0"/>
          </a:p>
        </p:txBody>
      </p:sp>
      <p:sp>
        <p:nvSpPr>
          <p:cNvPr id="19" name="TextBox 18"/>
          <p:cNvSpPr txBox="1"/>
          <p:nvPr/>
        </p:nvSpPr>
        <p:spPr>
          <a:xfrm>
            <a:off x="4163298" y="3951597"/>
            <a:ext cx="1242648" cy="276999"/>
          </a:xfrm>
          <a:prstGeom prst="rect">
            <a:avLst/>
          </a:prstGeom>
          <a:noFill/>
        </p:spPr>
        <p:txBody>
          <a:bodyPr wrap="none" rtlCol="0">
            <a:spAutoFit/>
          </a:bodyPr>
          <a:lstStyle/>
          <a:p>
            <a:r>
              <a:rPr lang="en-US" sz="1200" dirty="0" smtClean="0"/>
              <a:t>Play the sound!</a:t>
            </a:r>
            <a:endParaRPr lang="en-MY" sz="1200" dirty="0"/>
          </a:p>
        </p:txBody>
      </p:sp>
    </p:spTree>
    <p:extLst>
      <p:ext uri="{BB962C8B-B14F-4D97-AF65-F5344CB8AC3E}">
        <p14:creationId xmlns:p14="http://schemas.microsoft.com/office/powerpoint/2010/main" val="3398839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Manipulating sound</a:t>
            </a:r>
            <a:endParaRPr lang="en-MY" dirty="0"/>
          </a:p>
        </p:txBody>
      </p:sp>
      <p:sp>
        <p:nvSpPr>
          <p:cNvPr id="3" name="Content Placeholder 2"/>
          <p:cNvSpPr>
            <a:spLocks noGrp="1"/>
          </p:cNvSpPr>
          <p:nvPr>
            <p:ph idx="1"/>
          </p:nvPr>
        </p:nvSpPr>
        <p:spPr/>
        <p:txBody>
          <a:bodyPr/>
          <a:lstStyle/>
          <a:p>
            <a:endParaRPr lang="en-MY"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132856"/>
            <a:ext cx="62198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flipH="1">
            <a:off x="6012160" y="2132856"/>
            <a:ext cx="711428" cy="36004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723588" y="2035877"/>
            <a:ext cx="1335622" cy="276999"/>
          </a:xfrm>
          <a:prstGeom prst="rect">
            <a:avLst/>
          </a:prstGeom>
          <a:noFill/>
        </p:spPr>
        <p:txBody>
          <a:bodyPr wrap="none" rtlCol="0">
            <a:spAutoFit/>
          </a:bodyPr>
          <a:lstStyle/>
          <a:p>
            <a:r>
              <a:rPr lang="en-US" sz="1200" dirty="0" smtClean="0"/>
              <a:t>Pause the sound</a:t>
            </a:r>
            <a:endParaRPr lang="en-MY" sz="1200" dirty="0"/>
          </a:p>
        </p:txBody>
      </p:sp>
      <p:cxnSp>
        <p:nvCxnSpPr>
          <p:cNvPr id="7" name="Straight Arrow Connector 6"/>
          <p:cNvCxnSpPr/>
          <p:nvPr/>
        </p:nvCxnSpPr>
        <p:spPr>
          <a:xfrm flipH="1">
            <a:off x="3346494" y="2772600"/>
            <a:ext cx="711428"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061345" y="2634100"/>
            <a:ext cx="1768433" cy="276999"/>
          </a:xfrm>
          <a:prstGeom prst="rect">
            <a:avLst/>
          </a:prstGeom>
          <a:noFill/>
        </p:spPr>
        <p:txBody>
          <a:bodyPr wrap="none" rtlCol="0">
            <a:spAutoFit/>
          </a:bodyPr>
          <a:lstStyle/>
          <a:p>
            <a:r>
              <a:rPr lang="en-US" sz="1200" dirty="0" smtClean="0"/>
              <a:t>Manipulating the sound</a:t>
            </a:r>
            <a:endParaRPr lang="en-MY" sz="1200" dirty="0"/>
          </a:p>
        </p:txBody>
      </p:sp>
    </p:spTree>
    <p:extLst>
      <p:ext uri="{BB962C8B-B14F-4D97-AF65-F5344CB8AC3E}">
        <p14:creationId xmlns:p14="http://schemas.microsoft.com/office/powerpoint/2010/main" val="9743321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Manipulating sound</a:t>
            </a:r>
            <a:endParaRPr lang="en-US" dirty="0"/>
          </a:p>
        </p:txBody>
      </p:sp>
      <p:sp>
        <p:nvSpPr>
          <p:cNvPr id="3" name="Content Placeholder 2"/>
          <p:cNvSpPr>
            <a:spLocks noGrp="1"/>
          </p:cNvSpPr>
          <p:nvPr>
            <p:ph idx="1"/>
          </p:nvPr>
        </p:nvSpPr>
        <p:spPr/>
        <p:txBody>
          <a:bodyPr/>
          <a:lstStyle/>
          <a:p>
            <a:r>
              <a:rPr lang="en-US" dirty="0" smtClean="0"/>
              <a:t>Pan</a:t>
            </a:r>
          </a:p>
          <a:p>
            <a:r>
              <a:rPr lang="en-US" dirty="0" smtClean="0"/>
              <a:t>Frequency shift</a:t>
            </a:r>
          </a:p>
          <a:p>
            <a:r>
              <a:rPr lang="en-US" dirty="0" smtClean="0"/>
              <a:t>Low pass/high-pass filter</a:t>
            </a:r>
          </a:p>
          <a:p>
            <a:r>
              <a:rPr lang="en-US" dirty="0" smtClean="0"/>
              <a:t>Volume</a:t>
            </a:r>
          </a:p>
          <a:p>
            <a:r>
              <a:rPr lang="en-US" dirty="0" smtClean="0"/>
              <a:t>Effects</a:t>
            </a:r>
          </a:p>
          <a:p>
            <a:r>
              <a:rPr lang="en-US" smtClean="0"/>
              <a:t>Loops</a:t>
            </a:r>
          </a:p>
          <a:p>
            <a:endParaRPr lang="en-US" dirty="0"/>
          </a:p>
        </p:txBody>
      </p:sp>
    </p:spTree>
    <p:extLst>
      <p:ext uri="{BB962C8B-B14F-4D97-AF65-F5344CB8AC3E}">
        <p14:creationId xmlns:p14="http://schemas.microsoft.com/office/powerpoint/2010/main" val="99324340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Don’t forget: Object oriented</a:t>
            </a:r>
            <a:endParaRPr lang="en-MY" dirty="0"/>
          </a:p>
        </p:txBody>
      </p:sp>
      <p:sp>
        <p:nvSpPr>
          <p:cNvPr id="3" name="Content Placeholder 2"/>
          <p:cNvSpPr>
            <a:spLocks noGrp="1"/>
          </p:cNvSpPr>
          <p:nvPr>
            <p:ph idx="1"/>
          </p:nvPr>
        </p:nvSpPr>
        <p:spPr/>
        <p:txBody>
          <a:bodyPr/>
          <a:lstStyle/>
          <a:p>
            <a:r>
              <a:rPr lang="en-US" dirty="0" smtClean="0"/>
              <a:t>Redesign the Audio class to become more suitable for a game that will have to take in considerations such as:</a:t>
            </a:r>
          </a:p>
          <a:p>
            <a:pPr>
              <a:buFont typeface="Arial" pitchFamily="34" charset="0"/>
              <a:buChar char="•"/>
            </a:pPr>
            <a:r>
              <a:rPr lang="en-US" dirty="0" smtClean="0"/>
              <a:t>Multiple characters</a:t>
            </a:r>
          </a:p>
          <a:p>
            <a:pPr>
              <a:buFont typeface="Arial" pitchFamily="34" charset="0"/>
              <a:buChar char="•"/>
            </a:pPr>
            <a:r>
              <a:rPr lang="en-US" dirty="0" smtClean="0"/>
              <a:t>Multiple effects</a:t>
            </a:r>
          </a:p>
          <a:p>
            <a:pPr>
              <a:buFont typeface="Arial" pitchFamily="34" charset="0"/>
              <a:buChar char="•"/>
            </a:pPr>
            <a:r>
              <a:rPr lang="en-US" dirty="0" smtClean="0"/>
              <a:t>Multiple levels</a:t>
            </a:r>
          </a:p>
          <a:p>
            <a:pPr>
              <a:buFont typeface="Arial" pitchFamily="34" charset="0"/>
              <a:buChar char="•"/>
            </a:pPr>
            <a:r>
              <a:rPr lang="en-US" dirty="0" smtClean="0"/>
              <a:t>Dynamic music</a:t>
            </a:r>
          </a:p>
          <a:p>
            <a:pPr marL="0" indent="0"/>
            <a:r>
              <a:rPr lang="en-US" dirty="0" smtClean="0"/>
              <a:t>Consider carefully the hierarchical level of the class before you do any design.</a:t>
            </a:r>
            <a:endParaRPr lang="en-MY" dirty="0"/>
          </a:p>
        </p:txBody>
      </p:sp>
    </p:spTree>
    <p:extLst>
      <p:ext uri="{BB962C8B-B14F-4D97-AF65-F5344CB8AC3E}">
        <p14:creationId xmlns:p14="http://schemas.microsoft.com/office/powerpoint/2010/main" val="4977316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and how?</a:t>
            </a:r>
            <a:endParaRPr lang="en-MY" dirty="0"/>
          </a:p>
        </p:txBody>
      </p:sp>
      <p:sp>
        <p:nvSpPr>
          <p:cNvPr id="3" name="Content Placeholder 2"/>
          <p:cNvSpPr>
            <a:spLocks noGrp="1"/>
          </p:cNvSpPr>
          <p:nvPr>
            <p:ph idx="1"/>
          </p:nvPr>
        </p:nvSpPr>
        <p:spPr/>
        <p:txBody>
          <a:bodyPr/>
          <a:lstStyle/>
          <a:p>
            <a:r>
              <a:rPr lang="en-US" dirty="0" smtClean="0"/>
              <a:t>Music</a:t>
            </a:r>
          </a:p>
          <a:p>
            <a:r>
              <a:rPr lang="en-US" dirty="0" smtClean="0"/>
              <a:t>Collisions</a:t>
            </a:r>
          </a:p>
          <a:p>
            <a:r>
              <a:rPr lang="en-US" dirty="0" err="1" smtClean="0"/>
              <a:t>Keypress</a:t>
            </a:r>
            <a:endParaRPr lang="en-US" dirty="0" smtClean="0"/>
          </a:p>
          <a:p>
            <a:r>
              <a:rPr lang="en-US" dirty="0" smtClean="0"/>
              <a:t>Mouse clicks</a:t>
            </a:r>
          </a:p>
          <a:p>
            <a:r>
              <a:rPr lang="en-US" dirty="0" smtClean="0"/>
              <a:t>Mouse move</a:t>
            </a:r>
          </a:p>
          <a:p>
            <a:r>
              <a:rPr lang="en-US" dirty="0" smtClean="0"/>
              <a:t>AI </a:t>
            </a:r>
            <a:r>
              <a:rPr lang="en-US" dirty="0" err="1" smtClean="0"/>
              <a:t>behaviour</a:t>
            </a:r>
            <a:endParaRPr lang="en-US" dirty="0" smtClean="0"/>
          </a:p>
          <a:p>
            <a:r>
              <a:rPr lang="en-US" dirty="0" smtClean="0"/>
              <a:t>Environment </a:t>
            </a:r>
            <a:r>
              <a:rPr lang="en-US" dirty="0" err="1" smtClean="0"/>
              <a:t>behaviour</a:t>
            </a:r>
            <a:endParaRPr lang="en-US" dirty="0" smtClean="0"/>
          </a:p>
          <a:p>
            <a:r>
              <a:rPr lang="en-US" dirty="0" smtClean="0"/>
              <a:t>???</a:t>
            </a:r>
            <a:endParaRPr lang="en-MY" dirty="0"/>
          </a:p>
        </p:txBody>
      </p:sp>
    </p:spTree>
    <p:extLst>
      <p:ext uri="{BB962C8B-B14F-4D97-AF65-F5344CB8AC3E}">
        <p14:creationId xmlns:p14="http://schemas.microsoft.com/office/powerpoint/2010/main" val="292220807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219</TotalTime>
  <Words>1574</Words>
  <Application>Microsoft Office PowerPoint</Application>
  <PresentationFormat>On-screen Show (4:3)</PresentationFormat>
  <Paragraphs>181</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Angles</vt:lpstr>
      <vt:lpstr>AACS3044 Computer Game Programming</vt:lpstr>
      <vt:lpstr>Sound in Games</vt:lpstr>
      <vt:lpstr>What can sound do in games?</vt:lpstr>
      <vt:lpstr>The nature of sound</vt:lpstr>
      <vt:lpstr>The nature of sound</vt:lpstr>
      <vt:lpstr>The nature of sound</vt:lpstr>
      <vt:lpstr>DirectSound?</vt:lpstr>
      <vt:lpstr>How does DirectSound Work?</vt:lpstr>
      <vt:lpstr>Types of buffer in DirectSound</vt:lpstr>
      <vt:lpstr>Example of DirectSound’s complexity</vt:lpstr>
      <vt:lpstr>FMOD TO THE RESCUE!</vt:lpstr>
      <vt:lpstr>FMOD LICENSING</vt:lpstr>
      <vt:lpstr>Lets begin!</vt:lpstr>
      <vt:lpstr>Integrating with Visual Studio</vt:lpstr>
      <vt:lpstr>Integrating with Visual Studio</vt:lpstr>
      <vt:lpstr>Integrating with Visual Studio</vt:lpstr>
      <vt:lpstr>Integrating with Visual Studio</vt:lpstr>
      <vt:lpstr>Integrating with Visual Studio</vt:lpstr>
      <vt:lpstr>Integrating with Visual Studio</vt:lpstr>
      <vt:lpstr>Ready to go!</vt:lpstr>
      <vt:lpstr>Audio.H</vt:lpstr>
      <vt:lpstr>Audio.cpp</vt:lpstr>
      <vt:lpstr>To understand the parameters</vt:lpstr>
      <vt:lpstr>Play my song!</vt:lpstr>
      <vt:lpstr>Play my song!</vt:lpstr>
      <vt:lpstr>Manipulating sound</vt:lpstr>
      <vt:lpstr>Manipulating sound</vt:lpstr>
      <vt:lpstr>Don’t forget: Object oriented</vt:lpstr>
      <vt:lpstr>Where and how?</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AACS3043 Computer Game Programming II</dc:title>
  <dc:creator>Andrew Tan</dc:creator>
  <cp:lastModifiedBy>Andrew Tan</cp:lastModifiedBy>
  <cp:revision>22</cp:revision>
  <dcterms:created xsi:type="dcterms:W3CDTF">2013-02-01T15:45:23Z</dcterms:created>
  <dcterms:modified xsi:type="dcterms:W3CDTF">2020-06-09T18:55:20Z</dcterms:modified>
</cp:coreProperties>
</file>