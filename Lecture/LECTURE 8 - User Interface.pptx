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3C"/>
    <a:srgbClr val="0B3261"/>
    <a:srgbClr val="F58D01"/>
    <a:srgbClr val="464543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85679" autoAdjust="0"/>
  </p:normalViewPr>
  <p:slideViewPr>
    <p:cSldViewPr>
      <p:cViewPr varScale="1">
        <p:scale>
          <a:sx n="79" d="100"/>
          <a:sy n="79" d="100"/>
        </p:scale>
        <p:origin x="114" y="5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4F20E-BD48-482A-8C1A-750930806645}" type="datetimeFigureOut">
              <a:rPr lang="en-US" smtClean="0"/>
              <a:t>24-May-19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30A96-B632-4CA8-AECE-C8F9EDBEE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4E05B-B503-484C-BF68-F3CAD67E20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76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668344" y="116632"/>
            <a:ext cx="1368152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4822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27868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7342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7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07504" y="6388737"/>
            <a:ext cx="7776864" cy="31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 smtClean="0"/>
              <a:t>AACS2173</a:t>
            </a:r>
            <a:r>
              <a:rPr lang="en-GB" sz="1800" baseline="0" dirty="0" smtClean="0"/>
              <a:t> – Computer Game Programming 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34593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</p:spPr>
        <p:txBody>
          <a:bodyPr/>
          <a:lstStyle/>
          <a:p>
            <a:r>
              <a:rPr lang="en-GB" dirty="0" smtClean="0"/>
              <a:t>LECTURE 6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User Interface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179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 Quiz -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Shell </a:t>
            </a:r>
            <a:r>
              <a:rPr lang="en-US" dirty="0"/>
              <a:t>I</a:t>
            </a:r>
            <a:r>
              <a:rPr lang="en-US" dirty="0" smtClean="0"/>
              <a:t>nterface?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The system Shell petrol stations use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The main menu of a restaurant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The main menu of a game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The interface designed like a tortoise shell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The USB system snails use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45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button?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That thing on my shirt that keeps my hairy chest safe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That thing on my pants that keeps me from jail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Anything I can click 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Something I can click 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specific graphic that is </a:t>
            </a:r>
            <a:r>
              <a:rPr lang="en-US" dirty="0" err="1" smtClean="0"/>
              <a:t>interactable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 Quiz -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user interface?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way to guide user interactivity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way for machines and humans to communicate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way to multiply input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way to present output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/>
              <a:t>A way for U and I to face each other.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9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role of User Interfaces</a:t>
            </a:r>
          </a:p>
          <a:p>
            <a:r>
              <a:rPr lang="en-US" dirty="0" smtClean="0"/>
              <a:t>Types of User Interface controls</a:t>
            </a:r>
          </a:p>
          <a:p>
            <a:r>
              <a:rPr lang="en-US" dirty="0" smtClean="0"/>
              <a:t>OO User Interface</a:t>
            </a:r>
          </a:p>
          <a:p>
            <a:r>
              <a:rPr lang="en-US" dirty="0" smtClean="0"/>
              <a:t>Key User Interface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4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be interactive, a game has to respond to the player, the player then responds to the game, and so on.</a:t>
            </a:r>
          </a:p>
          <a:p>
            <a:pPr lvl="1"/>
            <a:r>
              <a:rPr lang="en-US" dirty="0" smtClean="0"/>
              <a:t>Without </a:t>
            </a:r>
            <a:r>
              <a:rPr lang="en-US" dirty="0"/>
              <a:t>this interactivity, it’s not a game</a:t>
            </a:r>
            <a:r>
              <a:rPr lang="en-US" dirty="0" smtClean="0"/>
              <a:t>.</a:t>
            </a:r>
          </a:p>
          <a:p>
            <a:r>
              <a:rPr lang="en-US" dirty="0"/>
              <a:t>UI is not just buttons and windows and little icons.</a:t>
            </a:r>
          </a:p>
          <a:p>
            <a:r>
              <a:rPr lang="en-US" dirty="0" smtClean="0"/>
              <a:t>It </a:t>
            </a:r>
            <a:r>
              <a:rPr lang="en-US" dirty="0"/>
              <a:t>is the communication pipeline between the player and the game, and vice versa.</a:t>
            </a:r>
          </a:p>
          <a:p>
            <a:r>
              <a:rPr lang="en-US" dirty="0" smtClean="0"/>
              <a:t>It </a:t>
            </a:r>
            <a:r>
              <a:rPr lang="en-US" dirty="0"/>
              <a:t>is perhaps the most important aspect of your game.</a:t>
            </a:r>
          </a:p>
          <a:p>
            <a:r>
              <a:rPr lang="en-US" dirty="0" smtClean="0"/>
              <a:t>But </a:t>
            </a:r>
            <a:r>
              <a:rPr lang="en-US" dirty="0"/>
              <a:t>if you trivialized your UI system, you might as well just quit and go into film school.</a:t>
            </a:r>
          </a:p>
        </p:txBody>
      </p:sp>
    </p:spTree>
    <p:extLst>
      <p:ext uri="{BB962C8B-B14F-4D97-AF65-F5344CB8AC3E}">
        <p14:creationId xmlns:p14="http://schemas.microsoft.com/office/powerpoint/2010/main" val="372747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UI also plays a very important part in multiplying the possibilities of user input given a limited hardware interface</a:t>
            </a:r>
          </a:p>
          <a:p>
            <a:r>
              <a:rPr lang="en-US" dirty="0" smtClean="0"/>
              <a:t>In example, a simple touchscreen can be made to do many </a:t>
            </a:r>
            <a:r>
              <a:rPr lang="en-US" dirty="0" err="1" smtClean="0"/>
              <a:t>many</a:t>
            </a:r>
            <a:r>
              <a:rPr lang="en-US" dirty="0" smtClean="0"/>
              <a:t> actions given a proper 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8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UI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two main types:</a:t>
            </a:r>
          </a:p>
          <a:p>
            <a:pPr lvl="1"/>
            <a:r>
              <a:rPr lang="en-US" dirty="0" smtClean="0"/>
              <a:t>Buttons - provides </a:t>
            </a:r>
            <a:r>
              <a:rPr lang="en-US" dirty="0"/>
              <a:t>the user a simple way to trigger an event</a:t>
            </a:r>
          </a:p>
          <a:p>
            <a:pPr lvl="1"/>
            <a:r>
              <a:rPr lang="en-US" dirty="0" smtClean="0"/>
              <a:t>Labels - displays </a:t>
            </a:r>
            <a:r>
              <a:rPr lang="en-US" dirty="0"/>
              <a:t>information on </a:t>
            </a:r>
            <a:r>
              <a:rPr lang="en-US" dirty="0" smtClean="0"/>
              <a:t>screen</a:t>
            </a:r>
          </a:p>
          <a:p>
            <a:pPr lvl="1"/>
            <a:endParaRPr lang="en-US" dirty="0"/>
          </a:p>
          <a:p>
            <a:r>
              <a:rPr lang="en-US" dirty="0" smtClean="0"/>
              <a:t>Buttons and labels are just names in concept, but can be used for a lot more than just buttons and labels.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1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 </a:t>
            </a:r>
            <a:r>
              <a:rPr lang="en-US" dirty="0"/>
              <a:t>User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you have many types of UI screens</a:t>
            </a:r>
          </a:p>
          <a:p>
            <a:pPr lvl="1"/>
            <a:r>
              <a:rPr lang="en-US" dirty="0" smtClean="0"/>
              <a:t>Main menu</a:t>
            </a:r>
          </a:p>
          <a:p>
            <a:pPr lvl="1"/>
            <a:r>
              <a:rPr lang="en-US" dirty="0" smtClean="0"/>
              <a:t>Options menu</a:t>
            </a:r>
          </a:p>
          <a:p>
            <a:pPr lvl="1"/>
            <a:r>
              <a:rPr lang="en-US" dirty="0" smtClean="0"/>
              <a:t>Load and save game menu</a:t>
            </a:r>
          </a:p>
          <a:p>
            <a:pPr lvl="1"/>
            <a:r>
              <a:rPr lang="en-US" dirty="0" smtClean="0"/>
              <a:t>In game menu</a:t>
            </a:r>
          </a:p>
          <a:p>
            <a:pPr lvl="1"/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What is the best way to maintain all the UIs yet maintain an OO concept? </a:t>
            </a:r>
          </a:p>
        </p:txBody>
      </p:sp>
    </p:spTree>
    <p:extLst>
      <p:ext uri="{BB962C8B-B14F-4D97-AF65-F5344CB8AC3E}">
        <p14:creationId xmlns:p14="http://schemas.microsoft.com/office/powerpoint/2010/main" val="184148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 User </a:t>
            </a:r>
            <a:r>
              <a:rPr lang="en-US" dirty="0" smtClean="0"/>
              <a:t>Interface – </a:t>
            </a:r>
            <a:r>
              <a:rPr lang="en-US" dirty="0"/>
              <a:t>P</a:t>
            </a:r>
            <a:r>
              <a:rPr lang="en-US" dirty="0" smtClean="0"/>
              <a:t>oor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3898776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Button buttons[10];</a:t>
            </a:r>
          </a:p>
          <a:p>
            <a:pPr marL="0" indent="0">
              <a:buNone/>
            </a:pPr>
            <a:r>
              <a:rPr lang="en-US" sz="1600" dirty="0"/>
              <a:t>Label labels[10</a:t>
            </a:r>
            <a:r>
              <a:rPr lang="en-US" sz="1600" dirty="0" smtClean="0"/>
              <a:t>];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void setup() {</a:t>
            </a:r>
          </a:p>
          <a:p>
            <a:pPr marL="400050" lvl="1" indent="0">
              <a:buNone/>
            </a:pPr>
            <a:r>
              <a:rPr lang="en-US" sz="1600" dirty="0"/>
              <a:t>for 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10;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800100" lvl="2" indent="0">
              <a:buNone/>
            </a:pPr>
            <a:r>
              <a:rPr lang="en-US" sz="1600" dirty="0"/>
              <a:t>buttons[</a:t>
            </a:r>
            <a:r>
              <a:rPr lang="en-US" sz="1600" dirty="0" err="1"/>
              <a:t>i</a:t>
            </a:r>
            <a:r>
              <a:rPr lang="en-US" sz="1600" dirty="0"/>
              <a:t>].setup();</a:t>
            </a:r>
          </a:p>
          <a:p>
            <a:pPr marL="800100" lvl="2" indent="0">
              <a:buNone/>
            </a:pPr>
            <a:r>
              <a:rPr lang="en-US" sz="1600" dirty="0"/>
              <a:t>labels[</a:t>
            </a:r>
            <a:r>
              <a:rPr lang="en-US" sz="1600" dirty="0" err="1"/>
              <a:t>i</a:t>
            </a:r>
            <a:r>
              <a:rPr lang="en-US" sz="1600" dirty="0"/>
              <a:t>].setup();</a:t>
            </a:r>
          </a:p>
          <a:p>
            <a:pPr marL="400050" lvl="1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void update() {</a:t>
            </a:r>
          </a:p>
          <a:p>
            <a:pPr marL="400050" lvl="1" indent="0">
              <a:buNone/>
            </a:pPr>
            <a:r>
              <a:rPr lang="en-US" sz="1600" dirty="0"/>
              <a:t>for 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10;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pPr marL="800100" lvl="2" indent="0">
              <a:buNone/>
            </a:pPr>
            <a:r>
              <a:rPr lang="en-US" sz="1600" dirty="0"/>
              <a:t>buttons[</a:t>
            </a:r>
            <a:r>
              <a:rPr lang="en-US" sz="1600" dirty="0" err="1"/>
              <a:t>i</a:t>
            </a:r>
            <a:r>
              <a:rPr lang="en-US" sz="1600" dirty="0"/>
              <a:t>].update();</a:t>
            </a:r>
          </a:p>
          <a:p>
            <a:pPr marL="800100" lvl="2" indent="0">
              <a:buNone/>
            </a:pPr>
            <a:r>
              <a:rPr lang="en-US" sz="1600" dirty="0"/>
              <a:t>labels[</a:t>
            </a:r>
            <a:r>
              <a:rPr lang="en-US" sz="1600" dirty="0" err="1"/>
              <a:t>i</a:t>
            </a:r>
            <a:r>
              <a:rPr lang="en-US" sz="1600" dirty="0"/>
              <a:t>].update();</a:t>
            </a:r>
          </a:p>
          <a:p>
            <a:pPr marL="400050" lvl="1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 smtClean="0"/>
              <a:t>}</a:t>
            </a:r>
            <a:endParaRPr lang="en-US" sz="1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99992" y="1264774"/>
            <a:ext cx="4114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 smtClean="0"/>
              <a:t>void draw() {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600" dirty="0" smtClean="0"/>
              <a:t>for (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 err="1" smtClean="0"/>
              <a:t>i</a:t>
            </a:r>
            <a:r>
              <a:rPr lang="en-US" sz="1600" dirty="0" smtClean="0"/>
              <a:t> = 0; </a:t>
            </a:r>
            <a:r>
              <a:rPr lang="en-US" sz="1600" dirty="0" err="1" smtClean="0"/>
              <a:t>i</a:t>
            </a:r>
            <a:r>
              <a:rPr lang="en-US" sz="1600" dirty="0" smtClean="0"/>
              <a:t> &lt; 10; </a:t>
            </a:r>
            <a:r>
              <a:rPr lang="en-US" sz="1600" dirty="0" err="1" smtClean="0"/>
              <a:t>i</a:t>
            </a:r>
            <a:r>
              <a:rPr lang="en-US" sz="1600" dirty="0" smtClean="0"/>
              <a:t>++) {</a:t>
            </a:r>
          </a:p>
          <a:p>
            <a:pPr marL="800100" lvl="2" indent="0">
              <a:buFont typeface="Arial" pitchFamily="34" charset="0"/>
              <a:buNone/>
            </a:pPr>
            <a:r>
              <a:rPr lang="en-US" sz="1600" dirty="0" smtClean="0"/>
              <a:t>buttons[</a:t>
            </a:r>
            <a:r>
              <a:rPr lang="en-US" sz="1600" dirty="0" err="1" smtClean="0"/>
              <a:t>i</a:t>
            </a:r>
            <a:r>
              <a:rPr lang="en-US" sz="1600" dirty="0" smtClean="0"/>
              <a:t>].draw();</a:t>
            </a:r>
          </a:p>
          <a:p>
            <a:pPr marL="800100" lvl="2" indent="0">
              <a:buFont typeface="Arial" pitchFamily="34" charset="0"/>
              <a:buNone/>
            </a:pPr>
            <a:r>
              <a:rPr lang="en-US" sz="1600" dirty="0" smtClean="0"/>
              <a:t>labels[</a:t>
            </a:r>
            <a:r>
              <a:rPr lang="en-US" sz="1600" dirty="0" err="1" smtClean="0"/>
              <a:t>i</a:t>
            </a:r>
            <a:r>
              <a:rPr lang="en-US" sz="1600" dirty="0" smtClean="0"/>
              <a:t>].draw();</a:t>
            </a:r>
          </a:p>
          <a:p>
            <a:pPr marL="400050" lvl="1" indent="0">
              <a:buFont typeface="Arial" pitchFamily="34" charset="0"/>
              <a:buNone/>
            </a:pPr>
            <a:r>
              <a:rPr lang="en-US" sz="1600" dirty="0" smtClean="0"/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 smtClean="0"/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319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 User Interface – Poor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Lacks maintainability</a:t>
            </a:r>
          </a:p>
          <a:p>
            <a:r>
              <a:rPr lang="en-US" dirty="0" smtClean="0"/>
              <a:t>Lacks reusability</a:t>
            </a:r>
          </a:p>
          <a:p>
            <a:r>
              <a:rPr lang="en-US" dirty="0" smtClean="0"/>
              <a:t>Generally wrong application of the OO concept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12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Instead, we can create a master UI control that represents the entire screen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5282" y="4730012"/>
            <a:ext cx="4032448" cy="64320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Button</a:t>
            </a:r>
            <a:endParaRPr lang="en-MY" sz="2000" dirty="0"/>
          </a:p>
        </p:txBody>
      </p:sp>
      <p:sp>
        <p:nvSpPr>
          <p:cNvPr id="5" name="Rectangle 4"/>
          <p:cNvSpPr/>
          <p:nvPr/>
        </p:nvSpPr>
        <p:spPr>
          <a:xfrm>
            <a:off x="453932" y="2493447"/>
            <a:ext cx="8208912" cy="6432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User Interface</a:t>
            </a:r>
            <a:endParaRPr lang="en-MY" sz="2000" dirty="0"/>
          </a:p>
        </p:txBody>
      </p:sp>
      <p:sp>
        <p:nvSpPr>
          <p:cNvPr id="6" name="Rectangle 5"/>
          <p:cNvSpPr/>
          <p:nvPr/>
        </p:nvSpPr>
        <p:spPr>
          <a:xfrm>
            <a:off x="4608134" y="4730012"/>
            <a:ext cx="4032448" cy="64320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Label</a:t>
            </a:r>
            <a:endParaRPr lang="en-MY" sz="2000" dirty="0"/>
          </a:p>
        </p:txBody>
      </p:sp>
      <p:sp>
        <p:nvSpPr>
          <p:cNvPr id="7" name="Rectangle 6"/>
          <p:cNvSpPr/>
          <p:nvPr/>
        </p:nvSpPr>
        <p:spPr>
          <a:xfrm>
            <a:off x="460708" y="3952382"/>
            <a:ext cx="8208912" cy="64320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Element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9960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Think </a:t>
            </a:r>
            <a:r>
              <a:rPr lang="en-US" smtClean="0"/>
              <a:t>of hierarchical </a:t>
            </a:r>
            <a:r>
              <a:rPr lang="en-US" dirty="0" smtClean="0"/>
              <a:t>trees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2219325"/>
            <a:ext cx="675322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005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 User Interface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68760"/>
            <a:ext cx="6264696" cy="489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21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Z Ordering</a:t>
            </a:r>
            <a:endParaRPr lang="en-US" dirty="0"/>
          </a:p>
          <a:p>
            <a:r>
              <a:rPr lang="en-US" dirty="0" smtClean="0"/>
              <a:t>UI events</a:t>
            </a:r>
            <a:endParaRPr lang="en-US" dirty="0"/>
          </a:p>
          <a:p>
            <a:pPr lvl="1"/>
            <a:r>
              <a:rPr lang="en-US" dirty="0" smtClean="0"/>
              <a:t>Notification - A </a:t>
            </a:r>
            <a:r>
              <a:rPr lang="en-US" dirty="0"/>
              <a:t>common task for a widget is to notify its parent that some event has occurred.</a:t>
            </a:r>
          </a:p>
          <a:p>
            <a:pPr lvl="1"/>
            <a:r>
              <a:rPr lang="en-US" dirty="0" smtClean="0"/>
              <a:t>Focus - UI </a:t>
            </a:r>
            <a:r>
              <a:rPr lang="en-US" dirty="0"/>
              <a:t>element </a:t>
            </a:r>
            <a:r>
              <a:rPr lang="en-US" dirty="0" smtClean="0"/>
              <a:t>that</a:t>
            </a:r>
            <a:r>
              <a:rPr lang="en-US" dirty="0"/>
              <a:t> t</a:t>
            </a:r>
            <a:r>
              <a:rPr lang="en-US" dirty="0" smtClean="0"/>
              <a:t>he </a:t>
            </a:r>
            <a:r>
              <a:rPr lang="en-US" dirty="0"/>
              <a:t>user is interacting with at a given time.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98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567</Words>
  <Application>Microsoft Office PowerPoint</Application>
  <PresentationFormat>On-screen Show (4:3)</PresentationFormat>
  <Paragraphs>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Light</vt:lpstr>
      <vt:lpstr>Office Theme</vt:lpstr>
      <vt:lpstr>LECTURE 6</vt:lpstr>
      <vt:lpstr>Super Quiz - UI</vt:lpstr>
      <vt:lpstr>Super Quiz - UI</vt:lpstr>
      <vt:lpstr>Super Quiz - UI</vt:lpstr>
      <vt:lpstr>Overview</vt:lpstr>
      <vt:lpstr>The Role of UI</vt:lpstr>
      <vt:lpstr>The Role of UI</vt:lpstr>
      <vt:lpstr>Types of UI Controls</vt:lpstr>
      <vt:lpstr>OO User Interface</vt:lpstr>
      <vt:lpstr>OO User Interface – Poor design</vt:lpstr>
      <vt:lpstr>OO User Interface – Poor design</vt:lpstr>
      <vt:lpstr>OO User Interface</vt:lpstr>
      <vt:lpstr>OO User Interface</vt:lpstr>
      <vt:lpstr>OO User Interface</vt:lpstr>
      <vt:lpstr>Key Concepts</vt:lpstr>
    </vt:vector>
  </TitlesOfParts>
  <Company>SAINT-GOBAIN 1.7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Alesandra Blakeston</dc:creator>
  <cp:lastModifiedBy>Andrew Tan</cp:lastModifiedBy>
  <cp:revision>21</cp:revision>
  <dcterms:created xsi:type="dcterms:W3CDTF">2013-06-03T12:57:42Z</dcterms:created>
  <dcterms:modified xsi:type="dcterms:W3CDTF">2019-05-24T06:45:50Z</dcterms:modified>
</cp:coreProperties>
</file>