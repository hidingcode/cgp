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293" r:id="rId4"/>
    <p:sldId id="294" r:id="rId5"/>
    <p:sldId id="257" r:id="rId6"/>
    <p:sldId id="258" r:id="rId7"/>
    <p:sldId id="259" r:id="rId8"/>
    <p:sldId id="260" r:id="rId9"/>
    <p:sldId id="261" r:id="rId10"/>
    <p:sldId id="262" r:id="rId11"/>
    <p:sldId id="263" r:id="rId12"/>
    <p:sldId id="264" r:id="rId13"/>
    <p:sldId id="265" r:id="rId14"/>
    <p:sldId id="266" r:id="rId15"/>
    <p:sldId id="290" r:id="rId16"/>
    <p:sldId id="268" r:id="rId17"/>
    <p:sldId id="270" r:id="rId18"/>
    <p:sldId id="271"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3261"/>
    <a:srgbClr val="F58D01"/>
    <a:srgbClr val="009F3C"/>
    <a:srgbClr val="464543"/>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0" autoAdjust="0"/>
    <p:restoredTop sz="85679" autoAdjust="0"/>
  </p:normalViewPr>
  <p:slideViewPr>
    <p:cSldViewPr>
      <p:cViewPr varScale="1">
        <p:scale>
          <a:sx n="79" d="100"/>
          <a:sy n="79" d="100"/>
        </p:scale>
        <p:origin x="114" y="52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3568" y="3212976"/>
            <a:ext cx="7776864" cy="1752600"/>
          </a:xfrm>
        </p:spPr>
        <p:txBody>
          <a:bodyPr>
            <a:normAutofit/>
          </a:bodyPr>
          <a:lstStyle>
            <a:lvl1pPr marL="0" indent="0" algn="l">
              <a:buNone/>
              <a:defRPr sz="2800">
                <a:solidFill>
                  <a:schemeClr val="tx1"/>
                </a:solidFill>
                <a:latin typeface="+mn-lt"/>
                <a:ea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11" name="Subtitle 2"/>
          <p:cNvSpPr txBox="1">
            <a:spLocks/>
          </p:cNvSpPr>
          <p:nvPr userDrawn="1"/>
        </p:nvSpPr>
        <p:spPr>
          <a:xfrm>
            <a:off x="7668344" y="116632"/>
            <a:ext cx="1368152" cy="456456"/>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endParaRPr lang="en-GB" sz="1800" dirty="0"/>
          </a:p>
        </p:txBody>
      </p:sp>
      <p:sp>
        <p:nvSpPr>
          <p:cNvPr id="4" name="Title 3"/>
          <p:cNvSpPr>
            <a:spLocks noGrp="1"/>
          </p:cNvSpPr>
          <p:nvPr>
            <p:ph type="title"/>
          </p:nvPr>
        </p:nvSpPr>
        <p:spPr/>
        <p:txBody>
          <a:bodyPr/>
          <a:lstStyle/>
          <a:p>
            <a:r>
              <a:rPr lang="en-US" smtClean="0"/>
              <a:t>Click to edit Master title style</a:t>
            </a:r>
            <a:endParaRPr lang="en-MY"/>
          </a:p>
        </p:txBody>
      </p:sp>
    </p:spTree>
    <p:extLst>
      <p:ext uri="{BB962C8B-B14F-4D97-AF65-F5344CB8AC3E}">
        <p14:creationId xmlns:p14="http://schemas.microsoft.com/office/powerpoint/2010/main" val="77482200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ubtitle 2"/>
          <p:cNvSpPr txBox="1">
            <a:spLocks/>
          </p:cNvSpPr>
          <p:nvPr userDrawn="1"/>
        </p:nvSpPr>
        <p:spPr>
          <a:xfrm>
            <a:off x="4139952" y="6386920"/>
            <a:ext cx="1368152" cy="384448"/>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endParaRPr lang="en-GB" sz="1800" dirty="0"/>
          </a:p>
        </p:txBody>
      </p:sp>
    </p:spTree>
    <p:extLst>
      <p:ext uri="{BB962C8B-B14F-4D97-AF65-F5344CB8AC3E}">
        <p14:creationId xmlns:p14="http://schemas.microsoft.com/office/powerpoint/2010/main" val="34278688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solidFill>
            <a:schemeClr val="accent1"/>
          </a:solidFill>
        </p:spPr>
        <p:txBody>
          <a:bodyPr/>
          <a:lstStyle>
            <a:lvl1pPr>
              <a:defRPr>
                <a:solidFill>
                  <a:schemeClr val="tx1"/>
                </a:solidFill>
              </a:defRPr>
            </a:lvl1pPr>
          </a:lstStyle>
          <a:p>
            <a:r>
              <a:rPr lang="en-US" smtClean="0"/>
              <a:t>Click to edit Master title style</a:t>
            </a:r>
            <a:endParaRPr lang="en-GB"/>
          </a:p>
        </p:txBody>
      </p:sp>
      <p:sp>
        <p:nvSpPr>
          <p:cNvPr id="3" name="Content Placeholder 2"/>
          <p:cNvSpPr>
            <a:spLocks noGrp="1"/>
          </p:cNvSpPr>
          <p:nvPr>
            <p:ph idx="1"/>
          </p:nvPr>
        </p:nvSpPr>
        <p:spPr>
          <a:xfrm>
            <a:off x="457200" y="1268760"/>
            <a:ext cx="8229600" cy="53285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7" name="Subtitle 2"/>
          <p:cNvSpPr txBox="1">
            <a:spLocks/>
          </p:cNvSpPr>
          <p:nvPr userDrawn="1"/>
        </p:nvSpPr>
        <p:spPr>
          <a:xfrm>
            <a:off x="4139952" y="6386920"/>
            <a:ext cx="1368152" cy="384448"/>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endParaRPr lang="en-GB" sz="1800" dirty="0"/>
          </a:p>
        </p:txBody>
      </p:sp>
    </p:spTree>
    <p:extLst>
      <p:ext uri="{BB962C8B-B14F-4D97-AF65-F5344CB8AC3E}">
        <p14:creationId xmlns:p14="http://schemas.microsoft.com/office/powerpoint/2010/main" val="111734293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cSld name="Comparison">
    <p:spTree>
      <p:nvGrpSpPr>
        <p:cNvPr id="1" name=""/>
        <p:cNvGrpSpPr/>
        <p:nvPr/>
      </p:nvGrpSpPr>
      <p:grpSpPr>
        <a:xfrm>
          <a:off x="0" y="0"/>
          <a:ext cx="0" cy="0"/>
          <a:chOff x="0" y="0"/>
          <a:chExt cx="0" cy="0"/>
        </a:xfrm>
      </p:grpSpPr>
      <p:sp>
        <p:nvSpPr>
          <p:cNvPr id="11" name="Rectangle 10"/>
          <p:cNvSpPr/>
          <p:nvPr userDrawn="1"/>
        </p:nvSpPr>
        <p:spPr>
          <a:xfrm>
            <a:off x="4662296" y="1556056"/>
            <a:ext cx="4020984" cy="613784"/>
          </a:xfrm>
          <a:prstGeom prst="rect">
            <a:avLst/>
          </a:prstGeom>
          <a:solidFill>
            <a:srgbClr val="FFFFFF">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479008" y="1556792"/>
            <a:ext cx="4020984" cy="613784"/>
          </a:xfrm>
          <a:prstGeom prst="rect">
            <a:avLst/>
          </a:prstGeom>
          <a:solidFill>
            <a:srgbClr val="FFFFFF">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pic>
        <p:nvPicPr>
          <p:cNvPr id="14" name="Picture 13">
            <a:hlinkClick r:id="" action="ppaction://hlinkshowjump?jump=next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5386" y="6309320"/>
            <a:ext cx="303997" cy="450964"/>
          </a:xfrm>
          <a:prstGeom prst="rect">
            <a:avLst/>
          </a:prstGeom>
        </p:spPr>
      </p:pic>
      <p:pic>
        <p:nvPicPr>
          <p:cNvPr id="15" name="Picture 14">
            <a:hlinkClick r:id="" action="ppaction://hlinkshowjump?jump=previous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46966" y="6309320"/>
            <a:ext cx="303997" cy="450964"/>
          </a:xfrm>
          <a:prstGeom prst="rect">
            <a:avLst/>
          </a:prstGeom>
        </p:spPr>
      </p:pic>
    </p:spTree>
    <p:extLst>
      <p:ext uri="{BB962C8B-B14F-4D97-AF65-F5344CB8AC3E}">
        <p14:creationId xmlns:p14="http://schemas.microsoft.com/office/powerpoint/2010/main" val="284570720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cSld name="Las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pic>
        <p:nvPicPr>
          <p:cNvPr id="9" name="Picture 8">
            <a:hlinkClick r:id="" action="ppaction://hlinkshowjump?jump=previousslide"/>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46966" y="6309320"/>
            <a:ext cx="303997" cy="450964"/>
          </a:xfrm>
          <a:prstGeom prst="rect">
            <a:avLst/>
          </a:prstGeom>
        </p:spPr>
      </p:pic>
    </p:spTree>
    <p:extLst>
      <p:ext uri="{BB962C8B-B14F-4D97-AF65-F5344CB8AC3E}">
        <p14:creationId xmlns:p14="http://schemas.microsoft.com/office/powerpoint/2010/main" val="147564530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326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50106"/>
          </a:xfrm>
          <a:prstGeom prst="rect">
            <a:avLst/>
          </a:prstGeom>
          <a:solidFill>
            <a:schemeClr val="accent1"/>
          </a:solidFill>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268760"/>
            <a:ext cx="8229600" cy="53285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pic>
        <p:nvPicPr>
          <p:cNvPr id="7" name="Picture 2" descr="C:\Users\jw\Documents\Visual Studio 2010\Projects\JSBubbles\JSBubbles.Game\images\themes\metro\Next.png">
            <a:hlinkClick r:id="" action="ppaction://hlinkshowjump?jump=nextslide"/>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004029" y="6348019"/>
            <a:ext cx="400050" cy="400050"/>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hlinkClick r:id="" action="ppaction://hlinkshowjump?jump=endshow"/>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558640" y="6343213"/>
            <a:ext cx="400106" cy="400106"/>
          </a:xfrm>
          <a:prstGeom prst="rect">
            <a:avLst/>
          </a:prstGeom>
        </p:spPr>
      </p:pic>
      <p:pic>
        <p:nvPicPr>
          <p:cNvPr id="9" name="Obraz 8">
            <a:hlinkClick r:id="" action="ppaction://hlinkshowjump?jump=firstslide"/>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448908" y="6347991"/>
            <a:ext cx="400106" cy="400106"/>
          </a:xfrm>
          <a:prstGeom prst="rect">
            <a:avLst/>
          </a:prstGeom>
        </p:spPr>
      </p:pic>
      <p:pic>
        <p:nvPicPr>
          <p:cNvPr id="10" name="Obraz 9">
            <a:hlinkClick r:id="" action="ppaction://hlinkshowjump?jump=previousslide"/>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6904800" y="6338465"/>
            <a:ext cx="419159" cy="419159"/>
          </a:xfrm>
          <a:prstGeom prst="rect">
            <a:avLst/>
          </a:prstGeom>
        </p:spPr>
      </p:pic>
      <p:sp>
        <p:nvSpPr>
          <p:cNvPr id="11" name="Subtitle 2"/>
          <p:cNvSpPr txBox="1">
            <a:spLocks/>
          </p:cNvSpPr>
          <p:nvPr userDrawn="1"/>
        </p:nvSpPr>
        <p:spPr>
          <a:xfrm>
            <a:off x="107504" y="6388737"/>
            <a:ext cx="7776864" cy="312440"/>
          </a:xfrm>
          <a:prstGeom prst="rect">
            <a:avLst/>
          </a:prstGeom>
        </p:spPr>
        <p:txBody>
          <a:bodyPr vert="horz" lIns="91440" tIns="45720" rIns="91440" bIns="45720" rtlCol="0">
            <a:noAutofit/>
          </a:bodyPr>
          <a:lstStyle>
            <a:lvl1pPr marL="0" indent="0" algn="l" defTabSz="914400" rtl="0" eaLnBrk="1" latinLnBrk="0" hangingPunct="1">
              <a:spcBef>
                <a:spcPct val="20000"/>
              </a:spcBef>
              <a:buFont typeface="Arial" pitchFamily="34" charset="0"/>
              <a:buNone/>
              <a:defRPr sz="2800" kern="1200">
                <a:solidFill>
                  <a:schemeClr val="tx1"/>
                </a:solidFill>
                <a:latin typeface="+mn-lt"/>
                <a:ea typeface="Segoe UI" pitchFamily="34" charset="0"/>
                <a:cs typeface="Segoe UI" pitchFamily="34" charset="0"/>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Segoe UI" pitchFamily="34" charset="0"/>
                <a:cs typeface="Segoe UI" pitchFamily="34" charset="0"/>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Segoe UI" pitchFamily="34" charset="0"/>
                <a:cs typeface="Segoe UI" pitchFamily="34" charset="0"/>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Segoe UI" pitchFamily="34" charset="0"/>
                <a:cs typeface="Segoe UI"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GB" sz="1800" dirty="0" smtClean="0"/>
              <a:t>AACS2173</a:t>
            </a:r>
            <a:r>
              <a:rPr lang="en-GB" sz="1800" baseline="0" dirty="0" smtClean="0"/>
              <a:t> – Computer Game Programming I</a:t>
            </a:r>
            <a:endParaRPr lang="en-GB" sz="1800" dirty="0"/>
          </a:p>
        </p:txBody>
      </p:sp>
    </p:spTree>
    <p:extLst>
      <p:ext uri="{BB962C8B-B14F-4D97-AF65-F5344CB8AC3E}">
        <p14:creationId xmlns:p14="http://schemas.microsoft.com/office/powerpoint/2010/main" val="334593653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mj-lt"/>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http://msdn2.microsoft.com/en-us/library/bb174685.aspx"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hyperlink" Target="http://msdn.microsoft.com/en-us/library/ee417003(v=VS.85).aspx"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010543"/>
          </a:xfrm>
        </p:spPr>
        <p:txBody>
          <a:bodyPr/>
          <a:lstStyle/>
          <a:p>
            <a:r>
              <a:rPr lang="en-GB" dirty="0" smtClean="0"/>
              <a:t>LECTURE 4</a:t>
            </a:r>
            <a:endParaRPr lang="en-GB" dirty="0"/>
          </a:p>
        </p:txBody>
      </p:sp>
      <p:sp>
        <p:nvSpPr>
          <p:cNvPr id="3" name="Subtitle 2"/>
          <p:cNvSpPr>
            <a:spLocks noGrp="1"/>
          </p:cNvSpPr>
          <p:nvPr>
            <p:ph type="subTitle" idx="1"/>
          </p:nvPr>
        </p:nvSpPr>
        <p:spPr/>
        <p:txBody>
          <a:bodyPr/>
          <a:lstStyle/>
          <a:p>
            <a:r>
              <a:rPr lang="en-GB" dirty="0" smtClean="0"/>
              <a:t>Input</a:t>
            </a:r>
            <a:endParaRPr lang="en-GB" dirty="0"/>
          </a:p>
        </p:txBody>
      </p:sp>
    </p:spTree>
    <p:extLst>
      <p:ext uri="{BB962C8B-B14F-4D97-AF65-F5344CB8AC3E}">
        <p14:creationId xmlns:p14="http://schemas.microsoft.com/office/powerpoint/2010/main" val="26317912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 Quiz – Total Recall</a:t>
            </a:r>
            <a:endParaRPr lang="en-US" dirty="0"/>
          </a:p>
        </p:txBody>
      </p:sp>
      <p:sp>
        <p:nvSpPr>
          <p:cNvPr id="3" name="Content Placeholder 2"/>
          <p:cNvSpPr>
            <a:spLocks noGrp="1"/>
          </p:cNvSpPr>
          <p:nvPr>
            <p:ph idx="1"/>
          </p:nvPr>
        </p:nvSpPr>
        <p:spPr/>
        <p:txBody>
          <a:bodyPr/>
          <a:lstStyle/>
          <a:p>
            <a:r>
              <a:rPr lang="en-US" dirty="0" smtClean="0"/>
              <a:t>What is a sprite?</a:t>
            </a:r>
          </a:p>
          <a:p>
            <a:pPr marL="914400" lvl="1" indent="-457200">
              <a:buFont typeface="+mj-lt"/>
              <a:buAutoNum type="alphaLcParenR"/>
            </a:pPr>
            <a:r>
              <a:rPr lang="en-US" dirty="0" err="1" smtClean="0"/>
              <a:t>Pffft</a:t>
            </a:r>
            <a:r>
              <a:rPr lang="en-US" dirty="0" smtClean="0"/>
              <a:t>… A drink. </a:t>
            </a:r>
            <a:endParaRPr lang="en-US" dirty="0"/>
          </a:p>
          <a:p>
            <a:pPr marL="914400" lvl="1" indent="-457200">
              <a:buFont typeface="+mj-lt"/>
              <a:buAutoNum type="alphaLcParenR"/>
            </a:pPr>
            <a:r>
              <a:rPr lang="en-US" dirty="0" smtClean="0"/>
              <a:t>A carbonated lemon </a:t>
            </a:r>
            <a:r>
              <a:rPr lang="en-US" dirty="0" err="1" smtClean="0"/>
              <a:t>flavoured</a:t>
            </a:r>
            <a:r>
              <a:rPr lang="en-US" dirty="0" smtClean="0"/>
              <a:t> beverage produced by the Coca Cola company</a:t>
            </a:r>
          </a:p>
          <a:p>
            <a:pPr marL="914400" lvl="1" indent="-457200">
              <a:buFont typeface="+mj-lt"/>
              <a:buAutoNum type="alphaLcParenR"/>
            </a:pPr>
            <a:r>
              <a:rPr lang="en-US" dirty="0" smtClean="0"/>
              <a:t>A ghost</a:t>
            </a:r>
          </a:p>
          <a:p>
            <a:pPr marL="914400" lvl="1" indent="-457200">
              <a:buFont typeface="+mj-lt"/>
              <a:buAutoNum type="alphaLcParenR"/>
            </a:pPr>
            <a:r>
              <a:rPr lang="en-US" dirty="0" smtClean="0"/>
              <a:t>An animated picture</a:t>
            </a:r>
          </a:p>
          <a:p>
            <a:pPr marL="914400" lvl="1" indent="-457200">
              <a:buFont typeface="+mj-lt"/>
              <a:buAutoNum type="alphaLcParenR"/>
            </a:pPr>
            <a:r>
              <a:rPr lang="en-US" dirty="0" smtClean="0"/>
              <a:t>A D3DX interface</a:t>
            </a:r>
            <a:endParaRPr lang="en-US" dirty="0"/>
          </a:p>
        </p:txBody>
      </p:sp>
    </p:spTree>
    <p:extLst>
      <p:ext uri="{BB962C8B-B14F-4D97-AF65-F5344CB8AC3E}">
        <p14:creationId xmlns:p14="http://schemas.microsoft.com/office/powerpoint/2010/main" val="174033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par>
                                <p:cTn id="9" presetID="16" presetClass="emph" presetSubtype="0" fill="hold" nodeType="withEffect">
                                  <p:stCondLst>
                                    <p:cond delay="0"/>
                                  </p:stCondLst>
                                  <p:iterate type="lt">
                                    <p:tmPct val="4000"/>
                                  </p:iterate>
                                  <p:childTnLst>
                                    <p:set>
                                      <p:cBhvr override="childStyle">
                                        <p:cTn id="10" dur="500" fill="hold"/>
                                        <p:tgtEl>
                                          <p:spTgt spid="3">
                                            <p:txEl>
                                              <p:pRg st="2" end="2"/>
                                            </p:txEl>
                                          </p:spTgt>
                                        </p:tgtEl>
                                        <p:attrNameLst>
                                          <p:attrName>style.color</p:attrName>
                                        </p:attrNameLst>
                                      </p:cBhvr>
                                      <p:to>
                                        <p:clrVal>
                                          <a:schemeClr val="accent2"/>
                                        </p:clrVal>
                                      </p:to>
                                    </p:set>
                                    <p:set>
                                      <p:cBhvr>
                                        <p:cTn id="11" dur="500" fill="hold"/>
                                        <p:tgtEl>
                                          <p:spTgt spid="3">
                                            <p:txEl>
                                              <p:pRg st="2" end="2"/>
                                            </p:txEl>
                                          </p:spTgt>
                                        </p:tgtEl>
                                        <p:attrNameLst>
                                          <p:attrName>fillcolor</p:attrName>
                                        </p:attrNameLst>
                                      </p:cBhvr>
                                      <p:to>
                                        <p:clrVal>
                                          <a:schemeClr val="accent2"/>
                                        </p:clrVal>
                                      </p:to>
                                    </p:set>
                                    <p:set>
                                      <p:cBhvr>
                                        <p:cTn id="12" dur="500" fill="hold"/>
                                        <p:tgtEl>
                                          <p:spTgt spid="3">
                                            <p:txEl>
                                              <p:pRg st="2" end="2"/>
                                            </p:txEl>
                                          </p:spTgt>
                                        </p:tgtEl>
                                        <p:attrNameLst>
                                          <p:attrName>fill.type</p:attrName>
                                        </p:attrNameLst>
                                      </p:cBhvr>
                                      <p:to>
                                        <p:strVal val="solid"/>
                                      </p:to>
                                    </p:set>
                                  </p:childTnLst>
                                </p:cTn>
                              </p:par>
                              <p:par>
                                <p:cTn id="13" presetID="16" presetClass="emph" presetSubtype="0" fill="hold" nodeType="withEffect">
                                  <p:stCondLst>
                                    <p:cond delay="0"/>
                                  </p:stCondLst>
                                  <p:iterate type="lt">
                                    <p:tmPct val="4000"/>
                                  </p:iterate>
                                  <p:childTnLst>
                                    <p:set>
                                      <p:cBhvr override="childStyle">
                                        <p:cTn id="14" dur="500" fill="hold"/>
                                        <p:tgtEl>
                                          <p:spTgt spid="3">
                                            <p:txEl>
                                              <p:pRg st="3" end="3"/>
                                            </p:txEl>
                                          </p:spTgt>
                                        </p:tgtEl>
                                        <p:attrNameLst>
                                          <p:attrName>style.color</p:attrName>
                                        </p:attrNameLst>
                                      </p:cBhvr>
                                      <p:to>
                                        <p:clrVal>
                                          <a:schemeClr val="accent2"/>
                                        </p:clrVal>
                                      </p:to>
                                    </p:set>
                                    <p:set>
                                      <p:cBhvr>
                                        <p:cTn id="15" dur="500" fill="hold"/>
                                        <p:tgtEl>
                                          <p:spTgt spid="3">
                                            <p:txEl>
                                              <p:pRg st="3" end="3"/>
                                            </p:txEl>
                                          </p:spTgt>
                                        </p:tgtEl>
                                        <p:attrNameLst>
                                          <p:attrName>fillcolor</p:attrName>
                                        </p:attrNameLst>
                                      </p:cBhvr>
                                      <p:to>
                                        <p:clrVal>
                                          <a:schemeClr val="accent2"/>
                                        </p:clrVal>
                                      </p:to>
                                    </p:set>
                                    <p:set>
                                      <p:cBhvr>
                                        <p:cTn id="16" dur="500" fill="hold"/>
                                        <p:tgtEl>
                                          <p:spTgt spid="3">
                                            <p:txEl>
                                              <p:pRg st="3" end="3"/>
                                            </p:txEl>
                                          </p:spTgt>
                                        </p:tgtEl>
                                        <p:attrNameLst>
                                          <p:attrName>fill.type</p:attrName>
                                        </p:attrNameLst>
                                      </p:cBhvr>
                                      <p:to>
                                        <p:strVal val="solid"/>
                                      </p:to>
                                    </p:set>
                                  </p:childTnLst>
                                </p:cTn>
                              </p:par>
                              <p:par>
                                <p:cTn id="17" presetID="16" presetClass="emph" presetSubtype="0" fill="hold" nodeType="withEffect">
                                  <p:stCondLst>
                                    <p:cond delay="0"/>
                                  </p:stCondLst>
                                  <p:iterate type="lt">
                                    <p:tmPct val="4000"/>
                                  </p:iterate>
                                  <p:childTnLst>
                                    <p:set>
                                      <p:cBhvr override="childStyle">
                                        <p:cTn id="18" dur="500" fill="hold"/>
                                        <p:tgtEl>
                                          <p:spTgt spid="3">
                                            <p:txEl>
                                              <p:pRg st="4" end="4"/>
                                            </p:txEl>
                                          </p:spTgt>
                                        </p:tgtEl>
                                        <p:attrNameLst>
                                          <p:attrName>style.color</p:attrName>
                                        </p:attrNameLst>
                                      </p:cBhvr>
                                      <p:to>
                                        <p:clrVal>
                                          <a:schemeClr val="accent2"/>
                                        </p:clrVal>
                                      </p:to>
                                    </p:set>
                                    <p:set>
                                      <p:cBhvr>
                                        <p:cTn id="19" dur="500" fill="hold"/>
                                        <p:tgtEl>
                                          <p:spTgt spid="3">
                                            <p:txEl>
                                              <p:pRg st="4" end="4"/>
                                            </p:txEl>
                                          </p:spTgt>
                                        </p:tgtEl>
                                        <p:attrNameLst>
                                          <p:attrName>fillcolor</p:attrName>
                                        </p:attrNameLst>
                                      </p:cBhvr>
                                      <p:to>
                                        <p:clrVal>
                                          <a:schemeClr val="accent2"/>
                                        </p:clrVal>
                                      </p:to>
                                    </p:set>
                                    <p:set>
                                      <p:cBhvr>
                                        <p:cTn id="20" dur="500" fill="hold"/>
                                        <p:tgtEl>
                                          <p:spTgt spid="3">
                                            <p:txEl>
                                              <p:pRg st="4" end="4"/>
                                            </p:txEl>
                                          </p:spTgt>
                                        </p:tgtEl>
                                        <p:attrNameLst>
                                          <p:attrName>fill.type</p:attrName>
                                        </p:attrNameLst>
                                      </p:cBhvr>
                                      <p:to>
                                        <p:strVal val="solid"/>
                                      </p:to>
                                    </p:set>
                                  </p:childTnLst>
                                </p:cTn>
                              </p:par>
                              <p:par>
                                <p:cTn id="21" presetID="16" presetClass="emph" presetSubtype="0" fill="hold" nodeType="withEffect">
                                  <p:stCondLst>
                                    <p:cond delay="0"/>
                                  </p:stCondLst>
                                  <p:iterate type="lt">
                                    <p:tmPct val="4000"/>
                                  </p:iterate>
                                  <p:childTnLst>
                                    <p:set>
                                      <p:cBhvr override="childStyle">
                                        <p:cTn id="22" dur="500" fill="hold"/>
                                        <p:tgtEl>
                                          <p:spTgt spid="3">
                                            <p:txEl>
                                              <p:pRg st="5" end="5"/>
                                            </p:txEl>
                                          </p:spTgt>
                                        </p:tgtEl>
                                        <p:attrNameLst>
                                          <p:attrName>style.color</p:attrName>
                                        </p:attrNameLst>
                                      </p:cBhvr>
                                      <p:to>
                                        <p:clrVal>
                                          <a:schemeClr val="accent2"/>
                                        </p:clrVal>
                                      </p:to>
                                    </p:set>
                                    <p:set>
                                      <p:cBhvr>
                                        <p:cTn id="23" dur="500" fill="hold"/>
                                        <p:tgtEl>
                                          <p:spTgt spid="3">
                                            <p:txEl>
                                              <p:pRg st="5" end="5"/>
                                            </p:txEl>
                                          </p:spTgt>
                                        </p:tgtEl>
                                        <p:attrNameLst>
                                          <p:attrName>fillcolor</p:attrName>
                                        </p:attrNameLst>
                                      </p:cBhvr>
                                      <p:to>
                                        <p:clrVal>
                                          <a:schemeClr val="accent2"/>
                                        </p:clrVal>
                                      </p:to>
                                    </p:set>
                                    <p:set>
                                      <p:cBhvr>
                                        <p:cTn id="24" dur="500" fill="hold"/>
                                        <p:tgtEl>
                                          <p:spTgt spid="3">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 Quiz – Total Recall</a:t>
            </a:r>
          </a:p>
        </p:txBody>
      </p:sp>
      <p:sp>
        <p:nvSpPr>
          <p:cNvPr id="3" name="Content Placeholder 2"/>
          <p:cNvSpPr>
            <a:spLocks noGrp="1"/>
          </p:cNvSpPr>
          <p:nvPr>
            <p:ph idx="1"/>
          </p:nvPr>
        </p:nvSpPr>
        <p:spPr/>
        <p:txBody>
          <a:bodyPr/>
          <a:lstStyle/>
          <a:p>
            <a:r>
              <a:rPr lang="en-US" dirty="0" smtClean="0"/>
              <a:t>What is a </a:t>
            </a:r>
            <a:r>
              <a:rPr lang="en-US" dirty="0"/>
              <a:t>T</a:t>
            </a:r>
            <a:r>
              <a:rPr lang="en-US" dirty="0" smtClean="0"/>
              <a:t>ransformation </a:t>
            </a:r>
            <a:r>
              <a:rPr lang="en-US" dirty="0"/>
              <a:t>M</a:t>
            </a:r>
            <a:r>
              <a:rPr lang="en-US" dirty="0" smtClean="0"/>
              <a:t>atrix?</a:t>
            </a:r>
          </a:p>
          <a:p>
            <a:pPr marL="914400" lvl="1" indent="-457200">
              <a:buFont typeface="+mj-lt"/>
              <a:buAutoNum type="alphaLcParenR"/>
            </a:pPr>
            <a:r>
              <a:rPr lang="en-US" dirty="0" smtClean="0"/>
              <a:t>A movie</a:t>
            </a:r>
          </a:p>
          <a:p>
            <a:pPr marL="914400" lvl="1" indent="-457200">
              <a:buFont typeface="+mj-lt"/>
              <a:buAutoNum type="alphaLcParenR"/>
            </a:pPr>
            <a:r>
              <a:rPr lang="en-US" dirty="0" smtClean="0"/>
              <a:t>A system to change values of variables</a:t>
            </a:r>
          </a:p>
          <a:p>
            <a:pPr marL="914400" lvl="1" indent="-457200">
              <a:buFont typeface="+mj-lt"/>
              <a:buAutoNum type="alphaLcParenR"/>
            </a:pPr>
            <a:r>
              <a:rPr lang="en-US" dirty="0" smtClean="0"/>
              <a:t>A 2D array implementation</a:t>
            </a:r>
          </a:p>
          <a:p>
            <a:pPr marL="914400" lvl="1" indent="-457200">
              <a:buFont typeface="+mj-lt"/>
              <a:buAutoNum type="alphaLcParenR"/>
            </a:pPr>
            <a:r>
              <a:rPr lang="en-US" dirty="0" smtClean="0"/>
              <a:t>A data structure to store instructions</a:t>
            </a:r>
          </a:p>
          <a:p>
            <a:pPr marL="914400" lvl="1" indent="-457200">
              <a:buFont typeface="+mj-lt"/>
              <a:buAutoNum type="alphaLcParenR"/>
            </a:pPr>
            <a:r>
              <a:rPr lang="en-US" dirty="0" smtClean="0"/>
              <a:t>A religious experience</a:t>
            </a:r>
            <a:endParaRPr lang="en-US" dirty="0"/>
          </a:p>
        </p:txBody>
      </p:sp>
    </p:spTree>
    <p:extLst>
      <p:ext uri="{BB962C8B-B14F-4D97-AF65-F5344CB8AC3E}">
        <p14:creationId xmlns:p14="http://schemas.microsoft.com/office/powerpoint/2010/main" val="3103671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Super Quiz – Total Recall</a:t>
            </a:r>
            <a:endParaRPr lang="en-US" dirty="0"/>
          </a:p>
        </p:txBody>
      </p:sp>
      <p:sp>
        <p:nvSpPr>
          <p:cNvPr id="3" name="Content Placeholder 2"/>
          <p:cNvSpPr>
            <a:spLocks noGrp="1"/>
          </p:cNvSpPr>
          <p:nvPr>
            <p:ph idx="1"/>
          </p:nvPr>
        </p:nvSpPr>
        <p:spPr/>
        <p:txBody>
          <a:bodyPr/>
          <a:lstStyle/>
          <a:p>
            <a:r>
              <a:rPr lang="en-US" dirty="0" smtClean="0"/>
              <a:t>What is a blocking function?</a:t>
            </a:r>
          </a:p>
          <a:p>
            <a:pPr marL="914400" lvl="1" indent="-457200">
              <a:buFont typeface="+mj-lt"/>
              <a:buAutoNum type="alphaLcParenR"/>
            </a:pPr>
            <a:r>
              <a:rPr lang="en-US" dirty="0" smtClean="0"/>
              <a:t>A function that likes to wait</a:t>
            </a:r>
          </a:p>
          <a:p>
            <a:pPr marL="914400" lvl="1" indent="-457200">
              <a:buFont typeface="+mj-lt"/>
              <a:buAutoNum type="alphaLcParenR"/>
            </a:pPr>
            <a:r>
              <a:rPr lang="en-US" dirty="0" smtClean="0"/>
              <a:t>A way to block my </a:t>
            </a:r>
            <a:r>
              <a:rPr lang="en-US" dirty="0" err="1" smtClean="0"/>
              <a:t>whatsapp</a:t>
            </a:r>
            <a:r>
              <a:rPr lang="en-US" dirty="0" smtClean="0"/>
              <a:t> messages</a:t>
            </a:r>
          </a:p>
          <a:p>
            <a:pPr marL="914400" lvl="1" indent="-457200">
              <a:buFont typeface="+mj-lt"/>
              <a:buAutoNum type="alphaLcParenR"/>
            </a:pPr>
            <a:r>
              <a:rPr lang="en-US" dirty="0" smtClean="0"/>
              <a:t>A function that is neatly formatted into blocks</a:t>
            </a:r>
          </a:p>
          <a:p>
            <a:pPr marL="914400" lvl="1" indent="-457200">
              <a:buFont typeface="+mj-lt"/>
              <a:buAutoNum type="alphaLcParenR"/>
            </a:pPr>
            <a:r>
              <a:rPr lang="en-US" dirty="0" smtClean="0"/>
              <a:t>A function to produce blocks used in </a:t>
            </a:r>
            <a:r>
              <a:rPr lang="en-US" dirty="0"/>
              <a:t>S</a:t>
            </a:r>
            <a:r>
              <a:rPr lang="en-US" dirty="0" smtClean="0"/>
              <a:t>uper Mario</a:t>
            </a:r>
          </a:p>
          <a:p>
            <a:pPr marL="914400" lvl="1" indent="-457200">
              <a:buFont typeface="+mj-lt"/>
              <a:buAutoNum type="alphaLcParenR"/>
            </a:pPr>
            <a:r>
              <a:rPr lang="en-US" dirty="0" smtClean="0"/>
              <a:t>Someone’s wedding/funeral function that block the road to my house</a:t>
            </a:r>
            <a:endParaRPr lang="en-US" dirty="0"/>
          </a:p>
        </p:txBody>
      </p:sp>
    </p:spTree>
    <p:extLst>
      <p:ext uri="{BB962C8B-B14F-4D97-AF65-F5344CB8AC3E}">
        <p14:creationId xmlns:p14="http://schemas.microsoft.com/office/powerpoint/2010/main" val="279991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Overview</a:t>
            </a:r>
            <a:endParaRPr lang="en-MY" dirty="0"/>
          </a:p>
        </p:txBody>
      </p:sp>
      <p:sp>
        <p:nvSpPr>
          <p:cNvPr id="4" name="Content Placeholder 3"/>
          <p:cNvSpPr>
            <a:spLocks noGrp="1"/>
          </p:cNvSpPr>
          <p:nvPr>
            <p:ph idx="1"/>
          </p:nvPr>
        </p:nvSpPr>
        <p:spPr/>
        <p:txBody>
          <a:bodyPr/>
          <a:lstStyle/>
          <a:p>
            <a:r>
              <a:rPr lang="en-US" dirty="0" smtClean="0"/>
              <a:t>Why we need inputs</a:t>
            </a:r>
          </a:p>
          <a:p>
            <a:r>
              <a:rPr lang="en-US" dirty="0" smtClean="0"/>
              <a:t>Windows API input</a:t>
            </a:r>
          </a:p>
          <a:p>
            <a:r>
              <a:rPr lang="en-US" dirty="0" smtClean="0"/>
              <a:t>DirectInput</a:t>
            </a:r>
            <a:endParaRPr lang="en-MY" dirty="0"/>
          </a:p>
        </p:txBody>
      </p:sp>
    </p:spTree>
    <p:extLst>
      <p:ext uri="{BB962C8B-B14F-4D97-AF65-F5344CB8AC3E}">
        <p14:creationId xmlns:p14="http://schemas.microsoft.com/office/powerpoint/2010/main" val="38915409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we need inputs</a:t>
            </a:r>
            <a:endParaRPr lang="en-MY" dirty="0"/>
          </a:p>
        </p:txBody>
      </p:sp>
      <p:sp>
        <p:nvSpPr>
          <p:cNvPr id="3" name="Content Placeholder 2"/>
          <p:cNvSpPr>
            <a:spLocks noGrp="1"/>
          </p:cNvSpPr>
          <p:nvPr>
            <p:ph idx="1"/>
          </p:nvPr>
        </p:nvSpPr>
        <p:spPr/>
        <p:txBody>
          <a:bodyPr>
            <a:normAutofit lnSpcReduction="10000"/>
          </a:bodyPr>
          <a:lstStyle/>
          <a:p>
            <a:r>
              <a:rPr lang="en-GB" altLang="en-US" dirty="0"/>
              <a:t>Input are the core of any interactive systems.</a:t>
            </a:r>
          </a:p>
          <a:p>
            <a:r>
              <a:rPr lang="en-GB" altLang="en-US" dirty="0"/>
              <a:t>Input </a:t>
            </a:r>
            <a:r>
              <a:rPr lang="en-GB" altLang="en-US" dirty="0" smtClean="0"/>
              <a:t>is gathered </a:t>
            </a:r>
            <a:r>
              <a:rPr lang="en-GB" altLang="en-US" dirty="0"/>
              <a:t>from hardware interfaces such as keyboard, mouse, gamepad, joystick and other more advance sensors based devices such as Nintendo </a:t>
            </a:r>
            <a:r>
              <a:rPr lang="en-GB" altLang="en-US" dirty="0" err="1"/>
              <a:t>WiiMote</a:t>
            </a:r>
            <a:r>
              <a:rPr lang="en-GB" altLang="en-US" dirty="0"/>
              <a:t> and Sony </a:t>
            </a:r>
            <a:r>
              <a:rPr lang="en-GB" altLang="en-US" dirty="0" err="1"/>
              <a:t>SixAxis</a:t>
            </a:r>
            <a:r>
              <a:rPr lang="en-GB" altLang="en-US" dirty="0"/>
              <a:t>.</a:t>
            </a:r>
          </a:p>
          <a:p>
            <a:r>
              <a:rPr lang="en-GB" altLang="en-US" dirty="0"/>
              <a:t>Input is translated in game environment as parameters to manipulate objects and avatars in the game world either in real-time or non-real-time.</a:t>
            </a:r>
          </a:p>
          <a:p>
            <a:r>
              <a:rPr lang="en-GB" altLang="en-US" dirty="0"/>
              <a:t>A game that takes no input from users are essentially a real time animation or motion graphics.</a:t>
            </a:r>
          </a:p>
          <a:p>
            <a:endParaRPr lang="en-MY" dirty="0"/>
          </a:p>
        </p:txBody>
      </p:sp>
    </p:spTree>
    <p:extLst>
      <p:ext uri="{BB962C8B-B14F-4D97-AF65-F5344CB8AC3E}">
        <p14:creationId xmlns:p14="http://schemas.microsoft.com/office/powerpoint/2010/main" val="2551657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we need inputs</a:t>
            </a:r>
            <a:endParaRPr lang="en-MY" dirty="0"/>
          </a:p>
        </p:txBody>
      </p:sp>
      <p:sp>
        <p:nvSpPr>
          <p:cNvPr id="3" name="Content Placeholder 2"/>
          <p:cNvSpPr>
            <a:spLocks noGrp="1"/>
          </p:cNvSpPr>
          <p:nvPr>
            <p:ph idx="1"/>
          </p:nvPr>
        </p:nvSpPr>
        <p:spPr/>
        <p:txBody>
          <a:bodyPr/>
          <a:lstStyle/>
          <a:p>
            <a:r>
              <a:rPr lang="en-US" dirty="0" smtClean="0"/>
              <a:t>Inputs in modern games are very important as silly mistakes of poor HCI are no longer acceptable</a:t>
            </a:r>
          </a:p>
          <a:p>
            <a:r>
              <a:rPr lang="en-US" dirty="0" smtClean="0"/>
              <a:t>The difference between a good and great game can often be the input structure</a:t>
            </a:r>
            <a:endParaRPr lang="en-MY" dirty="0" smtClean="0"/>
          </a:p>
          <a:p>
            <a:r>
              <a:rPr lang="en-US" dirty="0" smtClean="0"/>
              <a:t>Know the limitations of input devices</a:t>
            </a:r>
          </a:p>
        </p:txBody>
      </p:sp>
    </p:spTree>
    <p:extLst>
      <p:ext uri="{BB962C8B-B14F-4D97-AF65-F5344CB8AC3E}">
        <p14:creationId xmlns:p14="http://schemas.microsoft.com/office/powerpoint/2010/main" val="2780002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Windows API </a:t>
            </a:r>
            <a:r>
              <a:rPr lang="en-US" dirty="0" err="1" smtClean="0"/>
              <a:t>inout</a:t>
            </a:r>
            <a:endParaRPr lang="en-MY" dirty="0"/>
          </a:p>
        </p:txBody>
      </p:sp>
      <p:sp>
        <p:nvSpPr>
          <p:cNvPr id="3" name="Content Placeholder 2"/>
          <p:cNvSpPr>
            <a:spLocks noGrp="1"/>
          </p:cNvSpPr>
          <p:nvPr>
            <p:ph idx="1"/>
          </p:nvPr>
        </p:nvSpPr>
        <p:spPr/>
        <p:txBody>
          <a:bodyPr/>
          <a:lstStyle/>
          <a:p>
            <a:pPr>
              <a:lnSpc>
                <a:spcPct val="80000"/>
              </a:lnSpc>
            </a:pPr>
            <a:r>
              <a:rPr lang="en-US" altLang="en-US" sz="2600" dirty="0"/>
              <a:t>In </a:t>
            </a:r>
            <a:r>
              <a:rPr lang="en-US" altLang="en-US" sz="2600" dirty="0" err="1"/>
              <a:t>WinAPI</a:t>
            </a:r>
            <a:r>
              <a:rPr lang="en-US" altLang="en-US" sz="2600" dirty="0"/>
              <a:t> you could detect key input and mouse input using the</a:t>
            </a:r>
          </a:p>
          <a:p>
            <a:pPr lvl="1">
              <a:lnSpc>
                <a:spcPct val="80000"/>
              </a:lnSpc>
            </a:pPr>
            <a:r>
              <a:rPr lang="en-US" altLang="en-US" sz="2200" dirty="0"/>
              <a:t>WM_KEYDOWN</a:t>
            </a:r>
          </a:p>
          <a:p>
            <a:pPr lvl="2">
              <a:lnSpc>
                <a:spcPct val="80000"/>
              </a:lnSpc>
            </a:pPr>
            <a:r>
              <a:rPr lang="en-US" altLang="en-US" sz="1900" dirty="0"/>
              <a:t>Triggered when key is pressed</a:t>
            </a:r>
          </a:p>
          <a:p>
            <a:pPr lvl="1">
              <a:lnSpc>
                <a:spcPct val="80000"/>
              </a:lnSpc>
            </a:pPr>
            <a:r>
              <a:rPr lang="en-US" altLang="en-US" sz="2200" dirty="0"/>
              <a:t>WM_KEYUP</a:t>
            </a:r>
          </a:p>
          <a:p>
            <a:pPr lvl="2">
              <a:lnSpc>
                <a:spcPct val="80000"/>
              </a:lnSpc>
            </a:pPr>
            <a:r>
              <a:rPr lang="en-US" altLang="en-US" sz="1900" dirty="0"/>
              <a:t>Triggered when key is released</a:t>
            </a:r>
          </a:p>
          <a:p>
            <a:pPr lvl="1">
              <a:lnSpc>
                <a:spcPct val="80000"/>
              </a:lnSpc>
            </a:pPr>
            <a:r>
              <a:rPr lang="en-US" altLang="en-US" sz="2200" dirty="0"/>
              <a:t>WM_MOUSEMOVE </a:t>
            </a:r>
          </a:p>
          <a:p>
            <a:pPr lvl="2">
              <a:lnSpc>
                <a:spcPct val="80000"/>
              </a:lnSpc>
            </a:pPr>
            <a:r>
              <a:rPr lang="en-US" altLang="en-US" sz="1900" dirty="0"/>
              <a:t>Triggered when mouse is moved</a:t>
            </a:r>
          </a:p>
          <a:p>
            <a:pPr lvl="1">
              <a:lnSpc>
                <a:spcPct val="80000"/>
              </a:lnSpc>
            </a:pPr>
            <a:r>
              <a:rPr lang="en-US" altLang="en-US" sz="2200" dirty="0"/>
              <a:t>WM_LBUTTONDOWN</a:t>
            </a:r>
          </a:p>
          <a:p>
            <a:pPr lvl="2">
              <a:lnSpc>
                <a:spcPct val="80000"/>
              </a:lnSpc>
            </a:pPr>
            <a:r>
              <a:rPr lang="en-US" altLang="en-US" sz="1900" dirty="0"/>
              <a:t>Triggered when left mouse button is pressed</a:t>
            </a:r>
          </a:p>
          <a:p>
            <a:pPr lvl="1">
              <a:lnSpc>
                <a:spcPct val="80000"/>
              </a:lnSpc>
            </a:pPr>
            <a:r>
              <a:rPr lang="en-US" altLang="en-US" sz="2200" dirty="0"/>
              <a:t>WM_RBUTTONDOWN</a:t>
            </a:r>
          </a:p>
          <a:p>
            <a:pPr lvl="2">
              <a:lnSpc>
                <a:spcPct val="80000"/>
              </a:lnSpc>
            </a:pPr>
            <a:r>
              <a:rPr lang="en-US" altLang="en-US" sz="1900" dirty="0"/>
              <a:t>Triggered when right mouse button is pressed</a:t>
            </a:r>
          </a:p>
          <a:p>
            <a:pPr lvl="1">
              <a:lnSpc>
                <a:spcPct val="80000"/>
              </a:lnSpc>
            </a:pPr>
            <a:r>
              <a:rPr lang="en-US" altLang="en-US" sz="2200" dirty="0"/>
              <a:t>WM_LBUTTONUP</a:t>
            </a:r>
          </a:p>
          <a:p>
            <a:pPr lvl="2">
              <a:lnSpc>
                <a:spcPct val="80000"/>
              </a:lnSpc>
            </a:pPr>
            <a:r>
              <a:rPr lang="en-US" altLang="en-US" sz="1900" dirty="0"/>
              <a:t>Triggered when left mouse button is released</a:t>
            </a:r>
          </a:p>
          <a:p>
            <a:pPr lvl="1">
              <a:lnSpc>
                <a:spcPct val="80000"/>
              </a:lnSpc>
            </a:pPr>
            <a:r>
              <a:rPr lang="en-US" altLang="en-US" sz="2200" dirty="0"/>
              <a:t>WM_RBUTTONUP</a:t>
            </a:r>
          </a:p>
          <a:p>
            <a:pPr lvl="2">
              <a:lnSpc>
                <a:spcPct val="80000"/>
              </a:lnSpc>
            </a:pPr>
            <a:r>
              <a:rPr lang="en-US" altLang="en-US" sz="1900" dirty="0"/>
              <a:t>Triggered when right mouse button is released</a:t>
            </a:r>
          </a:p>
        </p:txBody>
      </p:sp>
    </p:spTree>
    <p:extLst>
      <p:ext uri="{BB962C8B-B14F-4D97-AF65-F5344CB8AC3E}">
        <p14:creationId xmlns:p14="http://schemas.microsoft.com/office/powerpoint/2010/main" val="2893811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Windows API Input – Keyboard Example</a:t>
            </a:r>
            <a:endParaRPr lang="en-MY" sz="3600" dirty="0"/>
          </a:p>
        </p:txBody>
      </p:sp>
      <p:sp>
        <p:nvSpPr>
          <p:cNvPr id="3" name="Content Placeholder 2"/>
          <p:cNvSpPr>
            <a:spLocks noGrp="1"/>
          </p:cNvSpPr>
          <p:nvPr>
            <p:ph idx="1"/>
          </p:nvPr>
        </p:nvSpPr>
        <p:spPr/>
        <p:txBody>
          <a:bodyPr>
            <a:normAutofit fontScale="55000" lnSpcReduction="20000"/>
          </a:bodyPr>
          <a:lstStyle/>
          <a:p>
            <a:pPr>
              <a:lnSpc>
                <a:spcPct val="80000"/>
              </a:lnSpc>
              <a:buFontTx/>
              <a:buNone/>
            </a:pPr>
            <a:r>
              <a:rPr lang="en-MY" altLang="en-US" dirty="0">
                <a:latin typeface="Courier New" pitchFamily="49" charset="0"/>
                <a:cs typeface="Courier New" pitchFamily="49" charset="0"/>
              </a:rPr>
              <a:t>LRESULT CALLBACK </a:t>
            </a:r>
            <a:r>
              <a:rPr lang="en-MY" altLang="en-US" dirty="0" err="1">
                <a:latin typeface="Courier New" pitchFamily="49" charset="0"/>
                <a:cs typeface="Courier New" pitchFamily="49" charset="0"/>
              </a:rPr>
              <a:t>WndProc</a:t>
            </a:r>
            <a:r>
              <a:rPr lang="en-MY" altLang="en-US" dirty="0">
                <a:latin typeface="Courier New" pitchFamily="49" charset="0"/>
                <a:cs typeface="Courier New" pitchFamily="49" charset="0"/>
              </a:rPr>
              <a:t>(HWND </a:t>
            </a:r>
            <a:r>
              <a:rPr lang="en-MY" altLang="en-US" dirty="0" err="1">
                <a:latin typeface="Courier New" pitchFamily="49" charset="0"/>
                <a:cs typeface="Courier New" pitchFamily="49" charset="0"/>
              </a:rPr>
              <a:t>hWnd</a:t>
            </a:r>
            <a:r>
              <a:rPr lang="en-MY" altLang="en-US" dirty="0">
                <a:latin typeface="Courier New" pitchFamily="49" charset="0"/>
                <a:cs typeface="Courier New" pitchFamily="49" charset="0"/>
              </a:rPr>
              <a:t>, UINT message, WPARAM </a:t>
            </a:r>
            <a:r>
              <a:rPr lang="en-MY" altLang="en-US" dirty="0" err="1">
                <a:latin typeface="Courier New" pitchFamily="49" charset="0"/>
                <a:cs typeface="Courier New" pitchFamily="49" charset="0"/>
              </a:rPr>
              <a:t>wparam</a:t>
            </a:r>
            <a:r>
              <a:rPr lang="en-MY" altLang="en-US" dirty="0">
                <a:latin typeface="Courier New" pitchFamily="49" charset="0"/>
                <a:cs typeface="Courier New" pitchFamily="49" charset="0"/>
              </a:rPr>
              <a:t>, LPARAM </a:t>
            </a:r>
            <a:r>
              <a:rPr lang="en-MY" altLang="en-US" dirty="0" err="1">
                <a:latin typeface="Courier New" pitchFamily="49" charset="0"/>
                <a:cs typeface="Courier New" pitchFamily="49" charset="0"/>
              </a:rPr>
              <a:t>lparam</a:t>
            </a:r>
            <a:r>
              <a:rPr lang="en-MY"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	switch (message)</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r>
              <a:rPr lang="en-GB" altLang="en-US" dirty="0">
                <a:latin typeface="Courier New" pitchFamily="49" charset="0"/>
                <a:cs typeface="Courier New" pitchFamily="49" charset="0"/>
              </a:rPr>
              <a:t>	</a:t>
            </a:r>
            <a:r>
              <a:rPr lang="en-GB" altLang="en-US" b="1" dirty="0">
                <a:latin typeface="Courier New" pitchFamily="49" charset="0"/>
                <a:cs typeface="Courier New" pitchFamily="49" charset="0"/>
              </a:rPr>
              <a:t>case WM_KEYDOWN:</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switch(</a:t>
            </a:r>
            <a:r>
              <a:rPr lang="en-GB" altLang="en-US" b="1" dirty="0" err="1">
                <a:latin typeface="Courier New" pitchFamily="49" charset="0"/>
                <a:cs typeface="Courier New" pitchFamily="49" charset="0"/>
              </a:rPr>
              <a:t>wparam</a:t>
            </a:r>
            <a:r>
              <a:rPr lang="en-GB" altLang="en-US" b="1" dirty="0">
                <a:latin typeface="Courier New" pitchFamily="49" charset="0"/>
                <a:cs typeface="Courier New" pitchFamily="49" charset="0"/>
              </a:rPr>
              <a:t>){</a:t>
            </a:r>
          </a:p>
          <a:p>
            <a:pPr>
              <a:lnSpc>
                <a:spcPct val="80000"/>
              </a:lnSpc>
              <a:buFontTx/>
              <a:buNone/>
            </a:pPr>
            <a:r>
              <a:rPr lang="en-GB" altLang="en-US" b="1" dirty="0">
                <a:latin typeface="Courier New" pitchFamily="49" charset="0"/>
                <a:cs typeface="Courier New" pitchFamily="49" charset="0"/>
              </a:rPr>
              <a:t>		      case ‘W’:</a:t>
            </a:r>
          </a:p>
          <a:p>
            <a:pPr>
              <a:lnSpc>
                <a:spcPct val="80000"/>
              </a:lnSpc>
              <a:buFontTx/>
              <a:buNone/>
            </a:pPr>
            <a:r>
              <a:rPr lang="en-GB" altLang="en-US" b="1" dirty="0">
                <a:latin typeface="Courier New" pitchFamily="49" charset="0"/>
                <a:cs typeface="Courier New" pitchFamily="49" charset="0"/>
              </a:rPr>
              <a:t>		      case ‘w’:</a:t>
            </a:r>
          </a:p>
          <a:p>
            <a:pPr>
              <a:lnSpc>
                <a:spcPct val="80000"/>
              </a:lnSpc>
              <a:buFontTx/>
              <a:buNone/>
            </a:pPr>
            <a:r>
              <a:rPr lang="en-GB" altLang="en-US" b="1" dirty="0">
                <a:latin typeface="Courier New" pitchFamily="49" charset="0"/>
                <a:cs typeface="Courier New" pitchFamily="49" charset="0"/>
              </a:rPr>
              <a:t>			//do something when ‘W’ or ‘w’ is pressed</a:t>
            </a:r>
          </a:p>
          <a:p>
            <a:pPr>
              <a:lnSpc>
                <a:spcPct val="80000"/>
              </a:lnSpc>
              <a:buFontTx/>
              <a:buNone/>
            </a:pPr>
            <a:r>
              <a:rPr lang="en-GB" altLang="en-US" b="1" dirty="0">
                <a:latin typeface="Courier New" pitchFamily="49" charset="0"/>
                <a:cs typeface="Courier New" pitchFamily="49" charset="0"/>
              </a:rPr>
              <a:t>			//Example</a:t>
            </a:r>
          </a:p>
          <a:p>
            <a:pPr>
              <a:lnSpc>
                <a:spcPct val="80000"/>
              </a:lnSpc>
              <a:buFontTx/>
              <a:buNone/>
            </a:pPr>
            <a:r>
              <a:rPr lang="en-GB" altLang="en-US" b="1" dirty="0">
                <a:latin typeface="Courier New" pitchFamily="49" charset="0"/>
                <a:cs typeface="Courier New" pitchFamily="49" charset="0"/>
              </a:rPr>
              <a:t>			</a:t>
            </a:r>
            <a:r>
              <a:rPr lang="en-GB" altLang="en-US" b="1" dirty="0" err="1">
                <a:latin typeface="Courier New" pitchFamily="49" charset="0"/>
                <a:cs typeface="Courier New" pitchFamily="49" charset="0"/>
              </a:rPr>
              <a:t>Avatar.move</a:t>
            </a:r>
            <a:r>
              <a:rPr lang="en-GB" altLang="en-US" b="1" dirty="0">
                <a:latin typeface="Courier New" pitchFamily="49" charset="0"/>
                <a:cs typeface="Courier New" pitchFamily="49" charset="0"/>
              </a:rPr>
              <a:t>(NORTH);</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b="1" dirty="0">
                <a:latin typeface="Courier New" pitchFamily="49" charset="0"/>
                <a:cs typeface="Courier New" pitchFamily="49" charset="0"/>
              </a:rPr>
              <a:t>		      case ‘S’:</a:t>
            </a:r>
          </a:p>
          <a:p>
            <a:pPr>
              <a:lnSpc>
                <a:spcPct val="80000"/>
              </a:lnSpc>
              <a:buFontTx/>
              <a:buNone/>
            </a:pPr>
            <a:r>
              <a:rPr lang="en-GB" altLang="en-US" b="1" dirty="0">
                <a:latin typeface="Courier New" pitchFamily="49" charset="0"/>
                <a:cs typeface="Courier New" pitchFamily="49" charset="0"/>
              </a:rPr>
              <a:t>		      ....	</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case WM_DESTROY:</a:t>
            </a:r>
          </a:p>
          <a:p>
            <a:pPr>
              <a:lnSpc>
                <a:spcPct val="80000"/>
              </a:lnSpc>
              <a:buFontTx/>
              <a:buNone/>
            </a:pP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PostQuitMessage</a:t>
            </a:r>
            <a:r>
              <a:rPr lang="en-GB" altLang="en-US" dirty="0">
                <a:latin typeface="Courier New" pitchFamily="49" charset="0"/>
                <a:cs typeface="Courier New" pitchFamily="49" charset="0"/>
              </a:rPr>
              <a:t>(0);</a:t>
            </a:r>
          </a:p>
          <a:p>
            <a:pPr>
              <a:lnSpc>
                <a:spcPct val="80000"/>
              </a:lnSpc>
              <a:buFontTx/>
              <a:buNone/>
            </a:pPr>
            <a:r>
              <a:rPr lang="en-GB" altLang="en-US"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endParaRPr lang="en-GB" altLang="en-US" dirty="0">
              <a:latin typeface="Courier New" pitchFamily="49" charset="0"/>
              <a:cs typeface="Courier New" pitchFamily="49" charset="0"/>
            </a:endParaRPr>
          </a:p>
          <a:p>
            <a:pPr>
              <a:lnSpc>
                <a:spcPct val="80000"/>
              </a:lnSpc>
              <a:buFontTx/>
              <a:buNone/>
            </a:pPr>
            <a:r>
              <a:rPr lang="en-GB" altLang="en-US" dirty="0">
                <a:latin typeface="Courier New" pitchFamily="49" charset="0"/>
                <a:cs typeface="Courier New" pitchFamily="49" charset="0"/>
              </a:rPr>
              <a:t>	return </a:t>
            </a:r>
            <a:r>
              <a:rPr lang="en-GB" altLang="en-US" dirty="0" err="1">
                <a:latin typeface="Courier New" pitchFamily="49" charset="0"/>
                <a:cs typeface="Courier New" pitchFamily="49" charset="0"/>
              </a:rPr>
              <a:t>DefWindowProc</a:t>
            </a:r>
            <a:r>
              <a:rPr lang="en-GB" altLang="en-US" dirty="0">
                <a:latin typeface="Courier New" pitchFamily="49" charset="0"/>
                <a:cs typeface="Courier New" pitchFamily="49" charset="0"/>
              </a:rPr>
              <a:t>(</a:t>
            </a:r>
            <a:r>
              <a:rPr lang="en-GB" altLang="en-US" dirty="0" err="1">
                <a:latin typeface="Courier New" pitchFamily="49" charset="0"/>
                <a:cs typeface="Courier New" pitchFamily="49" charset="0"/>
              </a:rPr>
              <a:t>hWnd</a:t>
            </a:r>
            <a:r>
              <a:rPr lang="en-GB" altLang="en-US" dirty="0">
                <a:latin typeface="Courier New" pitchFamily="49" charset="0"/>
                <a:cs typeface="Courier New" pitchFamily="49" charset="0"/>
              </a:rPr>
              <a:t>, message, </a:t>
            </a:r>
            <a:r>
              <a:rPr lang="en-GB" altLang="en-US" dirty="0" err="1">
                <a:latin typeface="Courier New" pitchFamily="49" charset="0"/>
                <a:cs typeface="Courier New" pitchFamily="49" charset="0"/>
              </a:rPr>
              <a:t>wparam</a:t>
            </a: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lparam</a:t>
            </a: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endParaRPr lang="en-MY" dirty="0"/>
          </a:p>
        </p:txBody>
      </p:sp>
      <p:sp>
        <p:nvSpPr>
          <p:cNvPr id="4" name="TextBox 6"/>
          <p:cNvSpPr txBox="1">
            <a:spLocks noChangeArrowheads="1"/>
          </p:cNvSpPr>
          <p:nvPr/>
        </p:nvSpPr>
        <p:spPr bwMode="auto">
          <a:xfrm>
            <a:off x="3962400" y="3810000"/>
            <a:ext cx="468173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ltLang="en-US" dirty="0"/>
              <a:t>You just need to add WM_KEYDOWN</a:t>
            </a:r>
            <a:br>
              <a:rPr lang="en-GB" altLang="en-US" dirty="0"/>
            </a:br>
            <a:r>
              <a:rPr lang="en-GB" altLang="en-US" dirty="0"/>
              <a:t>message case to the </a:t>
            </a:r>
            <a:r>
              <a:rPr lang="en-GB" altLang="en-US" dirty="0" err="1"/>
              <a:t>WndProc</a:t>
            </a:r>
            <a:r>
              <a:rPr lang="en-GB" altLang="en-US" dirty="0"/>
              <a:t>. This </a:t>
            </a:r>
            <a:r>
              <a:rPr lang="en-GB" altLang="en-US" dirty="0" smtClean="0"/>
              <a:t>applies</a:t>
            </a:r>
            <a:r>
              <a:rPr lang="en-GB" altLang="en-US" dirty="0"/>
              <a:t/>
            </a:r>
            <a:br>
              <a:rPr lang="en-GB" altLang="en-US" dirty="0"/>
            </a:br>
            <a:r>
              <a:rPr lang="en-GB" altLang="en-US" dirty="0"/>
              <a:t>to other examples too.</a:t>
            </a:r>
          </a:p>
        </p:txBody>
      </p:sp>
    </p:spTree>
    <p:extLst>
      <p:ext uri="{BB962C8B-B14F-4D97-AF65-F5344CB8AC3E}">
        <p14:creationId xmlns:p14="http://schemas.microsoft.com/office/powerpoint/2010/main" val="1790728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Windows API Input </a:t>
            </a:r>
            <a:r>
              <a:rPr lang="en-US" sz="3600" dirty="0" smtClean="0"/>
              <a:t>– Keyboard Example</a:t>
            </a:r>
            <a:endParaRPr lang="en-MY" sz="3600" dirty="0"/>
          </a:p>
        </p:txBody>
      </p:sp>
      <p:sp>
        <p:nvSpPr>
          <p:cNvPr id="3" name="Content Placeholder 2"/>
          <p:cNvSpPr>
            <a:spLocks noGrp="1"/>
          </p:cNvSpPr>
          <p:nvPr>
            <p:ph idx="1"/>
          </p:nvPr>
        </p:nvSpPr>
        <p:spPr/>
        <p:txBody>
          <a:bodyPr>
            <a:normAutofit fontScale="62500" lnSpcReduction="20000"/>
          </a:bodyPr>
          <a:lstStyle/>
          <a:p>
            <a:pPr>
              <a:lnSpc>
                <a:spcPct val="80000"/>
              </a:lnSpc>
              <a:buFontTx/>
              <a:buNone/>
            </a:pPr>
            <a:r>
              <a:rPr lang="en-MY" altLang="en-US" dirty="0">
                <a:latin typeface="Courier New" pitchFamily="49" charset="0"/>
                <a:cs typeface="Courier New" pitchFamily="49" charset="0"/>
              </a:rPr>
              <a:t>LRESULT CALLBACK </a:t>
            </a:r>
            <a:r>
              <a:rPr lang="en-MY" altLang="en-US" dirty="0" err="1">
                <a:latin typeface="Courier New" pitchFamily="49" charset="0"/>
                <a:cs typeface="Courier New" pitchFamily="49" charset="0"/>
              </a:rPr>
              <a:t>WndProc</a:t>
            </a:r>
            <a:r>
              <a:rPr lang="en-MY" altLang="en-US" dirty="0">
                <a:latin typeface="Courier New" pitchFamily="49" charset="0"/>
                <a:cs typeface="Courier New" pitchFamily="49" charset="0"/>
              </a:rPr>
              <a:t>(HWND </a:t>
            </a:r>
            <a:r>
              <a:rPr lang="en-MY" altLang="en-US" dirty="0" err="1">
                <a:latin typeface="Courier New" pitchFamily="49" charset="0"/>
                <a:cs typeface="Courier New" pitchFamily="49" charset="0"/>
              </a:rPr>
              <a:t>hWnd</a:t>
            </a:r>
            <a:r>
              <a:rPr lang="en-MY" altLang="en-US" dirty="0">
                <a:latin typeface="Courier New" pitchFamily="49" charset="0"/>
                <a:cs typeface="Courier New" pitchFamily="49" charset="0"/>
              </a:rPr>
              <a:t>, UINT message, WPARAM </a:t>
            </a:r>
            <a:r>
              <a:rPr lang="en-MY" altLang="en-US" dirty="0" err="1">
                <a:latin typeface="Courier New" pitchFamily="49" charset="0"/>
                <a:cs typeface="Courier New" pitchFamily="49" charset="0"/>
              </a:rPr>
              <a:t>wparam</a:t>
            </a:r>
            <a:r>
              <a:rPr lang="en-MY" altLang="en-US" dirty="0">
                <a:latin typeface="Courier New" pitchFamily="49" charset="0"/>
                <a:cs typeface="Courier New" pitchFamily="49" charset="0"/>
              </a:rPr>
              <a:t>, LPARAM </a:t>
            </a:r>
            <a:r>
              <a:rPr lang="en-MY" altLang="en-US" dirty="0" err="1">
                <a:latin typeface="Courier New" pitchFamily="49" charset="0"/>
                <a:cs typeface="Courier New" pitchFamily="49" charset="0"/>
              </a:rPr>
              <a:t>lparam</a:t>
            </a:r>
            <a:r>
              <a:rPr lang="en-MY"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	switch (message)</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r>
              <a:rPr lang="en-GB" altLang="en-US" dirty="0">
                <a:latin typeface="Courier New" pitchFamily="49" charset="0"/>
                <a:cs typeface="Courier New" pitchFamily="49" charset="0"/>
              </a:rPr>
              <a:t>	</a:t>
            </a:r>
            <a:r>
              <a:rPr lang="en-GB" altLang="en-US" b="1" dirty="0">
                <a:latin typeface="Courier New" pitchFamily="49" charset="0"/>
                <a:cs typeface="Courier New" pitchFamily="49" charset="0"/>
              </a:rPr>
              <a:t>case WM_KEYUP:</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switch(</a:t>
            </a:r>
            <a:r>
              <a:rPr lang="en-GB" altLang="en-US" b="1" dirty="0" err="1">
                <a:latin typeface="Courier New" pitchFamily="49" charset="0"/>
                <a:cs typeface="Courier New" pitchFamily="49" charset="0"/>
              </a:rPr>
              <a:t>wparam</a:t>
            </a:r>
            <a:r>
              <a:rPr lang="en-GB" altLang="en-US" b="1" dirty="0">
                <a:latin typeface="Courier New" pitchFamily="49" charset="0"/>
                <a:cs typeface="Courier New" pitchFamily="49" charset="0"/>
              </a:rPr>
              <a:t>){</a:t>
            </a:r>
          </a:p>
          <a:p>
            <a:pPr>
              <a:lnSpc>
                <a:spcPct val="80000"/>
              </a:lnSpc>
              <a:buFontTx/>
              <a:buNone/>
            </a:pPr>
            <a:r>
              <a:rPr lang="en-GB" altLang="en-US" b="1" dirty="0">
                <a:latin typeface="Courier New" pitchFamily="49" charset="0"/>
                <a:cs typeface="Courier New" pitchFamily="49" charset="0"/>
              </a:rPr>
              <a:t>		      case VK_SPACE:</a:t>
            </a:r>
          </a:p>
          <a:p>
            <a:pPr>
              <a:lnSpc>
                <a:spcPct val="80000"/>
              </a:lnSpc>
              <a:buFontTx/>
              <a:buNone/>
            </a:pPr>
            <a:r>
              <a:rPr lang="en-GB" altLang="en-US" b="1" dirty="0">
                <a:latin typeface="Courier New" pitchFamily="49" charset="0"/>
                <a:cs typeface="Courier New" pitchFamily="49" charset="0"/>
              </a:rPr>
              <a:t>			//do something when SPACE key is released</a:t>
            </a:r>
          </a:p>
          <a:p>
            <a:pPr>
              <a:lnSpc>
                <a:spcPct val="80000"/>
              </a:lnSpc>
              <a:buFontTx/>
              <a:buNone/>
            </a:pPr>
            <a:r>
              <a:rPr lang="en-GB" altLang="en-US" b="1" dirty="0">
                <a:latin typeface="Courier New" pitchFamily="49" charset="0"/>
                <a:cs typeface="Courier New" pitchFamily="49" charset="0"/>
              </a:rPr>
              <a:t>			//Example</a:t>
            </a:r>
          </a:p>
          <a:p>
            <a:pPr>
              <a:lnSpc>
                <a:spcPct val="80000"/>
              </a:lnSpc>
              <a:buFontTx/>
              <a:buNone/>
            </a:pPr>
            <a:r>
              <a:rPr lang="en-GB" altLang="en-US" b="1" dirty="0">
                <a:latin typeface="Courier New" pitchFamily="49" charset="0"/>
                <a:cs typeface="Courier New" pitchFamily="49" charset="0"/>
              </a:rPr>
              <a:t>			</a:t>
            </a:r>
            <a:r>
              <a:rPr lang="en-GB" altLang="en-US" b="1" dirty="0" err="1">
                <a:latin typeface="Courier New" pitchFamily="49" charset="0"/>
                <a:cs typeface="Courier New" pitchFamily="49" charset="0"/>
              </a:rPr>
              <a:t>Car.brake</a:t>
            </a:r>
            <a:r>
              <a:rPr lang="en-GB" altLang="en-US" b="1" dirty="0">
                <a:latin typeface="Courier New" pitchFamily="49" charset="0"/>
                <a:cs typeface="Courier New" pitchFamily="49" charset="0"/>
              </a:rPr>
              <a:t>();</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b="1" dirty="0">
                <a:latin typeface="Courier New" pitchFamily="49" charset="0"/>
                <a:cs typeface="Courier New" pitchFamily="49" charset="0"/>
              </a:rPr>
              <a:t>		      ....	</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case WM_DESTROY:</a:t>
            </a:r>
          </a:p>
          <a:p>
            <a:pPr>
              <a:lnSpc>
                <a:spcPct val="80000"/>
              </a:lnSpc>
              <a:buFontTx/>
              <a:buNone/>
            </a:pP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PostQuitMessage</a:t>
            </a:r>
            <a:r>
              <a:rPr lang="en-GB" altLang="en-US" dirty="0">
                <a:latin typeface="Courier New" pitchFamily="49" charset="0"/>
                <a:cs typeface="Courier New" pitchFamily="49" charset="0"/>
              </a:rPr>
              <a:t>(0);</a:t>
            </a:r>
          </a:p>
          <a:p>
            <a:pPr>
              <a:lnSpc>
                <a:spcPct val="80000"/>
              </a:lnSpc>
              <a:buFontTx/>
              <a:buNone/>
            </a:pPr>
            <a:r>
              <a:rPr lang="en-GB" altLang="en-US"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endParaRPr lang="en-GB" altLang="en-US" dirty="0">
              <a:latin typeface="Courier New" pitchFamily="49" charset="0"/>
              <a:cs typeface="Courier New" pitchFamily="49" charset="0"/>
            </a:endParaRPr>
          </a:p>
          <a:p>
            <a:pPr>
              <a:lnSpc>
                <a:spcPct val="80000"/>
              </a:lnSpc>
              <a:buFontTx/>
              <a:buNone/>
            </a:pPr>
            <a:r>
              <a:rPr lang="en-GB" altLang="en-US" dirty="0">
                <a:latin typeface="Courier New" pitchFamily="49" charset="0"/>
                <a:cs typeface="Courier New" pitchFamily="49" charset="0"/>
              </a:rPr>
              <a:t>	return </a:t>
            </a:r>
            <a:r>
              <a:rPr lang="en-GB" altLang="en-US" dirty="0" err="1">
                <a:latin typeface="Courier New" pitchFamily="49" charset="0"/>
                <a:cs typeface="Courier New" pitchFamily="49" charset="0"/>
              </a:rPr>
              <a:t>DefWindowProc</a:t>
            </a:r>
            <a:r>
              <a:rPr lang="en-GB" altLang="en-US" dirty="0">
                <a:latin typeface="Courier New" pitchFamily="49" charset="0"/>
                <a:cs typeface="Courier New" pitchFamily="49" charset="0"/>
              </a:rPr>
              <a:t>(</a:t>
            </a:r>
            <a:r>
              <a:rPr lang="en-GB" altLang="en-US" dirty="0" err="1">
                <a:latin typeface="Courier New" pitchFamily="49" charset="0"/>
                <a:cs typeface="Courier New" pitchFamily="49" charset="0"/>
              </a:rPr>
              <a:t>hWnd</a:t>
            </a:r>
            <a:r>
              <a:rPr lang="en-GB" altLang="en-US" dirty="0">
                <a:latin typeface="Courier New" pitchFamily="49" charset="0"/>
                <a:cs typeface="Courier New" pitchFamily="49" charset="0"/>
              </a:rPr>
              <a:t>, message, </a:t>
            </a:r>
            <a:r>
              <a:rPr lang="en-GB" altLang="en-US" dirty="0" err="1">
                <a:latin typeface="Courier New" pitchFamily="49" charset="0"/>
                <a:cs typeface="Courier New" pitchFamily="49" charset="0"/>
              </a:rPr>
              <a:t>wparam</a:t>
            </a: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lparam</a:t>
            </a: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endParaRPr lang="en-MY" dirty="0"/>
          </a:p>
        </p:txBody>
      </p:sp>
    </p:spTree>
    <p:extLst>
      <p:ext uri="{BB962C8B-B14F-4D97-AF65-F5344CB8AC3E}">
        <p14:creationId xmlns:p14="http://schemas.microsoft.com/office/powerpoint/2010/main" val="1986613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Windows API Input – </a:t>
            </a:r>
            <a:r>
              <a:rPr lang="en-US" sz="3600" dirty="0" smtClean="0"/>
              <a:t>Mouse </a:t>
            </a:r>
            <a:r>
              <a:rPr lang="en-US" sz="3600" dirty="0"/>
              <a:t>Example</a:t>
            </a:r>
            <a:endParaRPr lang="en-MY" sz="3600" dirty="0"/>
          </a:p>
        </p:txBody>
      </p:sp>
      <p:sp>
        <p:nvSpPr>
          <p:cNvPr id="3" name="Content Placeholder 2"/>
          <p:cNvSpPr>
            <a:spLocks noGrp="1"/>
          </p:cNvSpPr>
          <p:nvPr>
            <p:ph idx="1"/>
          </p:nvPr>
        </p:nvSpPr>
        <p:spPr/>
        <p:txBody>
          <a:bodyPr>
            <a:normAutofit fontScale="70000" lnSpcReduction="20000"/>
          </a:bodyPr>
          <a:lstStyle/>
          <a:p>
            <a:pPr>
              <a:lnSpc>
                <a:spcPct val="80000"/>
              </a:lnSpc>
              <a:buFontTx/>
              <a:buNone/>
            </a:pPr>
            <a:r>
              <a:rPr lang="en-MY" altLang="en-US" dirty="0">
                <a:latin typeface="Courier New" pitchFamily="49" charset="0"/>
                <a:cs typeface="Courier New" pitchFamily="49" charset="0"/>
              </a:rPr>
              <a:t>LRESULT CALLBACK </a:t>
            </a:r>
            <a:r>
              <a:rPr lang="en-MY" altLang="en-US" dirty="0" err="1">
                <a:latin typeface="Courier New" pitchFamily="49" charset="0"/>
                <a:cs typeface="Courier New" pitchFamily="49" charset="0"/>
              </a:rPr>
              <a:t>WndProc</a:t>
            </a:r>
            <a:r>
              <a:rPr lang="en-MY" altLang="en-US" dirty="0">
                <a:latin typeface="Courier New" pitchFamily="49" charset="0"/>
                <a:cs typeface="Courier New" pitchFamily="49" charset="0"/>
              </a:rPr>
              <a:t>(HWND </a:t>
            </a:r>
            <a:r>
              <a:rPr lang="en-MY" altLang="en-US" dirty="0" err="1">
                <a:latin typeface="Courier New" pitchFamily="49" charset="0"/>
                <a:cs typeface="Courier New" pitchFamily="49" charset="0"/>
              </a:rPr>
              <a:t>hWnd</a:t>
            </a:r>
            <a:r>
              <a:rPr lang="en-MY" altLang="en-US" dirty="0">
                <a:latin typeface="Courier New" pitchFamily="49" charset="0"/>
                <a:cs typeface="Courier New" pitchFamily="49" charset="0"/>
              </a:rPr>
              <a:t>, UINT message, WPARAM </a:t>
            </a:r>
            <a:r>
              <a:rPr lang="en-MY" altLang="en-US" dirty="0" err="1">
                <a:latin typeface="Courier New" pitchFamily="49" charset="0"/>
                <a:cs typeface="Courier New" pitchFamily="49" charset="0"/>
              </a:rPr>
              <a:t>wparam</a:t>
            </a:r>
            <a:r>
              <a:rPr lang="en-MY" altLang="en-US" dirty="0">
                <a:latin typeface="Courier New" pitchFamily="49" charset="0"/>
                <a:cs typeface="Courier New" pitchFamily="49" charset="0"/>
              </a:rPr>
              <a:t>, LPARAM </a:t>
            </a:r>
            <a:r>
              <a:rPr lang="en-MY" altLang="en-US" dirty="0" err="1">
                <a:latin typeface="Courier New" pitchFamily="49" charset="0"/>
                <a:cs typeface="Courier New" pitchFamily="49" charset="0"/>
              </a:rPr>
              <a:t>lparam</a:t>
            </a:r>
            <a:r>
              <a:rPr lang="en-MY"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	switch (message)</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r>
              <a:rPr lang="en-GB" altLang="en-US" dirty="0">
                <a:latin typeface="Courier New" pitchFamily="49" charset="0"/>
                <a:cs typeface="Courier New" pitchFamily="49" charset="0"/>
              </a:rPr>
              <a:t>	</a:t>
            </a:r>
            <a:r>
              <a:rPr lang="en-GB" altLang="en-US" b="1" dirty="0">
                <a:latin typeface="Courier New" pitchFamily="49" charset="0"/>
                <a:cs typeface="Courier New" pitchFamily="49" charset="0"/>
              </a:rPr>
              <a:t>case WM_MOUSEMOVE:</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a:t>
            </a:r>
            <a:r>
              <a:rPr lang="en-GB" altLang="en-US" b="1" dirty="0">
                <a:latin typeface="Courier New" pitchFamily="49" charset="0"/>
              </a:rPr>
              <a:t>// Retrieve mouse screen position</a:t>
            </a:r>
            <a:br>
              <a:rPr lang="en-GB" altLang="en-US" b="1" dirty="0">
                <a:latin typeface="Courier New" pitchFamily="49" charset="0"/>
              </a:rPr>
            </a:br>
            <a:r>
              <a:rPr lang="en-GB" altLang="en-US" b="1" dirty="0">
                <a:latin typeface="Courier New" pitchFamily="49" charset="0"/>
              </a:rPr>
              <a:t>        </a:t>
            </a:r>
            <a:r>
              <a:rPr lang="en-GB" altLang="en-US" b="1" dirty="0" err="1">
                <a:latin typeface="Courier New" pitchFamily="49" charset="0"/>
              </a:rPr>
              <a:t>int</a:t>
            </a:r>
            <a:r>
              <a:rPr lang="en-GB" altLang="en-US" b="1" dirty="0">
                <a:latin typeface="Courier New" pitchFamily="49" charset="0"/>
              </a:rPr>
              <a:t> x=(short)LOWORD(</a:t>
            </a:r>
            <a:r>
              <a:rPr lang="en-GB" altLang="en-US" b="1" dirty="0" err="1">
                <a:latin typeface="Courier New" pitchFamily="49" charset="0"/>
              </a:rPr>
              <a:t>lParam</a:t>
            </a:r>
            <a:r>
              <a:rPr lang="en-GB" altLang="en-US" b="1" dirty="0">
                <a:latin typeface="Courier New" pitchFamily="49" charset="0"/>
              </a:rPr>
              <a:t>);</a:t>
            </a:r>
            <a:br>
              <a:rPr lang="en-GB" altLang="en-US" b="1" dirty="0">
                <a:latin typeface="Courier New" pitchFamily="49" charset="0"/>
              </a:rPr>
            </a:br>
            <a:r>
              <a:rPr lang="en-GB" altLang="en-US" b="1" dirty="0">
                <a:latin typeface="Courier New" pitchFamily="49" charset="0"/>
              </a:rPr>
              <a:t>        </a:t>
            </a:r>
            <a:r>
              <a:rPr lang="en-GB" altLang="en-US" b="1" dirty="0" err="1">
                <a:latin typeface="Courier New" pitchFamily="49" charset="0"/>
              </a:rPr>
              <a:t>int</a:t>
            </a:r>
            <a:r>
              <a:rPr lang="en-GB" altLang="en-US" b="1" dirty="0">
                <a:latin typeface="Courier New" pitchFamily="49" charset="0"/>
              </a:rPr>
              <a:t> y=(short)HIWORD(</a:t>
            </a:r>
            <a:r>
              <a:rPr lang="en-GB" altLang="en-US" b="1" dirty="0" err="1">
                <a:latin typeface="Courier New" pitchFamily="49" charset="0"/>
              </a:rPr>
              <a:t>lParam</a:t>
            </a:r>
            <a:r>
              <a:rPr lang="en-GB" altLang="en-US" b="1" dirty="0">
                <a:latin typeface="Courier New" pitchFamily="49" charset="0"/>
              </a:rPr>
              <a:t>);</a:t>
            </a:r>
          </a:p>
          <a:p>
            <a:pPr>
              <a:lnSpc>
                <a:spcPct val="80000"/>
              </a:lnSpc>
              <a:buFontTx/>
              <a:buNone/>
            </a:pPr>
            <a:r>
              <a:rPr lang="en-GB" altLang="en-US" b="1" dirty="0">
                <a:latin typeface="Courier New" pitchFamily="49" charset="0"/>
                <a:cs typeface="Courier New" pitchFamily="49" charset="0"/>
              </a:rPr>
              <a:t>		    //Do something with the mouse screen position</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case WM_DESTROY:</a:t>
            </a:r>
          </a:p>
          <a:p>
            <a:pPr>
              <a:lnSpc>
                <a:spcPct val="80000"/>
              </a:lnSpc>
              <a:buFontTx/>
              <a:buNone/>
            </a:pP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PostQuitMessage</a:t>
            </a:r>
            <a:r>
              <a:rPr lang="en-GB" altLang="en-US" dirty="0">
                <a:latin typeface="Courier New" pitchFamily="49" charset="0"/>
                <a:cs typeface="Courier New" pitchFamily="49" charset="0"/>
              </a:rPr>
              <a:t>(0);</a:t>
            </a:r>
          </a:p>
          <a:p>
            <a:pPr>
              <a:lnSpc>
                <a:spcPct val="80000"/>
              </a:lnSpc>
              <a:buFontTx/>
              <a:buNone/>
            </a:pPr>
            <a:r>
              <a:rPr lang="en-GB" altLang="en-US"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endParaRPr lang="en-GB" altLang="en-US" dirty="0">
              <a:latin typeface="Courier New" pitchFamily="49" charset="0"/>
              <a:cs typeface="Courier New" pitchFamily="49" charset="0"/>
            </a:endParaRPr>
          </a:p>
          <a:p>
            <a:pPr>
              <a:lnSpc>
                <a:spcPct val="80000"/>
              </a:lnSpc>
              <a:buFontTx/>
              <a:buNone/>
            </a:pPr>
            <a:r>
              <a:rPr lang="en-GB" altLang="en-US" dirty="0">
                <a:latin typeface="Courier New" pitchFamily="49" charset="0"/>
                <a:cs typeface="Courier New" pitchFamily="49" charset="0"/>
              </a:rPr>
              <a:t>	return </a:t>
            </a:r>
            <a:r>
              <a:rPr lang="en-GB" altLang="en-US" dirty="0" err="1">
                <a:latin typeface="Courier New" pitchFamily="49" charset="0"/>
                <a:cs typeface="Courier New" pitchFamily="49" charset="0"/>
              </a:rPr>
              <a:t>DefWindowProc</a:t>
            </a:r>
            <a:r>
              <a:rPr lang="en-GB" altLang="en-US" dirty="0">
                <a:latin typeface="Courier New" pitchFamily="49" charset="0"/>
                <a:cs typeface="Courier New" pitchFamily="49" charset="0"/>
              </a:rPr>
              <a:t>(</a:t>
            </a:r>
            <a:r>
              <a:rPr lang="en-GB" altLang="en-US" dirty="0" err="1">
                <a:latin typeface="Courier New" pitchFamily="49" charset="0"/>
                <a:cs typeface="Courier New" pitchFamily="49" charset="0"/>
              </a:rPr>
              <a:t>hWnd</a:t>
            </a:r>
            <a:r>
              <a:rPr lang="en-GB" altLang="en-US" dirty="0">
                <a:latin typeface="Courier New" pitchFamily="49" charset="0"/>
                <a:cs typeface="Courier New" pitchFamily="49" charset="0"/>
              </a:rPr>
              <a:t>, message, </a:t>
            </a:r>
            <a:r>
              <a:rPr lang="en-GB" altLang="en-US" dirty="0" err="1">
                <a:latin typeface="Courier New" pitchFamily="49" charset="0"/>
                <a:cs typeface="Courier New" pitchFamily="49" charset="0"/>
              </a:rPr>
              <a:t>wparam</a:t>
            </a: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lparam</a:t>
            </a: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endParaRPr lang="en-MY" dirty="0"/>
          </a:p>
        </p:txBody>
      </p:sp>
    </p:spTree>
    <p:extLst>
      <p:ext uri="{BB962C8B-B14F-4D97-AF65-F5344CB8AC3E}">
        <p14:creationId xmlns:p14="http://schemas.microsoft.com/office/powerpoint/2010/main" val="168286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Windows API Input – </a:t>
            </a:r>
            <a:r>
              <a:rPr lang="en-US" sz="3600" dirty="0" smtClean="0"/>
              <a:t>Mouse </a:t>
            </a:r>
            <a:r>
              <a:rPr lang="en-US" sz="3600" dirty="0"/>
              <a:t>Example</a:t>
            </a:r>
            <a:endParaRPr lang="en-MY" sz="3600" dirty="0"/>
          </a:p>
        </p:txBody>
      </p:sp>
      <p:sp>
        <p:nvSpPr>
          <p:cNvPr id="3" name="Content Placeholder 2"/>
          <p:cNvSpPr>
            <a:spLocks noGrp="1"/>
          </p:cNvSpPr>
          <p:nvPr>
            <p:ph idx="1"/>
          </p:nvPr>
        </p:nvSpPr>
        <p:spPr/>
        <p:txBody>
          <a:bodyPr>
            <a:normAutofit fontScale="70000" lnSpcReduction="20000"/>
          </a:bodyPr>
          <a:lstStyle/>
          <a:p>
            <a:pPr>
              <a:lnSpc>
                <a:spcPct val="80000"/>
              </a:lnSpc>
              <a:buFontTx/>
              <a:buNone/>
            </a:pPr>
            <a:r>
              <a:rPr lang="en-MY" altLang="en-US" dirty="0">
                <a:latin typeface="Courier New" pitchFamily="49" charset="0"/>
                <a:cs typeface="Courier New" pitchFamily="49" charset="0"/>
              </a:rPr>
              <a:t>LRESULT CALLBACK </a:t>
            </a:r>
            <a:r>
              <a:rPr lang="en-MY" altLang="en-US" dirty="0" err="1">
                <a:latin typeface="Courier New" pitchFamily="49" charset="0"/>
                <a:cs typeface="Courier New" pitchFamily="49" charset="0"/>
              </a:rPr>
              <a:t>WndProc</a:t>
            </a:r>
            <a:r>
              <a:rPr lang="en-MY" altLang="en-US" dirty="0">
                <a:latin typeface="Courier New" pitchFamily="49" charset="0"/>
                <a:cs typeface="Courier New" pitchFamily="49" charset="0"/>
              </a:rPr>
              <a:t>(HWND </a:t>
            </a:r>
            <a:r>
              <a:rPr lang="en-MY" altLang="en-US" dirty="0" err="1">
                <a:latin typeface="Courier New" pitchFamily="49" charset="0"/>
                <a:cs typeface="Courier New" pitchFamily="49" charset="0"/>
              </a:rPr>
              <a:t>hWnd</a:t>
            </a:r>
            <a:r>
              <a:rPr lang="en-MY" altLang="en-US" dirty="0">
                <a:latin typeface="Courier New" pitchFamily="49" charset="0"/>
                <a:cs typeface="Courier New" pitchFamily="49" charset="0"/>
              </a:rPr>
              <a:t>, UINT message, WPARAM </a:t>
            </a:r>
            <a:r>
              <a:rPr lang="en-MY" altLang="en-US" dirty="0" err="1">
                <a:latin typeface="Courier New" pitchFamily="49" charset="0"/>
                <a:cs typeface="Courier New" pitchFamily="49" charset="0"/>
              </a:rPr>
              <a:t>wparam</a:t>
            </a:r>
            <a:r>
              <a:rPr lang="en-MY" altLang="en-US" dirty="0">
                <a:latin typeface="Courier New" pitchFamily="49" charset="0"/>
                <a:cs typeface="Courier New" pitchFamily="49" charset="0"/>
              </a:rPr>
              <a:t>, LPARAM </a:t>
            </a:r>
            <a:r>
              <a:rPr lang="en-MY" altLang="en-US" dirty="0" err="1">
                <a:latin typeface="Courier New" pitchFamily="49" charset="0"/>
                <a:cs typeface="Courier New" pitchFamily="49" charset="0"/>
              </a:rPr>
              <a:t>lparam</a:t>
            </a:r>
            <a:r>
              <a:rPr lang="en-MY"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	switch (message)</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r>
              <a:rPr lang="en-GB" altLang="en-US" dirty="0">
                <a:latin typeface="Courier New" pitchFamily="49" charset="0"/>
                <a:cs typeface="Courier New" pitchFamily="49" charset="0"/>
              </a:rPr>
              <a:t>	</a:t>
            </a:r>
            <a:r>
              <a:rPr lang="en-GB" altLang="en-US" b="1" dirty="0">
                <a:latin typeface="Courier New" pitchFamily="49" charset="0"/>
                <a:cs typeface="Courier New" pitchFamily="49" charset="0"/>
              </a:rPr>
              <a:t>case WM_LBUTTONDOWN: // Change to WM_LBUTTONUP for released</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//Do something when left mouse is clicked</a:t>
            </a:r>
          </a:p>
          <a:p>
            <a:pPr>
              <a:lnSpc>
                <a:spcPct val="80000"/>
              </a:lnSpc>
              <a:buFontTx/>
              <a:buNone/>
            </a:pPr>
            <a:r>
              <a:rPr lang="en-GB" altLang="en-US" b="1" dirty="0">
                <a:latin typeface="Courier New" pitchFamily="49" charset="0"/>
                <a:cs typeface="Courier New" pitchFamily="49" charset="0"/>
              </a:rPr>
              <a:t>		    //Example</a:t>
            </a:r>
          </a:p>
          <a:p>
            <a:pPr>
              <a:lnSpc>
                <a:spcPct val="80000"/>
              </a:lnSpc>
              <a:buFontTx/>
              <a:buNone/>
            </a:pPr>
            <a:r>
              <a:rPr lang="en-GB" altLang="en-US" b="1" dirty="0">
                <a:latin typeface="Courier New" pitchFamily="49" charset="0"/>
                <a:cs typeface="Courier New" pitchFamily="49" charset="0"/>
              </a:rPr>
              <a:t>            </a:t>
            </a:r>
            <a:r>
              <a:rPr lang="en-GB" altLang="en-US" b="1" dirty="0" err="1">
                <a:latin typeface="Courier New" pitchFamily="49" charset="0"/>
                <a:cs typeface="Courier New" pitchFamily="49" charset="0"/>
              </a:rPr>
              <a:t>Avatar.fire</a:t>
            </a:r>
            <a:r>
              <a:rPr lang="en-GB" altLang="en-US" b="1" dirty="0">
                <a:latin typeface="Courier New" pitchFamily="49" charset="0"/>
                <a:cs typeface="Courier New" pitchFamily="49" charset="0"/>
              </a:rPr>
              <a:t>(</a:t>
            </a:r>
            <a:r>
              <a:rPr lang="en-GB" altLang="en-US" b="1" dirty="0" err="1">
                <a:latin typeface="Courier New" pitchFamily="49" charset="0"/>
                <a:cs typeface="Courier New" pitchFamily="49" charset="0"/>
              </a:rPr>
              <a:t>Avatar.getWeapon</a:t>
            </a:r>
            <a:r>
              <a:rPr lang="en-GB" altLang="en-US" b="1" dirty="0">
                <a:latin typeface="Courier New" pitchFamily="49" charset="0"/>
                <a:cs typeface="Courier New" pitchFamily="49" charset="0"/>
              </a:rPr>
              <a:t>());</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case WM_DESTROY:</a:t>
            </a:r>
          </a:p>
          <a:p>
            <a:pPr>
              <a:lnSpc>
                <a:spcPct val="80000"/>
              </a:lnSpc>
              <a:buFontTx/>
              <a:buNone/>
            </a:pP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PostQuitMessage</a:t>
            </a:r>
            <a:r>
              <a:rPr lang="en-GB" altLang="en-US" dirty="0">
                <a:latin typeface="Courier New" pitchFamily="49" charset="0"/>
                <a:cs typeface="Courier New" pitchFamily="49" charset="0"/>
              </a:rPr>
              <a:t>(0);</a:t>
            </a:r>
          </a:p>
          <a:p>
            <a:pPr>
              <a:lnSpc>
                <a:spcPct val="80000"/>
              </a:lnSpc>
              <a:buFontTx/>
              <a:buNone/>
            </a:pPr>
            <a:r>
              <a:rPr lang="en-GB" altLang="en-US"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endParaRPr lang="en-GB" altLang="en-US" dirty="0">
              <a:latin typeface="Courier New" pitchFamily="49" charset="0"/>
              <a:cs typeface="Courier New" pitchFamily="49" charset="0"/>
            </a:endParaRPr>
          </a:p>
          <a:p>
            <a:pPr>
              <a:lnSpc>
                <a:spcPct val="80000"/>
              </a:lnSpc>
              <a:buFontTx/>
              <a:buNone/>
            </a:pPr>
            <a:r>
              <a:rPr lang="en-GB" altLang="en-US" dirty="0">
                <a:latin typeface="Courier New" pitchFamily="49" charset="0"/>
                <a:cs typeface="Courier New" pitchFamily="49" charset="0"/>
              </a:rPr>
              <a:t>	return </a:t>
            </a:r>
            <a:r>
              <a:rPr lang="en-GB" altLang="en-US" dirty="0" err="1">
                <a:latin typeface="Courier New" pitchFamily="49" charset="0"/>
                <a:cs typeface="Courier New" pitchFamily="49" charset="0"/>
              </a:rPr>
              <a:t>DefWindowProc</a:t>
            </a:r>
            <a:r>
              <a:rPr lang="en-GB" altLang="en-US" dirty="0">
                <a:latin typeface="Courier New" pitchFamily="49" charset="0"/>
                <a:cs typeface="Courier New" pitchFamily="49" charset="0"/>
              </a:rPr>
              <a:t>(</a:t>
            </a:r>
            <a:r>
              <a:rPr lang="en-GB" altLang="en-US" dirty="0" err="1">
                <a:latin typeface="Courier New" pitchFamily="49" charset="0"/>
                <a:cs typeface="Courier New" pitchFamily="49" charset="0"/>
              </a:rPr>
              <a:t>hWnd</a:t>
            </a:r>
            <a:r>
              <a:rPr lang="en-GB" altLang="en-US" dirty="0">
                <a:latin typeface="Courier New" pitchFamily="49" charset="0"/>
                <a:cs typeface="Courier New" pitchFamily="49" charset="0"/>
              </a:rPr>
              <a:t>, message, </a:t>
            </a:r>
            <a:r>
              <a:rPr lang="en-GB" altLang="en-US" dirty="0" err="1">
                <a:latin typeface="Courier New" pitchFamily="49" charset="0"/>
                <a:cs typeface="Courier New" pitchFamily="49" charset="0"/>
              </a:rPr>
              <a:t>wparam</a:t>
            </a: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lparam</a:t>
            </a: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endParaRPr lang="en-MY" dirty="0"/>
          </a:p>
        </p:txBody>
      </p:sp>
    </p:spTree>
    <p:extLst>
      <p:ext uri="{BB962C8B-B14F-4D97-AF65-F5344CB8AC3E}">
        <p14:creationId xmlns:p14="http://schemas.microsoft.com/office/powerpoint/2010/main" val="2217345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Windows API Input – </a:t>
            </a:r>
            <a:r>
              <a:rPr lang="en-US" sz="3600" dirty="0" smtClean="0"/>
              <a:t>Mouse </a:t>
            </a:r>
            <a:r>
              <a:rPr lang="en-US" sz="3600" dirty="0"/>
              <a:t>Example</a:t>
            </a:r>
            <a:endParaRPr lang="en-MY" sz="3600" dirty="0"/>
          </a:p>
        </p:txBody>
      </p:sp>
      <p:sp>
        <p:nvSpPr>
          <p:cNvPr id="3" name="Content Placeholder 2"/>
          <p:cNvSpPr>
            <a:spLocks noGrp="1"/>
          </p:cNvSpPr>
          <p:nvPr>
            <p:ph idx="1"/>
          </p:nvPr>
        </p:nvSpPr>
        <p:spPr/>
        <p:txBody>
          <a:bodyPr>
            <a:normAutofit fontScale="70000" lnSpcReduction="20000"/>
          </a:bodyPr>
          <a:lstStyle/>
          <a:p>
            <a:pPr>
              <a:lnSpc>
                <a:spcPct val="80000"/>
              </a:lnSpc>
              <a:buFontTx/>
              <a:buNone/>
            </a:pPr>
            <a:r>
              <a:rPr lang="en-MY" altLang="en-US" dirty="0">
                <a:latin typeface="Courier New" pitchFamily="49" charset="0"/>
                <a:cs typeface="Courier New" pitchFamily="49" charset="0"/>
              </a:rPr>
              <a:t>LRESULT CALLBACK </a:t>
            </a:r>
            <a:r>
              <a:rPr lang="en-MY" altLang="en-US" dirty="0" err="1">
                <a:latin typeface="Courier New" pitchFamily="49" charset="0"/>
                <a:cs typeface="Courier New" pitchFamily="49" charset="0"/>
              </a:rPr>
              <a:t>WndProc</a:t>
            </a:r>
            <a:r>
              <a:rPr lang="en-MY" altLang="en-US" dirty="0">
                <a:latin typeface="Courier New" pitchFamily="49" charset="0"/>
                <a:cs typeface="Courier New" pitchFamily="49" charset="0"/>
              </a:rPr>
              <a:t>(HWND </a:t>
            </a:r>
            <a:r>
              <a:rPr lang="en-MY" altLang="en-US" dirty="0" err="1">
                <a:latin typeface="Courier New" pitchFamily="49" charset="0"/>
                <a:cs typeface="Courier New" pitchFamily="49" charset="0"/>
              </a:rPr>
              <a:t>hWnd</a:t>
            </a:r>
            <a:r>
              <a:rPr lang="en-MY" altLang="en-US" dirty="0">
                <a:latin typeface="Courier New" pitchFamily="49" charset="0"/>
                <a:cs typeface="Courier New" pitchFamily="49" charset="0"/>
              </a:rPr>
              <a:t>, UINT message, WPARAM </a:t>
            </a:r>
            <a:r>
              <a:rPr lang="en-MY" altLang="en-US" dirty="0" err="1">
                <a:latin typeface="Courier New" pitchFamily="49" charset="0"/>
                <a:cs typeface="Courier New" pitchFamily="49" charset="0"/>
              </a:rPr>
              <a:t>wparam</a:t>
            </a:r>
            <a:r>
              <a:rPr lang="en-MY" altLang="en-US" dirty="0">
                <a:latin typeface="Courier New" pitchFamily="49" charset="0"/>
                <a:cs typeface="Courier New" pitchFamily="49" charset="0"/>
              </a:rPr>
              <a:t>, LPARAM </a:t>
            </a:r>
            <a:r>
              <a:rPr lang="en-MY" altLang="en-US" dirty="0" err="1">
                <a:latin typeface="Courier New" pitchFamily="49" charset="0"/>
                <a:cs typeface="Courier New" pitchFamily="49" charset="0"/>
              </a:rPr>
              <a:t>lparam</a:t>
            </a:r>
            <a:r>
              <a:rPr lang="en-MY"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	switch (message)</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r>
              <a:rPr lang="en-GB" altLang="en-US" dirty="0">
                <a:latin typeface="Courier New" pitchFamily="49" charset="0"/>
                <a:cs typeface="Courier New" pitchFamily="49" charset="0"/>
              </a:rPr>
              <a:t>	</a:t>
            </a:r>
            <a:r>
              <a:rPr lang="en-GB" altLang="en-US" b="1" dirty="0">
                <a:latin typeface="Courier New" pitchFamily="49" charset="0"/>
                <a:cs typeface="Courier New" pitchFamily="49" charset="0"/>
              </a:rPr>
              <a:t>case WM_RBUTTONDOWN: // Change to WM_RBUTTONUP for released</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//Do something when right mouse is clicked</a:t>
            </a:r>
          </a:p>
          <a:p>
            <a:pPr>
              <a:lnSpc>
                <a:spcPct val="80000"/>
              </a:lnSpc>
              <a:buFontTx/>
              <a:buNone/>
            </a:pPr>
            <a:r>
              <a:rPr lang="en-GB" altLang="en-US" b="1" dirty="0">
                <a:latin typeface="Courier New" pitchFamily="49" charset="0"/>
                <a:cs typeface="Courier New" pitchFamily="49" charset="0"/>
              </a:rPr>
              <a:t>		    //Example</a:t>
            </a:r>
          </a:p>
          <a:p>
            <a:pPr>
              <a:lnSpc>
                <a:spcPct val="80000"/>
              </a:lnSpc>
              <a:buFontTx/>
              <a:buNone/>
            </a:pPr>
            <a:r>
              <a:rPr lang="en-GB" altLang="en-US" b="1" dirty="0">
                <a:latin typeface="Courier New" pitchFamily="49" charset="0"/>
                <a:cs typeface="Courier New" pitchFamily="49" charset="0"/>
              </a:rPr>
              <a:t>            </a:t>
            </a:r>
            <a:r>
              <a:rPr lang="en-GB" altLang="en-US" b="1" dirty="0" err="1">
                <a:latin typeface="Courier New" pitchFamily="49" charset="0"/>
                <a:cs typeface="Courier New" pitchFamily="49" charset="0"/>
              </a:rPr>
              <a:t>Avatar.fireHeavy</a:t>
            </a:r>
            <a:r>
              <a:rPr lang="en-GB" altLang="en-US" b="1" dirty="0">
                <a:latin typeface="Courier New" pitchFamily="49" charset="0"/>
                <a:cs typeface="Courier New" pitchFamily="49" charset="0"/>
              </a:rPr>
              <a:t>(</a:t>
            </a:r>
            <a:r>
              <a:rPr lang="en-GB" altLang="en-US" b="1" dirty="0" err="1">
                <a:latin typeface="Courier New" pitchFamily="49" charset="0"/>
                <a:cs typeface="Courier New" pitchFamily="49" charset="0"/>
              </a:rPr>
              <a:t>Avatar.getWeapon</a:t>
            </a:r>
            <a:r>
              <a:rPr lang="en-GB" altLang="en-US" b="1" dirty="0">
                <a:latin typeface="Courier New" pitchFamily="49" charset="0"/>
                <a:cs typeface="Courier New" pitchFamily="49" charset="0"/>
              </a:rPr>
              <a:t>());</a:t>
            </a:r>
          </a:p>
          <a:p>
            <a:pPr>
              <a:lnSpc>
                <a:spcPct val="80000"/>
              </a:lnSpc>
              <a:buFontTx/>
              <a:buNone/>
            </a:pPr>
            <a:r>
              <a:rPr lang="en-GB" altLang="en-US" b="1" dirty="0">
                <a:latin typeface="Courier New" pitchFamily="49" charset="0"/>
                <a:cs typeface="Courier New" pitchFamily="49" charset="0"/>
              </a:rPr>
              <a:t>		}</a:t>
            </a:r>
          </a:p>
          <a:p>
            <a:pPr>
              <a:lnSpc>
                <a:spcPct val="80000"/>
              </a:lnSpc>
              <a:buFontTx/>
              <a:buNone/>
            </a:pPr>
            <a:r>
              <a:rPr lang="en-GB" altLang="en-US" b="1"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case WM_DESTROY:</a:t>
            </a:r>
          </a:p>
          <a:p>
            <a:pPr>
              <a:lnSpc>
                <a:spcPct val="80000"/>
              </a:lnSpc>
              <a:buFontTx/>
              <a:buNone/>
            </a:pP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PostQuitMessage</a:t>
            </a:r>
            <a:r>
              <a:rPr lang="en-GB" altLang="en-US" dirty="0">
                <a:latin typeface="Courier New" pitchFamily="49" charset="0"/>
                <a:cs typeface="Courier New" pitchFamily="49" charset="0"/>
              </a:rPr>
              <a:t>(0);</a:t>
            </a:r>
          </a:p>
          <a:p>
            <a:pPr>
              <a:lnSpc>
                <a:spcPct val="80000"/>
              </a:lnSpc>
              <a:buFontTx/>
              <a:buNone/>
            </a:pPr>
            <a:r>
              <a:rPr lang="en-GB" altLang="en-US" dirty="0">
                <a:latin typeface="Courier New" pitchFamily="49" charset="0"/>
                <a:cs typeface="Courier New" pitchFamily="49" charset="0"/>
              </a:rPr>
              <a:t>		break;</a:t>
            </a:r>
          </a:p>
          <a:p>
            <a:pPr>
              <a:lnSpc>
                <a:spcPct val="80000"/>
              </a:lnSpc>
              <a:buFontTx/>
              <a:buNone/>
            </a:pPr>
            <a:r>
              <a:rPr lang="en-GB" altLang="en-US" dirty="0">
                <a:latin typeface="Courier New" pitchFamily="49" charset="0"/>
                <a:cs typeface="Courier New" pitchFamily="49" charset="0"/>
              </a:rPr>
              <a:t>	}</a:t>
            </a:r>
          </a:p>
          <a:p>
            <a:pPr>
              <a:lnSpc>
                <a:spcPct val="80000"/>
              </a:lnSpc>
              <a:buFontTx/>
              <a:buNone/>
            </a:pPr>
            <a:endParaRPr lang="en-GB" altLang="en-US" dirty="0">
              <a:latin typeface="Courier New" pitchFamily="49" charset="0"/>
              <a:cs typeface="Courier New" pitchFamily="49" charset="0"/>
            </a:endParaRPr>
          </a:p>
          <a:p>
            <a:pPr>
              <a:lnSpc>
                <a:spcPct val="80000"/>
              </a:lnSpc>
              <a:buFontTx/>
              <a:buNone/>
            </a:pPr>
            <a:r>
              <a:rPr lang="en-GB" altLang="en-US" dirty="0">
                <a:latin typeface="Courier New" pitchFamily="49" charset="0"/>
                <a:cs typeface="Courier New" pitchFamily="49" charset="0"/>
              </a:rPr>
              <a:t>	return </a:t>
            </a:r>
            <a:r>
              <a:rPr lang="en-GB" altLang="en-US" dirty="0" err="1">
                <a:latin typeface="Courier New" pitchFamily="49" charset="0"/>
                <a:cs typeface="Courier New" pitchFamily="49" charset="0"/>
              </a:rPr>
              <a:t>DefWindowProc</a:t>
            </a:r>
            <a:r>
              <a:rPr lang="en-GB" altLang="en-US" dirty="0">
                <a:latin typeface="Courier New" pitchFamily="49" charset="0"/>
                <a:cs typeface="Courier New" pitchFamily="49" charset="0"/>
              </a:rPr>
              <a:t>(</a:t>
            </a:r>
            <a:r>
              <a:rPr lang="en-GB" altLang="en-US" dirty="0" err="1">
                <a:latin typeface="Courier New" pitchFamily="49" charset="0"/>
                <a:cs typeface="Courier New" pitchFamily="49" charset="0"/>
              </a:rPr>
              <a:t>hWnd</a:t>
            </a:r>
            <a:r>
              <a:rPr lang="en-GB" altLang="en-US" dirty="0">
                <a:latin typeface="Courier New" pitchFamily="49" charset="0"/>
                <a:cs typeface="Courier New" pitchFamily="49" charset="0"/>
              </a:rPr>
              <a:t>, message, </a:t>
            </a:r>
            <a:r>
              <a:rPr lang="en-GB" altLang="en-US" dirty="0" err="1">
                <a:latin typeface="Courier New" pitchFamily="49" charset="0"/>
                <a:cs typeface="Courier New" pitchFamily="49" charset="0"/>
              </a:rPr>
              <a:t>wparam</a:t>
            </a:r>
            <a:r>
              <a:rPr lang="en-GB" altLang="en-US" dirty="0">
                <a:latin typeface="Courier New" pitchFamily="49" charset="0"/>
                <a:cs typeface="Courier New" pitchFamily="49" charset="0"/>
              </a:rPr>
              <a:t>, </a:t>
            </a:r>
            <a:r>
              <a:rPr lang="en-GB" altLang="en-US" dirty="0" err="1">
                <a:latin typeface="Courier New" pitchFamily="49" charset="0"/>
                <a:cs typeface="Courier New" pitchFamily="49" charset="0"/>
              </a:rPr>
              <a:t>lparam</a:t>
            </a:r>
            <a:r>
              <a:rPr lang="en-GB" altLang="en-US" dirty="0">
                <a:latin typeface="Courier New" pitchFamily="49" charset="0"/>
                <a:cs typeface="Courier New" pitchFamily="49" charset="0"/>
              </a:rPr>
              <a:t>);</a:t>
            </a:r>
          </a:p>
          <a:p>
            <a:pPr>
              <a:lnSpc>
                <a:spcPct val="80000"/>
              </a:lnSpc>
              <a:buFontTx/>
              <a:buNone/>
            </a:pPr>
            <a:r>
              <a:rPr lang="en-GB" altLang="en-US" dirty="0">
                <a:latin typeface="Courier New" pitchFamily="49" charset="0"/>
                <a:cs typeface="Courier New" pitchFamily="49" charset="0"/>
              </a:rPr>
              <a:t>}</a:t>
            </a:r>
          </a:p>
          <a:p>
            <a:endParaRPr lang="en-MY" dirty="0"/>
          </a:p>
        </p:txBody>
      </p:sp>
    </p:spTree>
    <p:extLst>
      <p:ext uri="{BB962C8B-B14F-4D97-AF65-F5344CB8AC3E}">
        <p14:creationId xmlns:p14="http://schemas.microsoft.com/office/powerpoint/2010/main" val="2862453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DirectInput - Introduction</a:t>
            </a:r>
            <a:endParaRPr lang="en-MY" dirty="0"/>
          </a:p>
        </p:txBody>
      </p:sp>
      <p:sp>
        <p:nvSpPr>
          <p:cNvPr id="3" name="Content Placeholder 2"/>
          <p:cNvSpPr>
            <a:spLocks noGrp="1"/>
          </p:cNvSpPr>
          <p:nvPr>
            <p:ph idx="1"/>
          </p:nvPr>
        </p:nvSpPr>
        <p:spPr/>
        <p:txBody>
          <a:bodyPr/>
          <a:lstStyle/>
          <a:p>
            <a:pPr>
              <a:lnSpc>
                <a:spcPct val="90000"/>
              </a:lnSpc>
            </a:pPr>
            <a:r>
              <a:rPr lang="en-MY" altLang="en-US" sz="2600" dirty="0"/>
              <a:t>DirectInput is an API that comes with the DirectX SDK for interfacing with input devices (mouse, keyboard, joystick, etc.). Additionally it handles force-feedback (input/output) devices.</a:t>
            </a:r>
          </a:p>
          <a:p>
            <a:pPr>
              <a:lnSpc>
                <a:spcPct val="90000"/>
              </a:lnSpc>
            </a:pPr>
            <a:r>
              <a:rPr lang="en-MY" altLang="en-US" sz="2600" dirty="0"/>
              <a:t>DirectInput has benefits over normal Win32 input events:</a:t>
            </a:r>
          </a:p>
          <a:p>
            <a:pPr lvl="1">
              <a:lnSpc>
                <a:spcPct val="90000"/>
              </a:lnSpc>
            </a:pPr>
            <a:r>
              <a:rPr lang="en-MY" altLang="en-US" sz="1900" dirty="0"/>
              <a:t>It enables an application to retrieve data from input devices even when the application is in the background</a:t>
            </a:r>
          </a:p>
          <a:p>
            <a:pPr lvl="1">
              <a:lnSpc>
                <a:spcPct val="90000"/>
              </a:lnSpc>
            </a:pPr>
            <a:r>
              <a:rPr lang="en-MY" altLang="en-US" sz="1900" dirty="0"/>
              <a:t>It provides full support for any type of input device, as well as for force feedback</a:t>
            </a:r>
          </a:p>
          <a:p>
            <a:pPr lvl="1">
              <a:lnSpc>
                <a:spcPct val="90000"/>
              </a:lnSpc>
            </a:pPr>
            <a:r>
              <a:rPr lang="en-MY" altLang="en-US" sz="1900" dirty="0"/>
              <a:t>Through action mapping, applications can retrieve input data without needing to know what kind of device is being used to generate it.</a:t>
            </a:r>
          </a:p>
          <a:p>
            <a:pPr>
              <a:lnSpc>
                <a:spcPct val="90000"/>
              </a:lnSpc>
            </a:pPr>
            <a:r>
              <a:rPr lang="en-MY" altLang="en-US" sz="1900" i="1" dirty="0"/>
              <a:t>Note</a:t>
            </a:r>
            <a:r>
              <a:rPr lang="en-MY" altLang="en-US" sz="1900" dirty="0"/>
              <a:t>: DirectInput has not changed since version 8, so the objects and functions are appended with an 8 rather than a 9.</a:t>
            </a:r>
          </a:p>
          <a:p>
            <a:endParaRPr lang="en-MY" dirty="0"/>
          </a:p>
        </p:txBody>
      </p:sp>
    </p:spTree>
    <p:extLst>
      <p:ext uri="{BB962C8B-B14F-4D97-AF65-F5344CB8AC3E}">
        <p14:creationId xmlns:p14="http://schemas.microsoft.com/office/powerpoint/2010/main" val="2969408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MY"/>
          </a:p>
        </p:txBody>
      </p:sp>
      <p:sp>
        <p:nvSpPr>
          <p:cNvPr id="3" name="Content Placeholder 2"/>
          <p:cNvSpPr>
            <a:spLocks noGrp="1"/>
          </p:cNvSpPr>
          <p:nvPr>
            <p:ph idx="1"/>
          </p:nvPr>
        </p:nvSpPr>
        <p:spPr/>
        <p:txBody>
          <a:bodyPr/>
          <a:lstStyle/>
          <a:p>
            <a:r>
              <a:rPr lang="en-GB" altLang="en-US" dirty="0"/>
              <a:t>There are 5 steps included in setup of DirectInput</a:t>
            </a:r>
          </a:p>
          <a:p>
            <a:pPr lvl="1"/>
            <a:r>
              <a:rPr lang="en-GB" altLang="en-US" dirty="0"/>
              <a:t>STEP 1: Including DirectInput Library</a:t>
            </a:r>
          </a:p>
          <a:p>
            <a:pPr lvl="1"/>
            <a:r>
              <a:rPr lang="en-GB" altLang="en-US" dirty="0"/>
              <a:t>STEP 2: Creating DirectInput Object</a:t>
            </a:r>
          </a:p>
          <a:p>
            <a:pPr lvl="1"/>
            <a:r>
              <a:rPr lang="en-GB" altLang="en-US" dirty="0"/>
              <a:t>STEP 3: Creating DirectInput Hardware</a:t>
            </a:r>
          </a:p>
          <a:p>
            <a:pPr lvl="1"/>
            <a:r>
              <a:rPr lang="en-GB" altLang="en-US" dirty="0"/>
              <a:t>STEP 4: Setting the Data Format</a:t>
            </a:r>
          </a:p>
          <a:p>
            <a:pPr lvl="1"/>
            <a:r>
              <a:rPr lang="en-GB" altLang="en-US" dirty="0"/>
              <a:t>STEP 5: Setting the Cooperative </a:t>
            </a:r>
            <a:r>
              <a:rPr lang="en-GB" altLang="en-US" dirty="0" smtClean="0"/>
              <a:t>Level</a:t>
            </a:r>
          </a:p>
          <a:p>
            <a:pPr lvl="1"/>
            <a:endParaRPr lang="en-GB" altLang="en-US" dirty="0"/>
          </a:p>
          <a:p>
            <a:r>
              <a:rPr lang="en-GB" altLang="en-US" dirty="0" smtClean="0"/>
              <a:t>Followed by additional steps to obtain the input</a:t>
            </a:r>
            <a:endParaRPr lang="en-GB" altLang="en-US" dirty="0"/>
          </a:p>
          <a:p>
            <a:endParaRPr lang="en-MY" dirty="0"/>
          </a:p>
        </p:txBody>
      </p:sp>
    </p:spTree>
    <p:extLst>
      <p:ext uri="{BB962C8B-B14F-4D97-AF65-F5344CB8AC3E}">
        <p14:creationId xmlns:p14="http://schemas.microsoft.com/office/powerpoint/2010/main" val="494986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dirty="0" smtClean="0"/>
              <a:t>STEP 1</a:t>
            </a:r>
            <a:r>
              <a:rPr lang="en-GB" altLang="en-US" dirty="0"/>
              <a:t>: Including DirectInput library</a:t>
            </a:r>
            <a:endParaRPr lang="en-MY" dirty="0"/>
          </a:p>
        </p:txBody>
      </p:sp>
      <p:sp>
        <p:nvSpPr>
          <p:cNvPr id="3" name="Content Placeholder 2"/>
          <p:cNvSpPr>
            <a:spLocks noGrp="1"/>
          </p:cNvSpPr>
          <p:nvPr>
            <p:ph idx="1"/>
          </p:nvPr>
        </p:nvSpPr>
        <p:spPr/>
        <p:txBody>
          <a:bodyPr/>
          <a:lstStyle/>
          <a:p>
            <a:r>
              <a:rPr lang="en-GB" altLang="en-US" sz="2000" dirty="0"/>
              <a:t>Add the following to your include statement sections;</a:t>
            </a:r>
          </a:p>
          <a:p>
            <a:pPr>
              <a:buFontTx/>
              <a:buNone/>
            </a:pPr>
            <a:r>
              <a:rPr lang="en-GB" altLang="en-US" sz="2000" dirty="0"/>
              <a:t>	</a:t>
            </a:r>
            <a:r>
              <a:rPr lang="en-GB" altLang="en-US" sz="2000" dirty="0">
                <a:latin typeface="Courier New" pitchFamily="49" charset="0"/>
                <a:cs typeface="Courier New" pitchFamily="49" charset="0"/>
              </a:rPr>
              <a:t>#define DIRECTINPUT_VERSION 0x0800</a:t>
            </a:r>
            <a:br>
              <a:rPr lang="en-GB" altLang="en-US" sz="2000" dirty="0">
                <a:latin typeface="Courier New" pitchFamily="49" charset="0"/>
                <a:cs typeface="Courier New" pitchFamily="49" charset="0"/>
              </a:rPr>
            </a:br>
            <a:r>
              <a:rPr lang="en-GB" altLang="en-US" sz="2000" dirty="0">
                <a:latin typeface="Courier New" pitchFamily="49" charset="0"/>
                <a:cs typeface="Courier New" pitchFamily="49" charset="0"/>
              </a:rPr>
              <a:t>#include &lt;</a:t>
            </a:r>
            <a:r>
              <a:rPr lang="en-GB" altLang="en-US" sz="2000" dirty="0" err="1">
                <a:latin typeface="Courier New" pitchFamily="49" charset="0"/>
                <a:cs typeface="Courier New" pitchFamily="49" charset="0"/>
              </a:rPr>
              <a:t>dinput.h</a:t>
            </a:r>
            <a:r>
              <a:rPr lang="en-GB" altLang="en-US" sz="2000" dirty="0">
                <a:latin typeface="Courier New" pitchFamily="49" charset="0"/>
                <a:cs typeface="Courier New" pitchFamily="49" charset="0"/>
              </a:rPr>
              <a:t>&gt;</a:t>
            </a:r>
          </a:p>
          <a:p>
            <a:r>
              <a:rPr lang="en-GB" altLang="en-US" sz="2000" dirty="0"/>
              <a:t>Note:</a:t>
            </a:r>
          </a:p>
          <a:p>
            <a:pPr lvl="1"/>
            <a:r>
              <a:rPr lang="en-MY" altLang="en-US" sz="1600" dirty="0"/>
              <a:t>there is a small catch here because DirectInput carries out a check in its header to make sure you are using the correct version. So you have to define the version you wish to use </a:t>
            </a:r>
            <a:r>
              <a:rPr lang="en-MY" altLang="en-US" sz="1600" i="1" dirty="0"/>
              <a:t>before</a:t>
            </a:r>
            <a:r>
              <a:rPr lang="en-MY" altLang="en-US" sz="1600" dirty="0"/>
              <a:t> including the header file - otherwise you will get warnings about the version. </a:t>
            </a:r>
          </a:p>
          <a:p>
            <a:r>
              <a:rPr lang="en-MY" altLang="en-US" sz="2000" dirty="0"/>
              <a:t>You will have add the following library to your linker;</a:t>
            </a:r>
          </a:p>
          <a:p>
            <a:pPr lvl="1"/>
            <a:r>
              <a:rPr lang="en-MY" altLang="en-US" sz="1600" dirty="0"/>
              <a:t>Select Project &gt; Property on your menu bar</a:t>
            </a:r>
          </a:p>
          <a:p>
            <a:pPr lvl="1"/>
            <a:r>
              <a:rPr lang="en-GB" altLang="en-US" sz="1600" dirty="0"/>
              <a:t>On the left panel of the Property Dialogue select Configuration Properties &gt; Linker &gt; Input</a:t>
            </a:r>
          </a:p>
          <a:p>
            <a:pPr lvl="1"/>
            <a:r>
              <a:rPr lang="en-GB" altLang="en-US" sz="1600" dirty="0"/>
              <a:t>In the Additional Dependencies add </a:t>
            </a:r>
            <a:r>
              <a:rPr lang="en-GB" altLang="en-US" sz="1600" dirty="0">
                <a:latin typeface="Courier New" pitchFamily="49" charset="0"/>
                <a:cs typeface="Courier New" pitchFamily="49" charset="0"/>
              </a:rPr>
              <a:t>dinput8.lib</a:t>
            </a:r>
            <a:r>
              <a:rPr lang="en-GB" altLang="en-US" sz="1600" dirty="0"/>
              <a:t> and </a:t>
            </a:r>
            <a:r>
              <a:rPr lang="en-GB" altLang="en-US" sz="1600" dirty="0">
                <a:latin typeface="Courier New" pitchFamily="49" charset="0"/>
                <a:cs typeface="Courier New" pitchFamily="49" charset="0"/>
              </a:rPr>
              <a:t>dxguid.lib</a:t>
            </a:r>
            <a:r>
              <a:rPr lang="en-GB" altLang="en-US" sz="1600" dirty="0">
                <a:cs typeface="Courier New" pitchFamily="49" charset="0"/>
              </a:rPr>
              <a:t> to the list.</a:t>
            </a:r>
            <a:endParaRPr lang="en-GB" altLang="en-US" sz="1600" dirty="0">
              <a:latin typeface="Courier New" pitchFamily="49" charset="0"/>
              <a:cs typeface="Courier New" pitchFamily="49" charset="0"/>
            </a:endParaRPr>
          </a:p>
          <a:p>
            <a:endParaRPr lang="en-MY" dirty="0"/>
          </a:p>
        </p:txBody>
      </p:sp>
    </p:spTree>
    <p:extLst>
      <p:ext uri="{BB962C8B-B14F-4D97-AF65-F5344CB8AC3E}">
        <p14:creationId xmlns:p14="http://schemas.microsoft.com/office/powerpoint/2010/main" val="2511082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fontScale="90000"/>
          </a:bodyPr>
          <a:lstStyle/>
          <a:p>
            <a:r>
              <a:rPr lang="en-GB" altLang="en-US" smtClean="0"/>
              <a:t>STEP2: Creating DirectInput Object</a:t>
            </a:r>
          </a:p>
        </p:txBody>
      </p:sp>
      <p:sp>
        <p:nvSpPr>
          <p:cNvPr id="14339" name="Content Placeholder 2"/>
          <p:cNvSpPr>
            <a:spLocks noGrp="1"/>
          </p:cNvSpPr>
          <p:nvPr>
            <p:ph idx="1"/>
          </p:nvPr>
        </p:nvSpPr>
        <p:spPr/>
        <p:txBody>
          <a:bodyPr/>
          <a:lstStyle/>
          <a:p>
            <a:pPr>
              <a:lnSpc>
                <a:spcPct val="80000"/>
              </a:lnSpc>
            </a:pPr>
            <a:r>
              <a:rPr lang="en-MY" altLang="en-US" sz="1800" dirty="0" smtClean="0"/>
              <a:t>The first step to using DirectInput is the creation of the DirectInput object. The function DirectInput8Create creates the DirectInput object. The DirectInput8Create function is defined as follows:</a:t>
            </a:r>
          </a:p>
          <a:p>
            <a:pPr lvl="1">
              <a:lnSpc>
                <a:spcPct val="80000"/>
              </a:lnSpc>
              <a:buFontTx/>
              <a:buNone/>
            </a:pPr>
            <a:r>
              <a:rPr lang="en-GB" altLang="en-US" sz="1500" dirty="0" smtClean="0">
                <a:latin typeface="Courier New" pitchFamily="49" charset="0"/>
                <a:cs typeface="Courier New" pitchFamily="49" charset="0"/>
              </a:rPr>
              <a:t>HRESULT WINAPI DirectInput8Create(</a:t>
            </a:r>
          </a:p>
          <a:p>
            <a:pPr lvl="1">
              <a:lnSpc>
                <a:spcPct val="80000"/>
              </a:lnSpc>
              <a:buFontTx/>
              <a:buNone/>
            </a:pPr>
            <a:r>
              <a:rPr lang="en-GB" altLang="en-US" sz="1500" dirty="0" smtClean="0">
                <a:latin typeface="Courier New" pitchFamily="49" charset="0"/>
                <a:cs typeface="Courier New" pitchFamily="49" charset="0"/>
              </a:rPr>
              <a:t>HINSTANCE </a:t>
            </a:r>
            <a:r>
              <a:rPr lang="en-GB" altLang="en-US" sz="1500" dirty="0" err="1" smtClean="0">
                <a:latin typeface="Courier New" pitchFamily="49" charset="0"/>
                <a:cs typeface="Courier New" pitchFamily="49" charset="0"/>
              </a:rPr>
              <a:t>hinst</a:t>
            </a:r>
            <a:r>
              <a:rPr lang="en-GB" altLang="en-US" sz="1500" dirty="0" smtClean="0">
                <a:latin typeface="Courier New" pitchFamily="49" charset="0"/>
                <a:cs typeface="Courier New" pitchFamily="49" charset="0"/>
              </a:rPr>
              <a:t>,</a:t>
            </a:r>
          </a:p>
          <a:p>
            <a:pPr lvl="1">
              <a:lnSpc>
                <a:spcPct val="80000"/>
              </a:lnSpc>
              <a:buFontTx/>
              <a:buNone/>
            </a:pPr>
            <a:r>
              <a:rPr lang="en-GB" altLang="en-US" sz="1500" dirty="0" smtClean="0">
                <a:latin typeface="Courier New" pitchFamily="49" charset="0"/>
                <a:cs typeface="Courier New" pitchFamily="49" charset="0"/>
              </a:rPr>
              <a:t>DWORD </a:t>
            </a:r>
            <a:r>
              <a:rPr lang="en-GB" altLang="en-US" sz="1500" dirty="0" err="1" smtClean="0">
                <a:latin typeface="Courier New" pitchFamily="49" charset="0"/>
                <a:cs typeface="Courier New" pitchFamily="49" charset="0"/>
              </a:rPr>
              <a:t>dwVersion</a:t>
            </a:r>
            <a:r>
              <a:rPr lang="en-GB" altLang="en-US" sz="1500" dirty="0" smtClean="0">
                <a:latin typeface="Courier New" pitchFamily="49" charset="0"/>
                <a:cs typeface="Courier New" pitchFamily="49" charset="0"/>
              </a:rPr>
              <a:t>,</a:t>
            </a:r>
          </a:p>
          <a:p>
            <a:pPr lvl="1">
              <a:lnSpc>
                <a:spcPct val="80000"/>
              </a:lnSpc>
              <a:buFontTx/>
              <a:buNone/>
            </a:pPr>
            <a:r>
              <a:rPr lang="en-GB" altLang="en-US" sz="1500" dirty="0" smtClean="0">
                <a:latin typeface="Courier New" pitchFamily="49" charset="0"/>
                <a:cs typeface="Courier New" pitchFamily="49" charset="0"/>
              </a:rPr>
              <a:t>REFIID </a:t>
            </a:r>
            <a:r>
              <a:rPr lang="en-GB" altLang="en-US" sz="1500" dirty="0" err="1" smtClean="0">
                <a:latin typeface="Courier New" pitchFamily="49" charset="0"/>
                <a:cs typeface="Courier New" pitchFamily="49" charset="0"/>
              </a:rPr>
              <a:t>riidltf</a:t>
            </a:r>
            <a:r>
              <a:rPr lang="en-GB" altLang="en-US" sz="1500" dirty="0" smtClean="0">
                <a:latin typeface="Courier New" pitchFamily="49" charset="0"/>
                <a:cs typeface="Courier New" pitchFamily="49" charset="0"/>
              </a:rPr>
              <a:t>,</a:t>
            </a:r>
          </a:p>
          <a:p>
            <a:pPr lvl="1">
              <a:lnSpc>
                <a:spcPct val="80000"/>
              </a:lnSpc>
              <a:buFontTx/>
              <a:buNone/>
            </a:pPr>
            <a:r>
              <a:rPr lang="en-GB" altLang="en-US" sz="1500" dirty="0" smtClean="0">
                <a:latin typeface="Courier New" pitchFamily="49" charset="0"/>
                <a:cs typeface="Courier New" pitchFamily="49" charset="0"/>
              </a:rPr>
              <a:t>LPVOID *</a:t>
            </a:r>
            <a:r>
              <a:rPr lang="en-GB" altLang="en-US" sz="1500" dirty="0" err="1" smtClean="0">
                <a:latin typeface="Courier New" pitchFamily="49" charset="0"/>
                <a:cs typeface="Courier New" pitchFamily="49" charset="0"/>
              </a:rPr>
              <a:t>ppvOut</a:t>
            </a:r>
            <a:r>
              <a:rPr lang="en-GB" altLang="en-US" sz="1500" dirty="0" smtClean="0">
                <a:latin typeface="Courier New" pitchFamily="49" charset="0"/>
                <a:cs typeface="Courier New" pitchFamily="49" charset="0"/>
              </a:rPr>
              <a:t>,</a:t>
            </a:r>
          </a:p>
          <a:p>
            <a:pPr lvl="1">
              <a:lnSpc>
                <a:spcPct val="80000"/>
              </a:lnSpc>
              <a:buFontTx/>
              <a:buNone/>
            </a:pPr>
            <a:r>
              <a:rPr lang="en-GB" altLang="en-US" sz="1500" dirty="0" smtClean="0">
                <a:latin typeface="Courier New" pitchFamily="49" charset="0"/>
                <a:cs typeface="Courier New" pitchFamily="49" charset="0"/>
              </a:rPr>
              <a:t>LPUNKNOWN </a:t>
            </a:r>
            <a:r>
              <a:rPr lang="en-GB" altLang="en-US" sz="1500" dirty="0" err="1" smtClean="0">
                <a:latin typeface="Courier New" pitchFamily="49" charset="0"/>
                <a:cs typeface="Courier New" pitchFamily="49" charset="0"/>
              </a:rPr>
              <a:t>punkOuter</a:t>
            </a:r>
            <a:endParaRPr lang="en-GB" altLang="en-US" sz="1500" dirty="0" smtClean="0">
              <a:latin typeface="Courier New" pitchFamily="49" charset="0"/>
              <a:cs typeface="Courier New" pitchFamily="49" charset="0"/>
            </a:endParaRPr>
          </a:p>
          <a:p>
            <a:pPr lvl="1">
              <a:lnSpc>
                <a:spcPct val="80000"/>
              </a:lnSpc>
              <a:buFontTx/>
              <a:buNone/>
            </a:pPr>
            <a:r>
              <a:rPr lang="en-GB" altLang="en-US" sz="1500" dirty="0" smtClean="0">
                <a:latin typeface="Courier New" pitchFamily="49" charset="0"/>
                <a:cs typeface="Courier New" pitchFamily="49" charset="0"/>
              </a:rPr>
              <a:t>);</a:t>
            </a:r>
          </a:p>
          <a:p>
            <a:pPr lvl="1">
              <a:lnSpc>
                <a:spcPct val="80000"/>
              </a:lnSpc>
              <a:buFontTx/>
              <a:buNone/>
            </a:pPr>
            <a:endParaRPr lang="en-GB" altLang="en-US" sz="1500" dirty="0" smtClean="0">
              <a:solidFill>
                <a:srgbClr val="000066"/>
              </a:solidFill>
              <a:latin typeface="Courier New" pitchFamily="49" charset="0"/>
              <a:cs typeface="Courier New" pitchFamily="49" charset="0"/>
            </a:endParaRPr>
          </a:p>
          <a:p>
            <a:pPr>
              <a:lnSpc>
                <a:spcPct val="80000"/>
              </a:lnSpc>
            </a:pPr>
            <a:r>
              <a:rPr lang="en-MY" altLang="en-US" sz="1800" dirty="0" smtClean="0"/>
              <a:t>Five parameters must be passed to the DirectInput8Create function:</a:t>
            </a:r>
          </a:p>
          <a:p>
            <a:pPr lvl="1">
              <a:lnSpc>
                <a:spcPct val="80000"/>
              </a:lnSpc>
            </a:pPr>
            <a:r>
              <a:rPr lang="en-MY" altLang="en-US" sz="1500" dirty="0" err="1" smtClean="0">
                <a:latin typeface="Courier New" pitchFamily="49" charset="0"/>
                <a:cs typeface="Courier New" pitchFamily="49" charset="0"/>
              </a:rPr>
              <a:t>hInst</a:t>
            </a:r>
            <a:r>
              <a:rPr lang="en-MY" altLang="en-US" sz="1500" dirty="0" smtClean="0"/>
              <a:t> - The instance of the application that is creating the DirectInput object.</a:t>
            </a:r>
          </a:p>
          <a:p>
            <a:pPr lvl="1">
              <a:lnSpc>
                <a:spcPct val="80000"/>
              </a:lnSpc>
            </a:pPr>
            <a:r>
              <a:rPr lang="en-MY" altLang="en-US" sz="1500" dirty="0" err="1" smtClean="0">
                <a:latin typeface="Courier New" pitchFamily="49" charset="0"/>
                <a:cs typeface="Courier New" pitchFamily="49" charset="0"/>
              </a:rPr>
              <a:t>dwVersion</a:t>
            </a:r>
            <a:r>
              <a:rPr lang="en-MY" altLang="en-US" sz="1500" dirty="0" smtClean="0"/>
              <a:t> - The version number of DirectInput that this application requires. The standard value for this parameter is DIRECTINPUT_VERSION.</a:t>
            </a:r>
          </a:p>
          <a:p>
            <a:pPr lvl="1">
              <a:lnSpc>
                <a:spcPct val="80000"/>
              </a:lnSpc>
            </a:pPr>
            <a:r>
              <a:rPr lang="en-MY" altLang="en-US" sz="1500" dirty="0" err="1" smtClean="0">
                <a:latin typeface="Courier New" pitchFamily="49" charset="0"/>
                <a:cs typeface="Courier New" pitchFamily="49" charset="0"/>
              </a:rPr>
              <a:t>Riidltf</a:t>
            </a:r>
            <a:r>
              <a:rPr lang="en-MY" altLang="en-US" sz="1500" dirty="0" smtClean="0"/>
              <a:t> - The identifier of the required interface. Using the default value of IID_IDirectInput8 is acceptable for this parameter.</a:t>
            </a:r>
          </a:p>
          <a:p>
            <a:pPr lvl="1">
              <a:lnSpc>
                <a:spcPct val="80000"/>
              </a:lnSpc>
            </a:pPr>
            <a:r>
              <a:rPr lang="en-MY" altLang="en-US" sz="1500" dirty="0" err="1" smtClean="0">
                <a:latin typeface="Courier New" pitchFamily="49" charset="0"/>
                <a:cs typeface="Courier New" pitchFamily="49" charset="0"/>
              </a:rPr>
              <a:t>ppvOut</a:t>
            </a:r>
            <a:r>
              <a:rPr lang="en-MY" altLang="en-US" sz="1500" dirty="0" smtClean="0"/>
              <a:t> - The pointer to the variable that will hold the created DirectInput object.</a:t>
            </a:r>
          </a:p>
          <a:p>
            <a:pPr lvl="1">
              <a:lnSpc>
                <a:spcPct val="80000"/>
              </a:lnSpc>
            </a:pPr>
            <a:r>
              <a:rPr lang="en-MY" altLang="en-US" sz="1500" dirty="0" err="1" smtClean="0">
                <a:latin typeface="Courier New" pitchFamily="49" charset="0"/>
                <a:cs typeface="Courier New" pitchFamily="49" charset="0"/>
              </a:rPr>
              <a:t>punkOuter</a:t>
            </a:r>
            <a:r>
              <a:rPr lang="en-MY" altLang="en-US" sz="1500" dirty="0" smtClean="0"/>
              <a:t> - This parameter is normally set to NULL.</a:t>
            </a:r>
            <a:endParaRPr lang="en-GB" altLang="en-US" sz="1500" dirty="0" smtClean="0"/>
          </a:p>
        </p:txBody>
      </p:sp>
    </p:spTree>
    <p:extLst>
      <p:ext uri="{BB962C8B-B14F-4D97-AF65-F5344CB8AC3E}">
        <p14:creationId xmlns:p14="http://schemas.microsoft.com/office/powerpoint/2010/main" val="2254663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GB" altLang="en-US" smtClean="0"/>
              <a:t>STEP2: Creating DirectInput Object</a:t>
            </a:r>
          </a:p>
        </p:txBody>
      </p:sp>
      <p:sp>
        <p:nvSpPr>
          <p:cNvPr id="15363" name="Content Placeholder 2"/>
          <p:cNvSpPr>
            <a:spLocks noGrp="1"/>
          </p:cNvSpPr>
          <p:nvPr>
            <p:ph idx="1"/>
          </p:nvPr>
        </p:nvSpPr>
        <p:spPr/>
        <p:txBody>
          <a:bodyPr/>
          <a:lstStyle/>
          <a:p>
            <a:pPr>
              <a:lnSpc>
                <a:spcPct val="90000"/>
              </a:lnSpc>
            </a:pPr>
            <a:r>
              <a:rPr lang="en-GB" altLang="en-US" dirty="0" smtClean="0"/>
              <a:t>Example for creating DirectInput Object</a:t>
            </a:r>
          </a:p>
          <a:p>
            <a:pPr>
              <a:lnSpc>
                <a:spcPct val="90000"/>
              </a:lnSpc>
              <a:buFontTx/>
              <a:buNone/>
            </a:pPr>
            <a:endParaRPr lang="en-GB" altLang="en-US" dirty="0" smtClean="0"/>
          </a:p>
          <a:p>
            <a:pPr>
              <a:lnSpc>
                <a:spcPct val="90000"/>
              </a:lnSpc>
              <a:buFontTx/>
              <a:buNone/>
            </a:pPr>
            <a:r>
              <a:rPr lang="en-MY" altLang="en-US" sz="1800" dirty="0" smtClean="0">
                <a:latin typeface="Courier New" pitchFamily="49" charset="0"/>
                <a:cs typeface="Courier New" pitchFamily="49" charset="0"/>
              </a:rPr>
              <a:t>HRESULT </a:t>
            </a:r>
            <a:r>
              <a:rPr lang="en-MY" altLang="en-US" sz="1800" dirty="0" err="1" smtClean="0">
                <a:latin typeface="Courier New" pitchFamily="49" charset="0"/>
                <a:cs typeface="Courier New" pitchFamily="49" charset="0"/>
              </a:rPr>
              <a:t>hr</a:t>
            </a:r>
            <a:r>
              <a:rPr lang="en-MY" altLang="en-US" sz="1800" dirty="0" smtClean="0">
                <a:latin typeface="Courier New" pitchFamily="49" charset="0"/>
                <a:cs typeface="Courier New" pitchFamily="49" charset="0"/>
              </a:rPr>
              <a:t>; // variable used to hold return codes</a:t>
            </a:r>
          </a:p>
          <a:p>
            <a:pPr>
              <a:lnSpc>
                <a:spcPct val="90000"/>
              </a:lnSpc>
              <a:buFontTx/>
              <a:buNone/>
            </a:pPr>
            <a:r>
              <a:rPr lang="en-MY" altLang="en-US" sz="1800" dirty="0" smtClean="0">
                <a:latin typeface="Courier New" pitchFamily="49" charset="0"/>
                <a:cs typeface="Courier New" pitchFamily="49" charset="0"/>
              </a:rPr>
              <a:t>LPDIRECTINPUT8 </a:t>
            </a:r>
            <a:r>
              <a:rPr lang="en-MY" altLang="en-US" sz="1800" dirty="0" err="1" smtClean="0">
                <a:latin typeface="Courier New" pitchFamily="49" charset="0"/>
                <a:cs typeface="Courier New" pitchFamily="49" charset="0"/>
              </a:rPr>
              <a:t>DI_Object</a:t>
            </a:r>
            <a:r>
              <a:rPr lang="en-MY" altLang="en-US" sz="1800" dirty="0" smtClean="0">
                <a:latin typeface="Courier New" pitchFamily="49" charset="0"/>
                <a:cs typeface="Courier New" pitchFamily="49" charset="0"/>
              </a:rPr>
              <a:t>; // the DirectInput object</a:t>
            </a:r>
          </a:p>
          <a:p>
            <a:pPr>
              <a:lnSpc>
                <a:spcPct val="90000"/>
              </a:lnSpc>
              <a:buFontTx/>
              <a:buNone/>
            </a:pPr>
            <a:endParaRPr lang="en-MY" altLang="en-US" sz="1800" dirty="0" smtClean="0">
              <a:latin typeface="Courier New" pitchFamily="49" charset="0"/>
              <a:cs typeface="Courier New" pitchFamily="49" charset="0"/>
            </a:endParaRPr>
          </a:p>
          <a:p>
            <a:pPr>
              <a:lnSpc>
                <a:spcPct val="90000"/>
              </a:lnSpc>
              <a:buFontTx/>
              <a:buNone/>
            </a:pPr>
            <a:r>
              <a:rPr lang="en-GB" altLang="en-US" sz="1800" dirty="0" smtClean="0">
                <a:latin typeface="Courier New" pitchFamily="49" charset="0"/>
                <a:cs typeface="Courier New" pitchFamily="49" charset="0"/>
              </a:rPr>
              <a:t>// Create the DirectInput object</a:t>
            </a:r>
          </a:p>
          <a:p>
            <a:pPr>
              <a:lnSpc>
                <a:spcPct val="90000"/>
              </a:lnSpc>
              <a:buFontTx/>
              <a:buNone/>
            </a:pP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 DirectInput8Create( </a:t>
            </a:r>
            <a:r>
              <a:rPr lang="en-GB" altLang="en-US" sz="1800" dirty="0" err="1" smtClean="0">
                <a:latin typeface="Courier New" pitchFamily="49" charset="0"/>
                <a:cs typeface="Courier New" pitchFamily="49" charset="0"/>
              </a:rPr>
              <a:t>hInst</a:t>
            </a:r>
            <a:r>
              <a:rPr lang="en-GB" altLang="en-US" sz="1800" dirty="0" smtClean="0">
                <a:latin typeface="Courier New" pitchFamily="49" charset="0"/>
                <a:cs typeface="Courier New" pitchFamily="49" charset="0"/>
              </a:rPr>
              <a:t>,</a:t>
            </a:r>
          </a:p>
          <a:p>
            <a:pPr lvl="4">
              <a:lnSpc>
                <a:spcPct val="90000"/>
              </a:lnSpc>
              <a:buFontTx/>
              <a:buNone/>
            </a:pPr>
            <a:r>
              <a:rPr lang="en-GB" altLang="en-US" sz="1800" dirty="0" smtClean="0">
                <a:latin typeface="Courier New" pitchFamily="49" charset="0"/>
                <a:cs typeface="Courier New" pitchFamily="49" charset="0"/>
              </a:rPr>
              <a:t>DIRECTINPUT_VERSION,</a:t>
            </a:r>
          </a:p>
          <a:p>
            <a:pPr lvl="4">
              <a:lnSpc>
                <a:spcPct val="90000"/>
              </a:lnSpc>
              <a:buFontTx/>
              <a:buNone/>
            </a:pPr>
            <a:r>
              <a:rPr lang="en-GB" altLang="en-US" sz="1800" dirty="0" smtClean="0">
                <a:latin typeface="Courier New" pitchFamily="49" charset="0"/>
                <a:cs typeface="Courier New" pitchFamily="49" charset="0"/>
              </a:rPr>
              <a:t>IID_IDirectInput8,</a:t>
            </a:r>
          </a:p>
          <a:p>
            <a:pPr lvl="4">
              <a:lnSpc>
                <a:spcPct val="90000"/>
              </a:lnSpc>
              <a:buFontTx/>
              <a:buNone/>
            </a:pPr>
            <a:r>
              <a:rPr lang="en-GB" altLang="en-US" sz="1800" dirty="0" smtClean="0">
                <a:latin typeface="Courier New" pitchFamily="49" charset="0"/>
                <a:cs typeface="Courier New" pitchFamily="49" charset="0"/>
              </a:rPr>
              <a:t>(void** )&amp;</a:t>
            </a:r>
            <a:r>
              <a:rPr lang="en-GB" altLang="en-US" sz="1800" dirty="0" err="1" smtClean="0">
                <a:latin typeface="Courier New" pitchFamily="49" charset="0"/>
                <a:cs typeface="Courier New" pitchFamily="49" charset="0"/>
              </a:rPr>
              <a:t>DI_Object</a:t>
            </a:r>
            <a:r>
              <a:rPr lang="en-GB" altLang="en-US" sz="1800" dirty="0" smtClean="0">
                <a:latin typeface="Courier New" pitchFamily="49" charset="0"/>
                <a:cs typeface="Courier New" pitchFamily="49" charset="0"/>
              </a:rPr>
              <a:t>,</a:t>
            </a:r>
          </a:p>
          <a:p>
            <a:pPr lvl="4">
              <a:lnSpc>
                <a:spcPct val="90000"/>
              </a:lnSpc>
              <a:buFontTx/>
              <a:buNone/>
            </a:pPr>
            <a:r>
              <a:rPr lang="en-GB" altLang="en-US" sz="1800" dirty="0" smtClean="0">
                <a:latin typeface="Courier New" pitchFamily="49" charset="0"/>
                <a:cs typeface="Courier New" pitchFamily="49" charset="0"/>
              </a:rPr>
              <a:t>NULL );</a:t>
            </a:r>
          </a:p>
          <a:p>
            <a:pPr>
              <a:lnSpc>
                <a:spcPct val="90000"/>
              </a:lnSpc>
              <a:buFontTx/>
              <a:buNone/>
            </a:pPr>
            <a:endParaRPr lang="en-GB" altLang="en-US" sz="1800" dirty="0" smtClean="0">
              <a:latin typeface="Courier New" pitchFamily="49" charset="0"/>
              <a:cs typeface="Courier New" pitchFamily="49" charset="0"/>
            </a:endParaRPr>
          </a:p>
          <a:p>
            <a:pPr>
              <a:lnSpc>
                <a:spcPct val="90000"/>
              </a:lnSpc>
              <a:buFontTx/>
              <a:buNone/>
            </a:pPr>
            <a:r>
              <a:rPr lang="en-MY" altLang="en-US" sz="1800" dirty="0" smtClean="0">
                <a:latin typeface="Courier New" pitchFamily="49" charset="0"/>
                <a:cs typeface="Courier New" pitchFamily="49" charset="0"/>
              </a:rPr>
              <a:t>// Check the return code for DirectInput8Create</a:t>
            </a:r>
          </a:p>
          <a:p>
            <a:pPr>
              <a:lnSpc>
                <a:spcPct val="90000"/>
              </a:lnSpc>
              <a:buFontTx/>
              <a:buNone/>
            </a:pPr>
            <a:r>
              <a:rPr lang="en-GB" altLang="en-US" sz="1800" dirty="0" smtClean="0">
                <a:latin typeface="Courier New" pitchFamily="49" charset="0"/>
                <a:cs typeface="Courier New" pitchFamily="49" charset="0"/>
              </a:rPr>
              <a:t>if FAILED( </a:t>
            </a: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a:t>
            </a:r>
          </a:p>
          <a:p>
            <a:pPr>
              <a:lnSpc>
                <a:spcPct val="90000"/>
              </a:lnSpc>
              <a:buFontTx/>
              <a:buNone/>
            </a:pPr>
            <a:r>
              <a:rPr lang="en-GB" altLang="en-US" sz="1800" dirty="0" smtClean="0">
                <a:latin typeface="Courier New" pitchFamily="49" charset="0"/>
                <a:cs typeface="Courier New" pitchFamily="49" charset="0"/>
              </a:rPr>
              <a:t>	return false;</a:t>
            </a:r>
          </a:p>
        </p:txBody>
      </p:sp>
    </p:spTree>
    <p:extLst>
      <p:ext uri="{BB962C8B-B14F-4D97-AF65-F5344CB8AC3E}">
        <p14:creationId xmlns:p14="http://schemas.microsoft.com/office/powerpoint/2010/main" val="3389837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normAutofit fontScale="90000"/>
          </a:bodyPr>
          <a:lstStyle/>
          <a:p>
            <a:r>
              <a:rPr lang="en-GB" altLang="en-US" smtClean="0"/>
              <a:t>STEP3: Creating DirectInput Hardware</a:t>
            </a:r>
          </a:p>
        </p:txBody>
      </p:sp>
      <p:sp>
        <p:nvSpPr>
          <p:cNvPr id="17411" name="Content Placeholder 2"/>
          <p:cNvSpPr>
            <a:spLocks noGrp="1"/>
          </p:cNvSpPr>
          <p:nvPr>
            <p:ph idx="1"/>
          </p:nvPr>
        </p:nvSpPr>
        <p:spPr/>
        <p:txBody>
          <a:bodyPr>
            <a:noAutofit/>
          </a:bodyPr>
          <a:lstStyle/>
          <a:p>
            <a:r>
              <a:rPr lang="en-MY" altLang="en-US" sz="2400" dirty="0" smtClean="0"/>
              <a:t>The following code assumes that you want to create a DirectInput device for an installed </a:t>
            </a:r>
            <a:r>
              <a:rPr lang="en-GB" altLang="en-US" sz="2400" dirty="0" smtClean="0"/>
              <a:t>system keyboard.</a:t>
            </a:r>
            <a:endParaRPr lang="en-GB" altLang="en-US" sz="3200" dirty="0" smtClean="0"/>
          </a:p>
          <a:p>
            <a:pPr lvl="1">
              <a:buFontTx/>
              <a:buNone/>
            </a:pPr>
            <a:r>
              <a:rPr lang="en-MY" altLang="en-US" sz="1800" dirty="0" smtClean="0">
                <a:latin typeface="Courier New" pitchFamily="49" charset="0"/>
                <a:cs typeface="Courier New" pitchFamily="49" charset="0"/>
              </a:rPr>
              <a:t>HRESULT </a:t>
            </a:r>
            <a:r>
              <a:rPr lang="en-MY" altLang="en-US" sz="1800" dirty="0" err="1" smtClean="0">
                <a:latin typeface="Courier New" pitchFamily="49" charset="0"/>
                <a:cs typeface="Courier New" pitchFamily="49" charset="0"/>
              </a:rPr>
              <a:t>hr</a:t>
            </a:r>
            <a:r>
              <a:rPr lang="en-MY" altLang="en-US" sz="1800" dirty="0" smtClean="0">
                <a:latin typeface="Courier New" pitchFamily="49" charset="0"/>
                <a:cs typeface="Courier New" pitchFamily="49" charset="0"/>
              </a:rPr>
              <a:t>; // variable used to hold function return codes</a:t>
            </a:r>
          </a:p>
          <a:p>
            <a:pPr lvl="1">
              <a:buFontTx/>
              <a:buNone/>
            </a:pPr>
            <a:r>
              <a:rPr lang="en-GB" altLang="en-US" sz="1800" dirty="0" smtClean="0">
                <a:latin typeface="Courier New" pitchFamily="49" charset="0"/>
                <a:cs typeface="Courier New" pitchFamily="49" charset="0"/>
              </a:rPr>
              <a:t>LPDIRECTINPUTDEVICE8 </a:t>
            </a:r>
            <a:r>
              <a:rPr lang="en-GB" altLang="en-US" sz="1800" dirty="0" err="1" smtClean="0">
                <a:latin typeface="Courier New" pitchFamily="49" charset="0"/>
                <a:cs typeface="Courier New" pitchFamily="49" charset="0"/>
              </a:rPr>
              <a:t>DI_Device</a:t>
            </a:r>
            <a:r>
              <a:rPr lang="en-GB" altLang="en-US" sz="1800" dirty="0" smtClean="0">
                <a:latin typeface="Courier New" pitchFamily="49" charset="0"/>
                <a:cs typeface="Courier New" pitchFamily="49" charset="0"/>
              </a:rPr>
              <a:t>; // the DirectInput device</a:t>
            </a:r>
          </a:p>
          <a:p>
            <a:pPr lvl="1">
              <a:buFontTx/>
              <a:buNone/>
            </a:pPr>
            <a:endParaRPr lang="en-GB" altLang="en-US" sz="1800" dirty="0" smtClean="0">
              <a:latin typeface="Courier New" pitchFamily="49" charset="0"/>
              <a:cs typeface="Courier New" pitchFamily="49" charset="0"/>
            </a:endParaRPr>
          </a:p>
          <a:p>
            <a:pPr lvl="1">
              <a:buFontTx/>
              <a:buNone/>
            </a:pPr>
            <a:r>
              <a:rPr lang="en-MY" altLang="en-US" sz="1800" dirty="0" smtClean="0">
                <a:latin typeface="Courier New" pitchFamily="49" charset="0"/>
                <a:cs typeface="Courier New" pitchFamily="49" charset="0"/>
              </a:rPr>
              <a:t>// Retrieve a pointer to an IDirectInputDevice8 interface</a:t>
            </a:r>
          </a:p>
          <a:p>
            <a:pPr lvl="1">
              <a:buFontTx/>
              <a:buNone/>
            </a:pPr>
            <a:r>
              <a:rPr lang="en-MY" altLang="en-US" sz="1800" dirty="0" err="1" smtClean="0">
                <a:latin typeface="Courier New" pitchFamily="49" charset="0"/>
                <a:cs typeface="Courier New" pitchFamily="49" charset="0"/>
              </a:rPr>
              <a:t>hr</a:t>
            </a:r>
            <a:r>
              <a:rPr lang="en-MY" altLang="en-US" sz="1800" dirty="0" smtClean="0">
                <a:latin typeface="Courier New" pitchFamily="49" charset="0"/>
                <a:cs typeface="Courier New" pitchFamily="49" charset="0"/>
              </a:rPr>
              <a:t> = </a:t>
            </a:r>
            <a:r>
              <a:rPr lang="en-MY" altLang="en-US" sz="1800" dirty="0" err="1" smtClean="0">
                <a:latin typeface="Courier New" pitchFamily="49" charset="0"/>
                <a:cs typeface="Courier New" pitchFamily="49" charset="0"/>
              </a:rPr>
              <a:t>DI_object</a:t>
            </a:r>
            <a:r>
              <a:rPr lang="en-MY" altLang="en-US" sz="1800" dirty="0" smtClean="0">
                <a:latin typeface="Courier New" pitchFamily="49" charset="0"/>
                <a:cs typeface="Courier New" pitchFamily="49" charset="0"/>
              </a:rPr>
              <a:t> -&gt;</a:t>
            </a:r>
            <a:r>
              <a:rPr lang="en-MY" altLang="en-US" sz="1800" dirty="0" err="1" smtClean="0">
                <a:latin typeface="Courier New" pitchFamily="49" charset="0"/>
                <a:cs typeface="Courier New" pitchFamily="49" charset="0"/>
              </a:rPr>
              <a:t>CreateDevice</a:t>
            </a:r>
            <a:r>
              <a:rPr lang="en-MY" altLang="en-US" sz="1800" dirty="0" smtClean="0">
                <a:latin typeface="Courier New" pitchFamily="49" charset="0"/>
                <a:cs typeface="Courier New" pitchFamily="49" charset="0"/>
              </a:rPr>
              <a:t>( </a:t>
            </a:r>
            <a:r>
              <a:rPr lang="en-MY" altLang="en-US" sz="1800" dirty="0" err="1" smtClean="0">
                <a:latin typeface="Courier New" pitchFamily="49" charset="0"/>
                <a:cs typeface="Courier New" pitchFamily="49" charset="0"/>
              </a:rPr>
              <a:t>GUID_SysKeyboard</a:t>
            </a:r>
            <a:r>
              <a:rPr lang="en-MY" altLang="en-US" sz="1800" dirty="0" smtClean="0">
                <a:latin typeface="Courier New" pitchFamily="49" charset="0"/>
                <a:cs typeface="Courier New" pitchFamily="49" charset="0"/>
              </a:rPr>
              <a:t>, </a:t>
            </a:r>
          </a:p>
          <a:p>
            <a:pPr lvl="1">
              <a:buFontTx/>
              <a:buNone/>
            </a:pPr>
            <a:r>
              <a:rPr lang="en-MY" altLang="en-US" sz="1800" dirty="0" smtClean="0">
                <a:latin typeface="Courier New" pitchFamily="49" charset="0"/>
                <a:cs typeface="Courier New" pitchFamily="49" charset="0"/>
              </a:rPr>
              <a:t>					&amp;</a:t>
            </a:r>
            <a:r>
              <a:rPr lang="en-MY" altLang="en-US" sz="1800" dirty="0" err="1" smtClean="0">
                <a:latin typeface="Courier New" pitchFamily="49" charset="0"/>
                <a:cs typeface="Courier New" pitchFamily="49" charset="0"/>
              </a:rPr>
              <a:t>DI_Device</a:t>
            </a:r>
            <a:r>
              <a:rPr lang="en-MY" altLang="en-US" sz="1800" dirty="0" smtClean="0">
                <a:latin typeface="Courier New" pitchFamily="49" charset="0"/>
                <a:cs typeface="Courier New" pitchFamily="49" charset="0"/>
              </a:rPr>
              <a:t>, NULL );</a:t>
            </a:r>
          </a:p>
          <a:p>
            <a:pPr lvl="1">
              <a:buFontTx/>
              <a:buNone/>
            </a:pPr>
            <a:endParaRPr lang="en-MY" altLang="en-US" sz="1800" dirty="0" smtClean="0">
              <a:latin typeface="Courier New" pitchFamily="49" charset="0"/>
              <a:cs typeface="Courier New" pitchFamily="49" charset="0"/>
            </a:endParaRPr>
          </a:p>
          <a:p>
            <a:pPr lvl="1">
              <a:buFontTx/>
              <a:buNone/>
            </a:pPr>
            <a:r>
              <a:rPr lang="en-MY" altLang="en-US" sz="1800" dirty="0" smtClean="0">
                <a:latin typeface="Courier New" pitchFamily="49" charset="0"/>
                <a:cs typeface="Courier New" pitchFamily="49" charset="0"/>
              </a:rPr>
              <a:t>// Check the return code from </a:t>
            </a:r>
            <a:r>
              <a:rPr lang="en-MY" altLang="en-US" sz="1800" dirty="0" err="1" smtClean="0">
                <a:latin typeface="Courier New" pitchFamily="49" charset="0"/>
                <a:cs typeface="Courier New" pitchFamily="49" charset="0"/>
              </a:rPr>
              <a:t>CreateDevice</a:t>
            </a:r>
            <a:endParaRPr lang="en-MY" altLang="en-US" sz="1800" dirty="0" smtClean="0">
              <a:latin typeface="Courier New" pitchFamily="49" charset="0"/>
              <a:cs typeface="Courier New" pitchFamily="49" charset="0"/>
            </a:endParaRPr>
          </a:p>
          <a:p>
            <a:pPr lvl="1">
              <a:buFontTx/>
              <a:buNone/>
            </a:pPr>
            <a:r>
              <a:rPr lang="en-GB" altLang="en-US" sz="1800" dirty="0" smtClean="0">
                <a:latin typeface="Courier New" pitchFamily="49" charset="0"/>
                <a:cs typeface="Courier New" pitchFamily="49" charset="0"/>
              </a:rPr>
              <a:t>if FAILED( </a:t>
            </a: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a:t>
            </a:r>
          </a:p>
          <a:p>
            <a:pPr lvl="1">
              <a:buFontTx/>
              <a:buNone/>
            </a:pPr>
            <a:r>
              <a:rPr lang="en-GB" altLang="en-US" sz="1800" dirty="0" smtClean="0">
                <a:latin typeface="Courier New" pitchFamily="49" charset="0"/>
                <a:cs typeface="Courier New" pitchFamily="49" charset="0"/>
              </a:rPr>
              <a:t>	return false</a:t>
            </a:r>
          </a:p>
        </p:txBody>
      </p:sp>
    </p:spTree>
    <p:extLst>
      <p:ext uri="{BB962C8B-B14F-4D97-AF65-F5344CB8AC3E}">
        <p14:creationId xmlns:p14="http://schemas.microsoft.com/office/powerpoint/2010/main" val="2017241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altLang="en-US" smtClean="0"/>
              <a:t>STEP4: Setting the Data Format</a:t>
            </a:r>
          </a:p>
        </p:txBody>
      </p:sp>
      <p:sp>
        <p:nvSpPr>
          <p:cNvPr id="18435" name="Content Placeholder 2"/>
          <p:cNvSpPr>
            <a:spLocks noGrp="1"/>
          </p:cNvSpPr>
          <p:nvPr>
            <p:ph idx="1"/>
          </p:nvPr>
        </p:nvSpPr>
        <p:spPr/>
        <p:txBody>
          <a:bodyPr/>
          <a:lstStyle/>
          <a:p>
            <a:pPr>
              <a:lnSpc>
                <a:spcPct val="80000"/>
              </a:lnSpc>
            </a:pPr>
            <a:r>
              <a:rPr lang="en-MY" altLang="en-US" sz="1800" dirty="0" smtClean="0"/>
              <a:t>After you’ve created a valid DirectInput device, you need to set up the data format that DirectInput will use to read input from the device. The </a:t>
            </a:r>
            <a:r>
              <a:rPr lang="en-MY" altLang="en-US" sz="1800" dirty="0" err="1" smtClean="0"/>
              <a:t>SetDataFormat</a:t>
            </a:r>
            <a:r>
              <a:rPr lang="en-MY" altLang="en-US" sz="1800" dirty="0" smtClean="0"/>
              <a:t> function defined next requires a DIDATAFORMAT structure as its only parameter.</a:t>
            </a:r>
          </a:p>
          <a:p>
            <a:pPr>
              <a:lnSpc>
                <a:spcPct val="80000"/>
              </a:lnSpc>
            </a:pPr>
            <a:endParaRPr lang="en-MY" altLang="en-US" sz="1800" dirty="0" smtClean="0"/>
          </a:p>
          <a:p>
            <a:pPr lvl="1">
              <a:lnSpc>
                <a:spcPct val="80000"/>
              </a:lnSpc>
              <a:buFontTx/>
              <a:buNone/>
            </a:pPr>
            <a:r>
              <a:rPr lang="en-GB" altLang="en-US" sz="1600" dirty="0" smtClean="0">
                <a:latin typeface="Courier New" pitchFamily="49" charset="0"/>
                <a:cs typeface="Courier New" pitchFamily="49" charset="0"/>
              </a:rPr>
              <a:t>HRESULT </a:t>
            </a:r>
            <a:r>
              <a:rPr lang="en-GB" altLang="en-US" sz="1600" dirty="0" err="1" smtClean="0">
                <a:latin typeface="Courier New" pitchFamily="49" charset="0"/>
                <a:cs typeface="Courier New" pitchFamily="49" charset="0"/>
              </a:rPr>
              <a:t>SetDataFormat</a:t>
            </a:r>
            <a:r>
              <a:rPr lang="en-GB" altLang="en-US" sz="1600" dirty="0" smtClean="0">
                <a:latin typeface="Courier New" pitchFamily="49" charset="0"/>
                <a:cs typeface="Courier New" pitchFamily="49" charset="0"/>
              </a:rPr>
              <a:t> (</a:t>
            </a:r>
          </a:p>
          <a:p>
            <a:pPr lvl="1">
              <a:lnSpc>
                <a:spcPct val="80000"/>
              </a:lnSpc>
              <a:buFontTx/>
              <a:buNone/>
            </a:pPr>
            <a:r>
              <a:rPr lang="en-GB" altLang="en-US" sz="1600" dirty="0" smtClean="0">
                <a:latin typeface="Courier New" pitchFamily="49" charset="0"/>
                <a:cs typeface="Courier New" pitchFamily="49" charset="0"/>
              </a:rPr>
              <a:t>	LPCDIDATAFORMAT </a:t>
            </a:r>
            <a:r>
              <a:rPr lang="en-GB" altLang="en-US" sz="1600" dirty="0" err="1" smtClean="0">
                <a:latin typeface="Courier New" pitchFamily="49" charset="0"/>
                <a:cs typeface="Courier New" pitchFamily="49" charset="0"/>
              </a:rPr>
              <a:t>lpdf</a:t>
            </a:r>
            <a:endParaRPr lang="en-GB" altLang="en-US" sz="1600" dirty="0" smtClean="0">
              <a:latin typeface="Courier New" pitchFamily="49" charset="0"/>
              <a:cs typeface="Courier New" pitchFamily="49" charset="0"/>
            </a:endParaRPr>
          </a:p>
          <a:p>
            <a:pPr lvl="1">
              <a:lnSpc>
                <a:spcPct val="80000"/>
              </a:lnSpc>
              <a:buFontTx/>
              <a:buNone/>
            </a:pPr>
            <a:r>
              <a:rPr lang="en-GB" altLang="en-US" sz="1600" dirty="0" smtClean="0">
                <a:latin typeface="Courier New" pitchFamily="49" charset="0"/>
                <a:cs typeface="Courier New" pitchFamily="49" charset="0"/>
              </a:rPr>
              <a:t>);</a:t>
            </a:r>
          </a:p>
          <a:p>
            <a:pPr>
              <a:lnSpc>
                <a:spcPct val="80000"/>
              </a:lnSpc>
            </a:pPr>
            <a:endParaRPr lang="en-GB" altLang="en-US" sz="1800" dirty="0" smtClean="0"/>
          </a:p>
          <a:p>
            <a:pPr>
              <a:lnSpc>
                <a:spcPct val="80000"/>
              </a:lnSpc>
            </a:pPr>
            <a:r>
              <a:rPr lang="en-MY" altLang="en-US" sz="1800" dirty="0" smtClean="0"/>
              <a:t>The DIDATAFORMAT structure describes various elements of the device for DirectInput. The DIDATAFORMAT structure is defined here:</a:t>
            </a:r>
          </a:p>
          <a:p>
            <a:pPr>
              <a:lnSpc>
                <a:spcPct val="80000"/>
              </a:lnSpc>
            </a:pPr>
            <a:endParaRPr lang="en-GB" altLang="en-US" sz="1800" dirty="0" smtClean="0"/>
          </a:p>
          <a:p>
            <a:pPr lvl="1">
              <a:lnSpc>
                <a:spcPct val="80000"/>
              </a:lnSpc>
              <a:buFontTx/>
              <a:buNone/>
            </a:pPr>
            <a:r>
              <a:rPr lang="en-GB" altLang="en-US" sz="1600" dirty="0" err="1" smtClean="0">
                <a:latin typeface="Courier New" pitchFamily="49" charset="0"/>
                <a:cs typeface="Courier New" pitchFamily="49" charset="0"/>
              </a:rPr>
              <a:t>typedef</a:t>
            </a:r>
            <a:r>
              <a:rPr lang="en-GB" altLang="en-US" sz="1600" dirty="0" smtClean="0">
                <a:latin typeface="Courier New" pitchFamily="49" charset="0"/>
                <a:cs typeface="Courier New" pitchFamily="49" charset="0"/>
              </a:rPr>
              <a:t> </a:t>
            </a:r>
            <a:r>
              <a:rPr lang="en-GB" altLang="en-US" sz="1600" dirty="0" err="1" smtClean="0">
                <a:latin typeface="Courier New" pitchFamily="49" charset="0"/>
                <a:cs typeface="Courier New" pitchFamily="49" charset="0"/>
              </a:rPr>
              <a:t>struct</a:t>
            </a:r>
            <a:r>
              <a:rPr lang="en-GB" altLang="en-US" sz="1600" dirty="0" smtClean="0">
                <a:latin typeface="Courier New" pitchFamily="49" charset="0"/>
                <a:cs typeface="Courier New" pitchFamily="49" charset="0"/>
              </a:rPr>
              <a:t> DIDATAFORMAT {</a:t>
            </a:r>
          </a:p>
          <a:p>
            <a:pPr lvl="2">
              <a:lnSpc>
                <a:spcPct val="80000"/>
              </a:lnSpc>
              <a:buFontTx/>
              <a:buNone/>
            </a:pPr>
            <a:r>
              <a:rPr lang="en-GB" altLang="en-US" sz="1600" dirty="0" smtClean="0">
                <a:latin typeface="Courier New" pitchFamily="49" charset="0"/>
                <a:cs typeface="Courier New" pitchFamily="49" charset="0"/>
              </a:rPr>
              <a:t>DWORD </a:t>
            </a:r>
            <a:r>
              <a:rPr lang="en-GB" altLang="en-US" sz="1600" dirty="0" err="1" smtClean="0">
                <a:latin typeface="Courier New" pitchFamily="49" charset="0"/>
                <a:cs typeface="Courier New" pitchFamily="49" charset="0"/>
              </a:rPr>
              <a:t>dwSize</a:t>
            </a:r>
            <a:r>
              <a:rPr lang="en-GB" altLang="en-US" sz="1600" dirty="0" smtClean="0">
                <a:latin typeface="Courier New" pitchFamily="49" charset="0"/>
                <a:cs typeface="Courier New" pitchFamily="49" charset="0"/>
              </a:rPr>
              <a:t>;</a:t>
            </a:r>
          </a:p>
          <a:p>
            <a:pPr lvl="2">
              <a:lnSpc>
                <a:spcPct val="80000"/>
              </a:lnSpc>
              <a:buFontTx/>
              <a:buNone/>
            </a:pPr>
            <a:r>
              <a:rPr lang="en-GB" altLang="en-US" sz="1600" dirty="0" smtClean="0">
                <a:latin typeface="Courier New" pitchFamily="49" charset="0"/>
                <a:cs typeface="Courier New" pitchFamily="49" charset="0"/>
              </a:rPr>
              <a:t>DWORD </a:t>
            </a:r>
            <a:r>
              <a:rPr lang="en-GB" altLang="en-US" sz="1600" dirty="0" err="1" smtClean="0">
                <a:latin typeface="Courier New" pitchFamily="49" charset="0"/>
                <a:cs typeface="Courier New" pitchFamily="49" charset="0"/>
              </a:rPr>
              <a:t>dwObjSize</a:t>
            </a:r>
            <a:r>
              <a:rPr lang="en-GB" altLang="en-US" sz="1600" dirty="0" smtClean="0">
                <a:latin typeface="Courier New" pitchFamily="49" charset="0"/>
                <a:cs typeface="Courier New" pitchFamily="49" charset="0"/>
              </a:rPr>
              <a:t>;</a:t>
            </a:r>
          </a:p>
          <a:p>
            <a:pPr lvl="2">
              <a:lnSpc>
                <a:spcPct val="80000"/>
              </a:lnSpc>
              <a:buFontTx/>
              <a:buNone/>
            </a:pPr>
            <a:r>
              <a:rPr lang="en-GB" altLang="en-US" sz="1600" dirty="0" smtClean="0">
                <a:latin typeface="Courier New" pitchFamily="49" charset="0"/>
                <a:cs typeface="Courier New" pitchFamily="49" charset="0"/>
              </a:rPr>
              <a:t>DWORD </a:t>
            </a:r>
            <a:r>
              <a:rPr lang="en-GB" altLang="en-US" sz="1600" dirty="0" err="1" smtClean="0">
                <a:latin typeface="Courier New" pitchFamily="49" charset="0"/>
                <a:cs typeface="Courier New" pitchFamily="49" charset="0"/>
              </a:rPr>
              <a:t>dwFlags</a:t>
            </a:r>
            <a:r>
              <a:rPr lang="en-GB" altLang="en-US" sz="1600" dirty="0" smtClean="0">
                <a:latin typeface="Courier New" pitchFamily="49" charset="0"/>
                <a:cs typeface="Courier New" pitchFamily="49" charset="0"/>
              </a:rPr>
              <a:t>;</a:t>
            </a:r>
          </a:p>
          <a:p>
            <a:pPr lvl="2">
              <a:lnSpc>
                <a:spcPct val="80000"/>
              </a:lnSpc>
              <a:buFontTx/>
              <a:buNone/>
            </a:pPr>
            <a:r>
              <a:rPr lang="en-GB" altLang="en-US" sz="1600" dirty="0" smtClean="0">
                <a:latin typeface="Courier New" pitchFamily="49" charset="0"/>
                <a:cs typeface="Courier New" pitchFamily="49" charset="0"/>
              </a:rPr>
              <a:t>DWORD </a:t>
            </a:r>
            <a:r>
              <a:rPr lang="en-GB" altLang="en-US" sz="1600" dirty="0" err="1" smtClean="0">
                <a:latin typeface="Courier New" pitchFamily="49" charset="0"/>
                <a:cs typeface="Courier New" pitchFamily="49" charset="0"/>
              </a:rPr>
              <a:t>dwDataSize</a:t>
            </a:r>
            <a:r>
              <a:rPr lang="en-GB" altLang="en-US" sz="1600" dirty="0" smtClean="0">
                <a:latin typeface="Courier New" pitchFamily="49" charset="0"/>
                <a:cs typeface="Courier New" pitchFamily="49" charset="0"/>
              </a:rPr>
              <a:t>;</a:t>
            </a:r>
          </a:p>
          <a:p>
            <a:pPr lvl="2">
              <a:lnSpc>
                <a:spcPct val="80000"/>
              </a:lnSpc>
              <a:buFontTx/>
              <a:buNone/>
            </a:pPr>
            <a:r>
              <a:rPr lang="en-GB" altLang="en-US" sz="1600" dirty="0" smtClean="0">
                <a:latin typeface="Courier New" pitchFamily="49" charset="0"/>
                <a:cs typeface="Courier New" pitchFamily="49" charset="0"/>
              </a:rPr>
              <a:t>DWORD </a:t>
            </a:r>
            <a:r>
              <a:rPr lang="en-GB" altLang="en-US" sz="1600" dirty="0" err="1" smtClean="0">
                <a:latin typeface="Courier New" pitchFamily="49" charset="0"/>
                <a:cs typeface="Courier New" pitchFamily="49" charset="0"/>
              </a:rPr>
              <a:t>dwNumObjs</a:t>
            </a:r>
            <a:r>
              <a:rPr lang="en-GB" altLang="en-US" sz="1600" dirty="0" smtClean="0">
                <a:latin typeface="Courier New" pitchFamily="49" charset="0"/>
                <a:cs typeface="Courier New" pitchFamily="49" charset="0"/>
              </a:rPr>
              <a:t>;</a:t>
            </a:r>
          </a:p>
          <a:p>
            <a:pPr lvl="2">
              <a:lnSpc>
                <a:spcPct val="80000"/>
              </a:lnSpc>
              <a:buFontTx/>
              <a:buNone/>
            </a:pPr>
            <a:r>
              <a:rPr lang="en-GB" altLang="en-US" sz="1600" dirty="0" smtClean="0">
                <a:latin typeface="Courier New" pitchFamily="49" charset="0"/>
                <a:cs typeface="Courier New" pitchFamily="49" charset="0"/>
              </a:rPr>
              <a:t>LPDIOBJECTDATAFORMAT </a:t>
            </a:r>
            <a:r>
              <a:rPr lang="en-GB" altLang="en-US" sz="1600" dirty="0" err="1" smtClean="0">
                <a:latin typeface="Courier New" pitchFamily="49" charset="0"/>
                <a:cs typeface="Courier New" pitchFamily="49" charset="0"/>
              </a:rPr>
              <a:t>rgodf</a:t>
            </a:r>
            <a:r>
              <a:rPr lang="en-GB" altLang="en-US" sz="1600" dirty="0" smtClean="0">
                <a:latin typeface="Courier New" pitchFamily="49" charset="0"/>
                <a:cs typeface="Courier New" pitchFamily="49" charset="0"/>
              </a:rPr>
              <a:t>;</a:t>
            </a:r>
          </a:p>
          <a:p>
            <a:pPr lvl="1">
              <a:lnSpc>
                <a:spcPct val="80000"/>
              </a:lnSpc>
              <a:buFontTx/>
              <a:buNone/>
            </a:pPr>
            <a:r>
              <a:rPr lang="en-GB" altLang="en-US" sz="1600" dirty="0" smtClean="0">
                <a:latin typeface="Courier New" pitchFamily="49" charset="0"/>
                <a:cs typeface="Courier New" pitchFamily="49" charset="0"/>
              </a:rPr>
              <a:t>} DIDATAFORMAT, *LPCDIDATAFORMAT;</a:t>
            </a:r>
          </a:p>
        </p:txBody>
      </p:sp>
    </p:spTree>
    <p:extLst>
      <p:ext uri="{BB962C8B-B14F-4D97-AF65-F5344CB8AC3E}">
        <p14:creationId xmlns:p14="http://schemas.microsoft.com/office/powerpoint/2010/main" val="1458354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altLang="en-US" smtClean="0"/>
              <a:t>STEP4: Setting the Data Format</a:t>
            </a:r>
          </a:p>
        </p:txBody>
      </p:sp>
      <p:sp>
        <p:nvSpPr>
          <p:cNvPr id="19459" name="Content Placeholder 2"/>
          <p:cNvSpPr>
            <a:spLocks noGrp="1"/>
          </p:cNvSpPr>
          <p:nvPr>
            <p:ph idx="1"/>
          </p:nvPr>
        </p:nvSpPr>
        <p:spPr/>
        <p:txBody>
          <a:bodyPr/>
          <a:lstStyle/>
          <a:p>
            <a:r>
              <a:rPr lang="en-GB" altLang="en-US" sz="2000" b="1" smtClean="0">
                <a:latin typeface="Courier New" pitchFamily="49" charset="0"/>
                <a:cs typeface="Courier New" pitchFamily="49" charset="0"/>
              </a:rPr>
              <a:t>dwSize</a:t>
            </a:r>
            <a:r>
              <a:rPr lang="en-GB" altLang="en-US" sz="2000" smtClean="0"/>
              <a:t> - </a:t>
            </a:r>
            <a:r>
              <a:rPr lang="en-MY" altLang="en-US" sz="2000" smtClean="0"/>
              <a:t>The size of this structure in bytes.</a:t>
            </a:r>
            <a:endParaRPr lang="en-GB" altLang="en-US" sz="2000" smtClean="0"/>
          </a:p>
          <a:p>
            <a:r>
              <a:rPr lang="en-GB" altLang="en-US" sz="2000" b="1" smtClean="0">
                <a:latin typeface="Courier New" pitchFamily="49" charset="0"/>
                <a:cs typeface="Courier New" pitchFamily="49" charset="0"/>
              </a:rPr>
              <a:t>dwObjSize</a:t>
            </a:r>
            <a:r>
              <a:rPr lang="en-GB" altLang="en-US" sz="2000" smtClean="0"/>
              <a:t> -</a:t>
            </a:r>
            <a:r>
              <a:rPr lang="en-MY" altLang="en-US" sz="2000" smtClean="0"/>
              <a:t>The size of the </a:t>
            </a:r>
            <a:r>
              <a:rPr lang="en-GB" altLang="en-US" sz="2000" smtClean="0"/>
              <a:t>DIOBJECTDATAFORMAT </a:t>
            </a:r>
            <a:r>
              <a:rPr lang="en-MY" altLang="en-US" sz="2000" smtClean="0"/>
              <a:t>in bytes.</a:t>
            </a:r>
          </a:p>
          <a:p>
            <a:r>
              <a:rPr lang="en-GB" altLang="en-US" sz="2000" b="1" smtClean="0">
                <a:latin typeface="Courier New" pitchFamily="49" charset="0"/>
                <a:cs typeface="Courier New" pitchFamily="49" charset="0"/>
              </a:rPr>
              <a:t>dwFlags</a:t>
            </a:r>
            <a:r>
              <a:rPr lang="en-GB" altLang="en-US" sz="2000" smtClean="0"/>
              <a:t> - A DWORD </a:t>
            </a:r>
            <a:r>
              <a:rPr lang="en-MY" altLang="en-US" sz="2000" smtClean="0"/>
              <a:t>value that specifies attributes of this data format. Valid values are </a:t>
            </a:r>
            <a:r>
              <a:rPr lang="en-GB" altLang="en-US" sz="2000" smtClean="0"/>
              <a:t>DIDF_ABSAXIS</a:t>
            </a:r>
            <a:r>
              <a:rPr lang="en-MY" altLang="en-US" sz="2000" smtClean="0"/>
              <a:t>, which means that the axes are absolute values, or </a:t>
            </a:r>
            <a:r>
              <a:rPr lang="en-GB" altLang="en-US" sz="2000" smtClean="0"/>
              <a:t>DIDF_RELAXIS, which means that the axes of this device are relative.</a:t>
            </a:r>
            <a:endParaRPr lang="en-MY" altLang="en-US" sz="2000" smtClean="0"/>
          </a:p>
          <a:p>
            <a:r>
              <a:rPr lang="en-GB" altLang="en-US" sz="2000" b="1" smtClean="0">
                <a:latin typeface="Courier New" pitchFamily="49" charset="0"/>
                <a:cs typeface="Courier New" pitchFamily="49" charset="0"/>
              </a:rPr>
              <a:t>dwDataSize</a:t>
            </a:r>
            <a:r>
              <a:rPr lang="en-GB" altLang="en-US" sz="2000" smtClean="0"/>
              <a:t> - </a:t>
            </a:r>
            <a:r>
              <a:rPr lang="en-MY" altLang="en-US" sz="2000" smtClean="0"/>
              <a:t>This value holds the size of the data packet returned from the input device in bytes.</a:t>
            </a:r>
          </a:p>
          <a:p>
            <a:r>
              <a:rPr lang="en-GB" altLang="en-US" sz="2000" b="1" smtClean="0">
                <a:latin typeface="Courier New" pitchFamily="49" charset="0"/>
                <a:cs typeface="Courier New" pitchFamily="49" charset="0"/>
              </a:rPr>
              <a:t>dwNumObjs</a:t>
            </a:r>
            <a:r>
              <a:rPr lang="en-GB" altLang="en-US" sz="2000" smtClean="0"/>
              <a:t> - </a:t>
            </a:r>
            <a:r>
              <a:rPr lang="en-MY" altLang="en-US" sz="2000" smtClean="0"/>
              <a:t>The number </a:t>
            </a:r>
            <a:r>
              <a:rPr lang="en-GB" altLang="en-US" sz="2000" smtClean="0"/>
              <a:t>rgodf</a:t>
            </a:r>
            <a:r>
              <a:rPr lang="en-MY" altLang="en-US" sz="2000" smtClean="0"/>
              <a:t> of objects with the array.</a:t>
            </a:r>
            <a:endParaRPr lang="en-GB" altLang="en-US" sz="2000" smtClean="0"/>
          </a:p>
          <a:p>
            <a:r>
              <a:rPr lang="en-MY" altLang="en-US" sz="2000" b="1" smtClean="0">
                <a:latin typeface="Courier New" pitchFamily="49" charset="0"/>
                <a:cs typeface="Courier New" pitchFamily="49" charset="0"/>
              </a:rPr>
              <a:t>rgodf</a:t>
            </a:r>
            <a:r>
              <a:rPr lang="en-MY" altLang="en-US" sz="2000" smtClean="0"/>
              <a:t>  - An address to an array of DIOBJECTDATAFORMAT </a:t>
            </a:r>
            <a:r>
              <a:rPr lang="en-GB" altLang="en-US" sz="2000" smtClean="0"/>
              <a:t>structures.</a:t>
            </a:r>
          </a:p>
        </p:txBody>
      </p:sp>
    </p:spTree>
    <p:extLst>
      <p:ext uri="{BB962C8B-B14F-4D97-AF65-F5344CB8AC3E}">
        <p14:creationId xmlns:p14="http://schemas.microsoft.com/office/powerpoint/2010/main" val="3782961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altLang="en-US" smtClean="0"/>
              <a:t>STEP4: Setting the Data Format</a:t>
            </a:r>
          </a:p>
        </p:txBody>
      </p:sp>
      <p:sp>
        <p:nvSpPr>
          <p:cNvPr id="20483" name="Content Placeholder 2"/>
          <p:cNvSpPr>
            <a:spLocks noGrp="1"/>
          </p:cNvSpPr>
          <p:nvPr>
            <p:ph idx="1"/>
          </p:nvPr>
        </p:nvSpPr>
        <p:spPr/>
        <p:txBody>
          <a:bodyPr/>
          <a:lstStyle/>
          <a:p>
            <a:pPr>
              <a:lnSpc>
                <a:spcPct val="90000"/>
              </a:lnSpc>
            </a:pPr>
            <a:r>
              <a:rPr lang="en-GB" altLang="en-US" sz="2600" dirty="0" smtClean="0"/>
              <a:t>Predefined DIDATAFORMAT structures for common input devices:</a:t>
            </a:r>
          </a:p>
          <a:p>
            <a:pPr lvl="1">
              <a:lnSpc>
                <a:spcPct val="90000"/>
              </a:lnSpc>
            </a:pPr>
            <a:r>
              <a:rPr lang="en-MY" altLang="en-US" sz="2200" b="1" dirty="0" err="1" smtClean="0"/>
              <a:t>c_dfDIKeyboard</a:t>
            </a:r>
            <a:r>
              <a:rPr lang="en-MY" altLang="en-US" sz="2200" b="1" dirty="0" smtClean="0"/>
              <a:t> - </a:t>
            </a:r>
            <a:r>
              <a:rPr lang="en-MY" altLang="en-US" sz="2200" dirty="0" smtClean="0"/>
              <a:t>This is the data format structure that represents a system keyboard </a:t>
            </a:r>
            <a:r>
              <a:rPr lang="en-GB" altLang="en-US" sz="2200" dirty="0" smtClean="0"/>
              <a:t>object.</a:t>
            </a:r>
          </a:p>
          <a:p>
            <a:pPr lvl="1">
              <a:lnSpc>
                <a:spcPct val="90000"/>
              </a:lnSpc>
            </a:pPr>
            <a:r>
              <a:rPr lang="en-MY" altLang="en-US" sz="2200" b="1" dirty="0" err="1" smtClean="0"/>
              <a:t>c_dfDIMouse</a:t>
            </a:r>
            <a:r>
              <a:rPr lang="en-MY" altLang="en-US" sz="2200" b="1" dirty="0" smtClean="0"/>
              <a:t> - </a:t>
            </a:r>
            <a:r>
              <a:rPr lang="en-MY" altLang="en-US" sz="2200" dirty="0" smtClean="0"/>
              <a:t>You use this data format structure when the input device being used is a mouse with up to four buttons.</a:t>
            </a:r>
          </a:p>
          <a:p>
            <a:pPr lvl="1">
              <a:lnSpc>
                <a:spcPct val="90000"/>
              </a:lnSpc>
            </a:pPr>
            <a:r>
              <a:rPr lang="en-MY" altLang="en-US" sz="2200" b="1" dirty="0" smtClean="0"/>
              <a:t>c_dfDIMouse2 - </a:t>
            </a:r>
            <a:r>
              <a:rPr lang="en-MY" altLang="en-US" sz="2200" dirty="0" smtClean="0"/>
              <a:t>You use this data format structure when the input device being used is a mouse or similar device with up to eight available buttons.</a:t>
            </a:r>
          </a:p>
          <a:p>
            <a:pPr lvl="1">
              <a:lnSpc>
                <a:spcPct val="90000"/>
              </a:lnSpc>
            </a:pPr>
            <a:r>
              <a:rPr lang="en-MY" altLang="en-US" sz="2200" b="1" dirty="0" err="1" smtClean="0"/>
              <a:t>c_dfDIJoystick</a:t>
            </a:r>
            <a:r>
              <a:rPr lang="en-MY" altLang="en-US" sz="2200" b="1" dirty="0" smtClean="0"/>
              <a:t> - </a:t>
            </a:r>
            <a:r>
              <a:rPr lang="en-MY" altLang="en-US" sz="2200" dirty="0" smtClean="0"/>
              <a:t>This is the data format structure for a joystick.</a:t>
            </a:r>
          </a:p>
          <a:p>
            <a:pPr lvl="1">
              <a:lnSpc>
                <a:spcPct val="90000"/>
              </a:lnSpc>
            </a:pPr>
            <a:r>
              <a:rPr lang="en-MY" altLang="en-US" sz="2200" b="1" dirty="0" smtClean="0"/>
              <a:t>c_dfDIJoystick2 - </a:t>
            </a:r>
            <a:r>
              <a:rPr lang="en-MY" altLang="en-US" sz="2200" dirty="0" smtClean="0"/>
              <a:t>This is the data format structure for a joystick with extended </a:t>
            </a:r>
            <a:r>
              <a:rPr lang="en-GB" altLang="en-US" sz="2200" dirty="0" smtClean="0"/>
              <a:t>capabilities.</a:t>
            </a:r>
          </a:p>
        </p:txBody>
      </p:sp>
    </p:spTree>
    <p:extLst>
      <p:ext uri="{BB962C8B-B14F-4D97-AF65-F5344CB8AC3E}">
        <p14:creationId xmlns:p14="http://schemas.microsoft.com/office/powerpoint/2010/main" val="3325926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GB" altLang="en-US" smtClean="0"/>
              <a:t>STEP4: Setting the Data Format</a:t>
            </a:r>
          </a:p>
        </p:txBody>
      </p:sp>
      <p:sp>
        <p:nvSpPr>
          <p:cNvPr id="21507" name="Content Placeholder 2"/>
          <p:cNvSpPr>
            <a:spLocks noGrp="1"/>
          </p:cNvSpPr>
          <p:nvPr>
            <p:ph idx="1"/>
          </p:nvPr>
        </p:nvSpPr>
        <p:spPr/>
        <p:txBody>
          <a:bodyPr/>
          <a:lstStyle/>
          <a:p>
            <a:r>
              <a:rPr lang="en-MY" altLang="en-US" sz="2000" dirty="0" smtClean="0"/>
              <a:t>The code sample that follows calls the </a:t>
            </a:r>
            <a:r>
              <a:rPr lang="en-MY" altLang="en-US" sz="2000" dirty="0" err="1" smtClean="0"/>
              <a:t>SetDataFormat</a:t>
            </a:r>
            <a:r>
              <a:rPr lang="en-MY" altLang="en-US" sz="2000" dirty="0" smtClean="0"/>
              <a:t> function using the predefined DIDATAFORMAT structure for a keyboard device.</a:t>
            </a:r>
          </a:p>
          <a:p>
            <a:pPr lvl="1">
              <a:buFontTx/>
              <a:buNone/>
            </a:pPr>
            <a:r>
              <a:rPr lang="en-MY" altLang="en-US" sz="2000" dirty="0" smtClean="0">
                <a:latin typeface="Courier New" pitchFamily="49" charset="0"/>
                <a:cs typeface="Courier New" pitchFamily="49" charset="0"/>
              </a:rPr>
              <a:t>// variable to hold the return code</a:t>
            </a:r>
          </a:p>
          <a:p>
            <a:pPr lvl="1">
              <a:buFontTx/>
              <a:buNone/>
            </a:pPr>
            <a:r>
              <a:rPr lang="en-GB" altLang="en-US" sz="2000" dirty="0" smtClean="0">
                <a:latin typeface="Courier New" pitchFamily="49" charset="0"/>
                <a:cs typeface="Courier New" pitchFamily="49" charset="0"/>
              </a:rPr>
              <a:t>HRESULT </a:t>
            </a:r>
            <a:r>
              <a:rPr lang="en-GB" altLang="en-US" sz="2000" dirty="0" err="1" smtClean="0">
                <a:latin typeface="Courier New" pitchFamily="49" charset="0"/>
                <a:cs typeface="Courier New" pitchFamily="49" charset="0"/>
              </a:rPr>
              <a:t>hr</a:t>
            </a:r>
            <a:r>
              <a:rPr lang="en-GB" altLang="en-US" sz="2000" dirty="0" smtClean="0">
                <a:latin typeface="Courier New" pitchFamily="49" charset="0"/>
                <a:cs typeface="Courier New" pitchFamily="49" charset="0"/>
              </a:rPr>
              <a:t>;</a:t>
            </a:r>
          </a:p>
          <a:p>
            <a:pPr lvl="1">
              <a:buFontTx/>
              <a:buNone/>
            </a:pPr>
            <a:endParaRPr lang="en-GB" altLang="en-US" sz="2000" dirty="0" smtClean="0">
              <a:latin typeface="Courier New" pitchFamily="49" charset="0"/>
              <a:cs typeface="Courier New" pitchFamily="49" charset="0"/>
            </a:endParaRPr>
          </a:p>
          <a:p>
            <a:pPr lvl="1">
              <a:buFontTx/>
              <a:buNone/>
            </a:pPr>
            <a:r>
              <a:rPr lang="en-MY" altLang="en-US" sz="2000" dirty="0" smtClean="0">
                <a:latin typeface="Courier New" pitchFamily="49" charset="0"/>
                <a:cs typeface="Courier New" pitchFamily="49" charset="0"/>
              </a:rPr>
              <a:t>// Set the data format for the device</a:t>
            </a:r>
          </a:p>
          <a:p>
            <a:pPr lvl="1">
              <a:buFontTx/>
              <a:buNone/>
            </a:pPr>
            <a:r>
              <a:rPr lang="en-GB" altLang="en-US" sz="2000" dirty="0" smtClean="0">
                <a:latin typeface="Courier New" pitchFamily="49" charset="0"/>
                <a:cs typeface="Courier New" pitchFamily="49" charset="0"/>
              </a:rPr>
              <a:t>// Call the </a:t>
            </a:r>
            <a:r>
              <a:rPr lang="en-GB" altLang="en-US" sz="2000" dirty="0" err="1" smtClean="0">
                <a:latin typeface="Courier New" pitchFamily="49" charset="0"/>
                <a:cs typeface="Courier New" pitchFamily="49" charset="0"/>
              </a:rPr>
              <a:t>SetDataFormat</a:t>
            </a:r>
            <a:r>
              <a:rPr lang="en-GB" altLang="en-US" sz="2000" dirty="0" smtClean="0">
                <a:latin typeface="Courier New" pitchFamily="49" charset="0"/>
                <a:cs typeface="Courier New" pitchFamily="49" charset="0"/>
              </a:rPr>
              <a:t> function</a:t>
            </a:r>
          </a:p>
          <a:p>
            <a:pPr lvl="1">
              <a:buFontTx/>
              <a:buNone/>
            </a:pPr>
            <a:r>
              <a:rPr lang="en-GB" altLang="en-US" sz="2000" dirty="0" err="1" smtClean="0">
                <a:latin typeface="Courier New" pitchFamily="49" charset="0"/>
                <a:cs typeface="Courier New" pitchFamily="49" charset="0"/>
              </a:rPr>
              <a:t>hr</a:t>
            </a:r>
            <a:r>
              <a:rPr lang="en-GB" altLang="en-US" sz="2000" dirty="0" smtClean="0">
                <a:latin typeface="Courier New" pitchFamily="49" charset="0"/>
                <a:cs typeface="Courier New" pitchFamily="49" charset="0"/>
              </a:rPr>
              <a:t> = </a:t>
            </a:r>
            <a:r>
              <a:rPr lang="en-GB" altLang="en-US" sz="2000" dirty="0" err="1" smtClean="0">
                <a:latin typeface="Courier New" pitchFamily="49" charset="0"/>
                <a:cs typeface="Courier New" pitchFamily="49" charset="0"/>
              </a:rPr>
              <a:t>DI_Device</a:t>
            </a:r>
            <a:r>
              <a:rPr lang="en-GB" altLang="en-US" sz="2000" dirty="0" smtClean="0">
                <a:latin typeface="Courier New" pitchFamily="49" charset="0"/>
                <a:cs typeface="Courier New" pitchFamily="49" charset="0"/>
              </a:rPr>
              <a:t>-&gt;</a:t>
            </a:r>
            <a:r>
              <a:rPr lang="en-GB" altLang="en-US" sz="2000" dirty="0" err="1" smtClean="0">
                <a:latin typeface="Courier New" pitchFamily="49" charset="0"/>
                <a:cs typeface="Courier New" pitchFamily="49" charset="0"/>
              </a:rPr>
              <a:t>SetDataFormat</a:t>
            </a:r>
            <a:r>
              <a:rPr lang="en-GB" altLang="en-US" sz="2000" dirty="0" smtClean="0">
                <a:latin typeface="Courier New" pitchFamily="49" charset="0"/>
                <a:cs typeface="Courier New" pitchFamily="49" charset="0"/>
              </a:rPr>
              <a:t>(&amp;</a:t>
            </a:r>
            <a:r>
              <a:rPr lang="en-GB" altLang="en-US" sz="2000" dirty="0" err="1" smtClean="0">
                <a:latin typeface="Courier New" pitchFamily="49" charset="0"/>
                <a:cs typeface="Courier New" pitchFamily="49" charset="0"/>
              </a:rPr>
              <a:t>c_dfDIKeyboard</a:t>
            </a:r>
            <a:r>
              <a:rPr lang="en-GB" altLang="en-US" sz="2000" dirty="0" smtClean="0">
                <a:latin typeface="Courier New" pitchFamily="49" charset="0"/>
                <a:cs typeface="Courier New" pitchFamily="49" charset="0"/>
              </a:rPr>
              <a:t>);</a:t>
            </a:r>
          </a:p>
          <a:p>
            <a:pPr lvl="1">
              <a:buFontTx/>
              <a:buNone/>
            </a:pPr>
            <a:endParaRPr lang="en-GB" altLang="en-US" sz="2000" dirty="0" smtClean="0">
              <a:latin typeface="Courier New" pitchFamily="49" charset="0"/>
              <a:cs typeface="Courier New" pitchFamily="49" charset="0"/>
            </a:endParaRPr>
          </a:p>
          <a:p>
            <a:pPr lvl="1">
              <a:buFontTx/>
              <a:buNone/>
            </a:pPr>
            <a:r>
              <a:rPr lang="en-MY" altLang="en-US" sz="2000" dirty="0" smtClean="0">
                <a:latin typeface="Courier New" pitchFamily="49" charset="0"/>
                <a:cs typeface="Courier New" pitchFamily="49" charset="0"/>
              </a:rPr>
              <a:t>// Check the </a:t>
            </a:r>
            <a:r>
              <a:rPr lang="en-MY" altLang="en-US" sz="2000" dirty="0" err="1" smtClean="0">
                <a:latin typeface="Courier New" pitchFamily="49" charset="0"/>
                <a:cs typeface="Courier New" pitchFamily="49" charset="0"/>
              </a:rPr>
              <a:t>SetDataFormat</a:t>
            </a:r>
            <a:r>
              <a:rPr lang="en-MY" altLang="en-US" sz="2000" dirty="0" smtClean="0">
                <a:latin typeface="Courier New" pitchFamily="49" charset="0"/>
                <a:cs typeface="Courier New" pitchFamily="49" charset="0"/>
              </a:rPr>
              <a:t> return code</a:t>
            </a:r>
          </a:p>
          <a:p>
            <a:pPr lvl="1">
              <a:buFontTx/>
              <a:buNone/>
            </a:pPr>
            <a:r>
              <a:rPr lang="en-GB" altLang="en-US" sz="2000" dirty="0" smtClean="0">
                <a:latin typeface="Courier New" pitchFamily="49" charset="0"/>
                <a:cs typeface="Courier New" pitchFamily="49" charset="0"/>
              </a:rPr>
              <a:t>if FAILED( </a:t>
            </a:r>
            <a:r>
              <a:rPr lang="en-GB" altLang="en-US" sz="2000" dirty="0" err="1" smtClean="0">
                <a:latin typeface="Courier New" pitchFamily="49" charset="0"/>
                <a:cs typeface="Courier New" pitchFamily="49" charset="0"/>
              </a:rPr>
              <a:t>hr</a:t>
            </a:r>
            <a:r>
              <a:rPr lang="en-GB" altLang="en-US" sz="2000" dirty="0" smtClean="0">
                <a:latin typeface="Courier New" pitchFamily="49" charset="0"/>
                <a:cs typeface="Courier New" pitchFamily="49" charset="0"/>
              </a:rPr>
              <a:t> )</a:t>
            </a:r>
          </a:p>
          <a:p>
            <a:pPr lvl="1">
              <a:buFontTx/>
              <a:buNone/>
            </a:pPr>
            <a:r>
              <a:rPr lang="en-GB" altLang="en-US" sz="2000" dirty="0" smtClean="0">
                <a:latin typeface="Courier New" pitchFamily="49" charset="0"/>
                <a:cs typeface="Courier New" pitchFamily="49" charset="0"/>
              </a:rPr>
              <a:t>	return false;</a:t>
            </a:r>
          </a:p>
        </p:txBody>
      </p:sp>
    </p:spTree>
    <p:extLst>
      <p:ext uri="{BB962C8B-B14F-4D97-AF65-F5344CB8AC3E}">
        <p14:creationId xmlns:p14="http://schemas.microsoft.com/office/powerpoint/2010/main" val="2429258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fontScale="90000"/>
          </a:bodyPr>
          <a:lstStyle/>
          <a:p>
            <a:r>
              <a:rPr lang="en-GB" altLang="en-US" smtClean="0"/>
              <a:t>STEP5: Setting the Cooperative Level</a:t>
            </a:r>
          </a:p>
        </p:txBody>
      </p:sp>
      <p:sp>
        <p:nvSpPr>
          <p:cNvPr id="22531" name="Content Placeholder 2"/>
          <p:cNvSpPr>
            <a:spLocks noGrp="1"/>
          </p:cNvSpPr>
          <p:nvPr>
            <p:ph idx="1"/>
          </p:nvPr>
        </p:nvSpPr>
        <p:spPr/>
        <p:txBody>
          <a:bodyPr>
            <a:normAutofit/>
          </a:bodyPr>
          <a:lstStyle/>
          <a:p>
            <a:pPr>
              <a:lnSpc>
                <a:spcPct val="80000"/>
              </a:lnSpc>
            </a:pPr>
            <a:r>
              <a:rPr lang="en-MY" altLang="en-US" sz="1600" dirty="0" smtClean="0"/>
              <a:t>For each game that you want to use with a DirectInput device, you must set the cooperative level for its use. You do this through the </a:t>
            </a:r>
            <a:r>
              <a:rPr lang="en-MY" altLang="en-US" sz="1600" dirty="0" err="1" smtClean="0"/>
              <a:t>SetCooperativeLevel</a:t>
            </a:r>
            <a:r>
              <a:rPr lang="en-MY" altLang="en-US" sz="1600" dirty="0" smtClean="0"/>
              <a:t> function, defined next.</a:t>
            </a:r>
          </a:p>
          <a:p>
            <a:pPr>
              <a:lnSpc>
                <a:spcPct val="80000"/>
              </a:lnSpc>
            </a:pPr>
            <a:endParaRPr lang="en-GB" altLang="en-US" sz="1600" dirty="0" smtClean="0"/>
          </a:p>
          <a:p>
            <a:pPr lvl="1">
              <a:lnSpc>
                <a:spcPct val="80000"/>
              </a:lnSpc>
              <a:buFontTx/>
              <a:buNone/>
            </a:pPr>
            <a:r>
              <a:rPr lang="en-GB" altLang="en-US" sz="1400" dirty="0" smtClean="0">
                <a:latin typeface="Courier New" pitchFamily="49" charset="0"/>
                <a:cs typeface="Courier New" pitchFamily="49" charset="0"/>
              </a:rPr>
              <a:t>HRESULT </a:t>
            </a:r>
            <a:r>
              <a:rPr lang="en-GB" altLang="en-US" sz="1400" dirty="0" err="1" smtClean="0">
                <a:latin typeface="Courier New" pitchFamily="49" charset="0"/>
                <a:cs typeface="Courier New" pitchFamily="49" charset="0"/>
              </a:rPr>
              <a:t>SetCooperativeLevel</a:t>
            </a:r>
            <a:r>
              <a:rPr lang="en-GB" altLang="en-US" sz="1400" dirty="0" smtClean="0">
                <a:latin typeface="Courier New" pitchFamily="49" charset="0"/>
                <a:cs typeface="Courier New" pitchFamily="49" charset="0"/>
              </a:rPr>
              <a:t>(</a:t>
            </a:r>
          </a:p>
          <a:p>
            <a:pPr lvl="2">
              <a:lnSpc>
                <a:spcPct val="80000"/>
              </a:lnSpc>
              <a:buFontTx/>
              <a:buNone/>
            </a:pPr>
            <a:r>
              <a:rPr lang="en-GB" altLang="en-US" sz="1400" dirty="0" smtClean="0">
                <a:latin typeface="Courier New" pitchFamily="49" charset="0"/>
                <a:cs typeface="Courier New" pitchFamily="49" charset="0"/>
              </a:rPr>
              <a:t>HWND </a:t>
            </a:r>
            <a:r>
              <a:rPr lang="en-GB" altLang="en-US" sz="1400" dirty="0" err="1" smtClean="0">
                <a:latin typeface="Courier New" pitchFamily="49" charset="0"/>
                <a:cs typeface="Courier New" pitchFamily="49" charset="0"/>
              </a:rPr>
              <a:t>hwnd</a:t>
            </a:r>
            <a:r>
              <a:rPr lang="en-GB" altLang="en-US" sz="1400" dirty="0" smtClean="0">
                <a:latin typeface="Courier New" pitchFamily="49" charset="0"/>
                <a:cs typeface="Courier New" pitchFamily="49" charset="0"/>
              </a:rPr>
              <a:t>,</a:t>
            </a:r>
          </a:p>
          <a:p>
            <a:pPr lvl="2">
              <a:lnSpc>
                <a:spcPct val="80000"/>
              </a:lnSpc>
              <a:buFontTx/>
              <a:buNone/>
            </a:pPr>
            <a:r>
              <a:rPr lang="en-GB" altLang="en-US" sz="1400" dirty="0" smtClean="0">
                <a:latin typeface="Courier New" pitchFamily="49" charset="0"/>
                <a:cs typeface="Courier New" pitchFamily="49" charset="0"/>
              </a:rPr>
              <a:t>DWORD </a:t>
            </a:r>
            <a:r>
              <a:rPr lang="en-GB" altLang="en-US" sz="1400" dirty="0" err="1" smtClean="0">
                <a:latin typeface="Courier New" pitchFamily="49" charset="0"/>
                <a:cs typeface="Courier New" pitchFamily="49" charset="0"/>
              </a:rPr>
              <a:t>dwFlags</a:t>
            </a:r>
            <a:endParaRPr lang="en-GB" altLang="en-US" sz="1400" dirty="0" smtClean="0">
              <a:latin typeface="Courier New" pitchFamily="49" charset="0"/>
              <a:cs typeface="Courier New" pitchFamily="49" charset="0"/>
            </a:endParaRPr>
          </a:p>
          <a:p>
            <a:pPr lvl="1">
              <a:lnSpc>
                <a:spcPct val="80000"/>
              </a:lnSpc>
              <a:buFontTx/>
              <a:buNone/>
            </a:pPr>
            <a:r>
              <a:rPr lang="en-GB" altLang="en-US" sz="1400" dirty="0" smtClean="0">
                <a:latin typeface="Courier New" pitchFamily="49" charset="0"/>
                <a:cs typeface="Courier New" pitchFamily="49" charset="0"/>
              </a:rPr>
              <a:t>);</a:t>
            </a:r>
          </a:p>
          <a:p>
            <a:pPr>
              <a:lnSpc>
                <a:spcPct val="80000"/>
              </a:lnSpc>
            </a:pPr>
            <a:endParaRPr lang="en-MY" altLang="en-US" sz="1600" dirty="0" smtClean="0">
              <a:solidFill>
                <a:srgbClr val="000066"/>
              </a:solidFill>
            </a:endParaRPr>
          </a:p>
          <a:p>
            <a:pPr>
              <a:lnSpc>
                <a:spcPct val="80000"/>
              </a:lnSpc>
            </a:pPr>
            <a:r>
              <a:rPr lang="en-MY" altLang="en-US" sz="1600" dirty="0" smtClean="0"/>
              <a:t>The </a:t>
            </a:r>
            <a:r>
              <a:rPr lang="en-MY" altLang="en-US" sz="1600" dirty="0" err="1" smtClean="0"/>
              <a:t>SetCooperativeLevel</a:t>
            </a:r>
            <a:r>
              <a:rPr lang="en-MY" altLang="en-US" sz="1600" dirty="0" smtClean="0"/>
              <a:t> function requires two parameters:</a:t>
            </a:r>
          </a:p>
          <a:p>
            <a:pPr>
              <a:lnSpc>
                <a:spcPct val="80000"/>
              </a:lnSpc>
            </a:pPr>
            <a:r>
              <a:rPr lang="en-MY" altLang="en-US" sz="1600" b="1" dirty="0" err="1" smtClean="0"/>
              <a:t>hwnd</a:t>
            </a:r>
            <a:r>
              <a:rPr lang="en-MY" altLang="en-US" sz="1600" b="1" dirty="0" smtClean="0"/>
              <a:t> - </a:t>
            </a:r>
            <a:r>
              <a:rPr lang="en-MY" altLang="en-US" sz="1600" dirty="0" smtClean="0"/>
              <a:t>A handle to the window that is requesting access to the device.</a:t>
            </a:r>
          </a:p>
          <a:p>
            <a:pPr>
              <a:lnSpc>
                <a:spcPct val="80000"/>
              </a:lnSpc>
            </a:pPr>
            <a:r>
              <a:rPr lang="en-MY" altLang="en-US" sz="1600" b="1" dirty="0" err="1" smtClean="0"/>
              <a:t>dwFlags</a:t>
            </a:r>
            <a:r>
              <a:rPr lang="en-MY" altLang="en-US" sz="1600" b="1" dirty="0" smtClean="0"/>
              <a:t>. </a:t>
            </a:r>
            <a:r>
              <a:rPr lang="en-MY" altLang="en-US" sz="1600" dirty="0" smtClean="0"/>
              <a:t>A series of flags that describe the type of access you are requesting. The available flags are as follows:</a:t>
            </a:r>
          </a:p>
          <a:p>
            <a:pPr lvl="1">
              <a:lnSpc>
                <a:spcPct val="80000"/>
              </a:lnSpc>
            </a:pPr>
            <a:r>
              <a:rPr lang="en-MY" altLang="en-US" sz="1400" b="1" dirty="0" smtClean="0"/>
              <a:t>DISCL_BACKGROUND - </a:t>
            </a:r>
            <a:r>
              <a:rPr lang="en-MY" altLang="en-US" sz="1400" dirty="0" smtClean="0"/>
              <a:t>The application requires background access to the device. This means that you can use the input device even when the game window is not the </a:t>
            </a:r>
            <a:r>
              <a:rPr lang="en-GB" altLang="en-US" sz="1400" dirty="0" smtClean="0"/>
              <a:t>currently active window.</a:t>
            </a:r>
          </a:p>
          <a:p>
            <a:pPr lvl="1">
              <a:lnSpc>
                <a:spcPct val="80000"/>
              </a:lnSpc>
            </a:pPr>
            <a:r>
              <a:rPr lang="en-MY" altLang="en-US" sz="1400" b="1" dirty="0" smtClean="0"/>
              <a:t>DISCL_EXCLUSIVE - </a:t>
            </a:r>
            <a:r>
              <a:rPr lang="en-MY" altLang="en-US" sz="1400" dirty="0" smtClean="0"/>
              <a:t>The game requests total and complete control over the input device, restricting other applications from using it.</a:t>
            </a:r>
          </a:p>
          <a:p>
            <a:pPr lvl="1">
              <a:lnSpc>
                <a:spcPct val="80000"/>
              </a:lnSpc>
            </a:pPr>
            <a:r>
              <a:rPr lang="en-MY" altLang="en-US" sz="1400" b="1" dirty="0" smtClean="0"/>
              <a:t>DISCL_FOREGROUND - </a:t>
            </a:r>
            <a:r>
              <a:rPr lang="en-MY" altLang="en-US" sz="1400" dirty="0" smtClean="0"/>
              <a:t>The game requires input only when the window is the current active window on the desktop. If the game window loses focus, input to this </a:t>
            </a:r>
            <a:r>
              <a:rPr lang="en-GB" altLang="en-US" sz="1400" dirty="0" smtClean="0"/>
              <a:t>window is halted.</a:t>
            </a:r>
          </a:p>
          <a:p>
            <a:pPr lvl="1">
              <a:lnSpc>
                <a:spcPct val="80000"/>
              </a:lnSpc>
            </a:pPr>
            <a:r>
              <a:rPr lang="en-MY" altLang="en-US" sz="1400" b="1" dirty="0" smtClean="0"/>
              <a:t>DISCL_NONEXCLUSIVE. </a:t>
            </a:r>
            <a:r>
              <a:rPr lang="en-MY" altLang="en-US" sz="1400" dirty="0" smtClean="0"/>
              <a:t>Exclusive access is not needed for this application. Defining this flag allows other running applications to continue using the device.</a:t>
            </a:r>
          </a:p>
          <a:p>
            <a:pPr lvl="1">
              <a:lnSpc>
                <a:spcPct val="80000"/>
              </a:lnSpc>
            </a:pPr>
            <a:r>
              <a:rPr lang="en-MY" altLang="en-US" sz="1400" b="1" dirty="0" smtClean="0"/>
              <a:t>DISCL_NOWINKEY. </a:t>
            </a:r>
            <a:r>
              <a:rPr lang="en-MY" altLang="en-US" sz="1400" dirty="0" smtClean="0"/>
              <a:t>This tells DirectInput to disable the Windows key on the keyboard. When this key is pressed, the Start button on the desktop is activated and focus is removed from the currently active window. When this flag is set, the Windows key is deactivated, allowing your game to retain focus.</a:t>
            </a:r>
            <a:endParaRPr lang="en-GB" altLang="en-US" sz="1400" dirty="0" smtClean="0"/>
          </a:p>
        </p:txBody>
      </p:sp>
    </p:spTree>
    <p:extLst>
      <p:ext uri="{BB962C8B-B14F-4D97-AF65-F5344CB8AC3E}">
        <p14:creationId xmlns:p14="http://schemas.microsoft.com/office/powerpoint/2010/main" val="683610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fontScale="90000"/>
          </a:bodyPr>
          <a:lstStyle/>
          <a:p>
            <a:r>
              <a:rPr lang="en-GB" altLang="en-US" smtClean="0"/>
              <a:t>STEP5: Setting the Cooperative Level</a:t>
            </a:r>
          </a:p>
        </p:txBody>
      </p:sp>
      <p:sp>
        <p:nvSpPr>
          <p:cNvPr id="23555" name="Content Placeholder 2"/>
          <p:cNvSpPr>
            <a:spLocks noGrp="1"/>
          </p:cNvSpPr>
          <p:nvPr>
            <p:ph idx="1"/>
          </p:nvPr>
        </p:nvSpPr>
        <p:spPr/>
        <p:txBody>
          <a:bodyPr/>
          <a:lstStyle/>
          <a:p>
            <a:r>
              <a:rPr lang="en-MY" altLang="en-US" dirty="0" smtClean="0"/>
              <a:t>The code sample sets the device to use nonexclusive access and be active only when the application window has focus.</a:t>
            </a:r>
          </a:p>
          <a:p>
            <a:endParaRPr lang="en-MY" altLang="en-US" dirty="0" smtClean="0"/>
          </a:p>
          <a:p>
            <a:pPr>
              <a:buFontTx/>
              <a:buNone/>
            </a:pPr>
            <a:r>
              <a:rPr lang="en-GB" altLang="en-US" sz="2000" dirty="0" smtClean="0">
                <a:latin typeface="Courier New" pitchFamily="49" charset="0"/>
                <a:cs typeface="Courier New" pitchFamily="49" charset="0"/>
              </a:rPr>
              <a:t>// Set the cooperative level</a:t>
            </a:r>
          </a:p>
          <a:p>
            <a:pPr>
              <a:buFontTx/>
              <a:buNone/>
            </a:pPr>
            <a:r>
              <a:rPr lang="en-GB" altLang="en-US" sz="2000" dirty="0" err="1" smtClean="0">
                <a:latin typeface="Courier New" pitchFamily="49" charset="0"/>
                <a:cs typeface="Courier New" pitchFamily="49" charset="0"/>
              </a:rPr>
              <a:t>hr</a:t>
            </a:r>
            <a:r>
              <a:rPr lang="en-GB" altLang="en-US" sz="2000" dirty="0" smtClean="0">
                <a:latin typeface="Courier New" pitchFamily="49" charset="0"/>
                <a:cs typeface="Courier New" pitchFamily="49" charset="0"/>
              </a:rPr>
              <a:t> = </a:t>
            </a:r>
            <a:r>
              <a:rPr lang="en-GB" altLang="en-US" sz="2000" dirty="0" err="1" smtClean="0">
                <a:latin typeface="Courier New" pitchFamily="49" charset="0"/>
                <a:cs typeface="Courier New" pitchFamily="49" charset="0"/>
              </a:rPr>
              <a:t>DI_Device</a:t>
            </a:r>
            <a:r>
              <a:rPr lang="en-GB" altLang="en-US" sz="2000" dirty="0" smtClean="0">
                <a:latin typeface="Courier New" pitchFamily="49" charset="0"/>
                <a:cs typeface="Courier New" pitchFamily="49" charset="0"/>
              </a:rPr>
              <a:t>-&gt;</a:t>
            </a:r>
            <a:r>
              <a:rPr lang="en-GB" altLang="en-US" sz="2000" dirty="0" err="1" smtClean="0">
                <a:latin typeface="Courier New" pitchFamily="49" charset="0"/>
                <a:cs typeface="Courier New" pitchFamily="49" charset="0"/>
              </a:rPr>
              <a:t>SetCooperativeLevel</a:t>
            </a:r>
            <a:r>
              <a:rPr lang="en-GB" altLang="en-US" sz="2000" dirty="0" smtClean="0">
                <a:latin typeface="Courier New" pitchFamily="49" charset="0"/>
                <a:cs typeface="Courier New" pitchFamily="49" charset="0"/>
              </a:rPr>
              <a:t>( </a:t>
            </a:r>
            <a:r>
              <a:rPr lang="en-GB" altLang="en-US" sz="2000" dirty="0" err="1" smtClean="0">
                <a:latin typeface="Courier New" pitchFamily="49" charset="0"/>
                <a:cs typeface="Courier New" pitchFamily="49" charset="0"/>
              </a:rPr>
              <a:t>wndHandle</a:t>
            </a:r>
            <a:r>
              <a:rPr lang="en-GB" altLang="en-US" sz="2000" dirty="0" smtClean="0">
                <a:latin typeface="Courier New" pitchFamily="49" charset="0"/>
                <a:cs typeface="Courier New" pitchFamily="49" charset="0"/>
              </a:rPr>
              <a:t>, DISCL_FOREGROUND | DISCL_NONEXCLUSIVE );</a:t>
            </a:r>
          </a:p>
          <a:p>
            <a:pPr>
              <a:buFontTx/>
              <a:buNone/>
            </a:pPr>
            <a:endParaRPr lang="en-MY" altLang="en-US" sz="2000" dirty="0" smtClean="0">
              <a:latin typeface="Courier New" pitchFamily="49" charset="0"/>
              <a:cs typeface="Courier New" pitchFamily="49" charset="0"/>
            </a:endParaRPr>
          </a:p>
          <a:p>
            <a:pPr>
              <a:buFontTx/>
              <a:buNone/>
            </a:pPr>
            <a:r>
              <a:rPr lang="en-MY" altLang="en-US" sz="2000" dirty="0" smtClean="0">
                <a:latin typeface="Courier New" pitchFamily="49" charset="0"/>
                <a:cs typeface="Courier New" pitchFamily="49" charset="0"/>
              </a:rPr>
              <a:t>// Check the return code for </a:t>
            </a:r>
            <a:r>
              <a:rPr lang="en-MY" altLang="en-US" sz="2000" dirty="0" err="1" smtClean="0">
                <a:latin typeface="Courier New" pitchFamily="49" charset="0"/>
                <a:cs typeface="Courier New" pitchFamily="49" charset="0"/>
              </a:rPr>
              <a:t>SetCooperativeLevel</a:t>
            </a:r>
            <a:endParaRPr lang="en-MY" altLang="en-US" sz="2000" dirty="0" smtClean="0">
              <a:latin typeface="Courier New" pitchFamily="49" charset="0"/>
              <a:cs typeface="Courier New" pitchFamily="49" charset="0"/>
            </a:endParaRPr>
          </a:p>
          <a:p>
            <a:pPr>
              <a:buFontTx/>
              <a:buNone/>
            </a:pPr>
            <a:r>
              <a:rPr lang="en-GB" altLang="en-US" sz="2000" dirty="0" smtClean="0">
                <a:latin typeface="Courier New" pitchFamily="49" charset="0"/>
                <a:cs typeface="Courier New" pitchFamily="49" charset="0"/>
              </a:rPr>
              <a:t>if FAILED( </a:t>
            </a:r>
            <a:r>
              <a:rPr lang="en-GB" altLang="en-US" sz="2000" dirty="0" err="1" smtClean="0">
                <a:latin typeface="Courier New" pitchFamily="49" charset="0"/>
                <a:cs typeface="Courier New" pitchFamily="49" charset="0"/>
              </a:rPr>
              <a:t>hr</a:t>
            </a:r>
            <a:r>
              <a:rPr lang="en-GB" altLang="en-US" sz="2000" dirty="0" smtClean="0">
                <a:latin typeface="Courier New" pitchFamily="49" charset="0"/>
                <a:cs typeface="Courier New" pitchFamily="49" charset="0"/>
              </a:rPr>
              <a:t> )</a:t>
            </a:r>
          </a:p>
          <a:p>
            <a:pPr>
              <a:buFontTx/>
              <a:buNone/>
            </a:pPr>
            <a:r>
              <a:rPr lang="en-GB" altLang="en-US" sz="2000" dirty="0" smtClean="0">
                <a:latin typeface="Courier New" pitchFamily="49" charset="0"/>
                <a:cs typeface="Courier New" pitchFamily="49" charset="0"/>
              </a:rPr>
              <a:t>	return false;</a:t>
            </a:r>
          </a:p>
        </p:txBody>
      </p:sp>
    </p:spTree>
    <p:extLst>
      <p:ext uri="{BB962C8B-B14F-4D97-AF65-F5344CB8AC3E}">
        <p14:creationId xmlns:p14="http://schemas.microsoft.com/office/powerpoint/2010/main" val="3224406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altLang="en-US" smtClean="0"/>
              <a:t>STEP6: Acquiring access</a:t>
            </a:r>
          </a:p>
        </p:txBody>
      </p:sp>
      <p:sp>
        <p:nvSpPr>
          <p:cNvPr id="24579" name="Content Placeholder 2"/>
          <p:cNvSpPr>
            <a:spLocks noGrp="1"/>
          </p:cNvSpPr>
          <p:nvPr>
            <p:ph idx="1"/>
          </p:nvPr>
        </p:nvSpPr>
        <p:spPr/>
        <p:txBody>
          <a:bodyPr/>
          <a:lstStyle/>
          <a:p>
            <a:pPr>
              <a:lnSpc>
                <a:spcPct val="80000"/>
              </a:lnSpc>
            </a:pPr>
            <a:r>
              <a:rPr lang="en-MY" altLang="en-US" sz="2600" dirty="0" smtClean="0"/>
              <a:t>This function, which is another method of the DirectInput device, performs this action. This function, defined next, takes no parameters and returns only whether it was successful.</a:t>
            </a:r>
          </a:p>
          <a:p>
            <a:pPr>
              <a:lnSpc>
                <a:spcPct val="80000"/>
              </a:lnSpc>
              <a:buFontTx/>
              <a:buNone/>
            </a:pPr>
            <a:endParaRPr lang="en-GB" altLang="en-US" sz="2600" dirty="0" smtClean="0"/>
          </a:p>
          <a:p>
            <a:pPr lvl="1">
              <a:lnSpc>
                <a:spcPct val="80000"/>
              </a:lnSpc>
              <a:buFontTx/>
              <a:buNone/>
            </a:pPr>
            <a:r>
              <a:rPr lang="en-GB" altLang="en-US" sz="1800" dirty="0" smtClean="0">
                <a:latin typeface="Courier New" pitchFamily="49" charset="0"/>
                <a:cs typeface="Courier New" pitchFamily="49" charset="0"/>
              </a:rPr>
              <a:t>HRESULT Acquire(VOID);</a:t>
            </a:r>
          </a:p>
          <a:p>
            <a:pPr>
              <a:lnSpc>
                <a:spcPct val="80000"/>
              </a:lnSpc>
            </a:pPr>
            <a:endParaRPr lang="en-MY" altLang="en-US" sz="2600" dirty="0" smtClean="0"/>
          </a:p>
          <a:p>
            <a:pPr>
              <a:lnSpc>
                <a:spcPct val="80000"/>
              </a:lnSpc>
            </a:pPr>
            <a:r>
              <a:rPr lang="en-MY" altLang="en-US" sz="2600" dirty="0" smtClean="0"/>
              <a:t>The small code example that follows shows how the Acquire function is called.</a:t>
            </a:r>
          </a:p>
          <a:p>
            <a:pPr>
              <a:lnSpc>
                <a:spcPct val="80000"/>
              </a:lnSpc>
            </a:pPr>
            <a:endParaRPr lang="en-MY" altLang="en-US" sz="2600" dirty="0" smtClean="0"/>
          </a:p>
          <a:p>
            <a:pPr lvl="1">
              <a:lnSpc>
                <a:spcPct val="80000"/>
              </a:lnSpc>
              <a:buFontTx/>
              <a:buNone/>
            </a:pPr>
            <a:r>
              <a:rPr lang="en-MY" altLang="en-US" sz="1800" dirty="0" smtClean="0">
                <a:latin typeface="Courier New" pitchFamily="49" charset="0"/>
                <a:cs typeface="Courier New" pitchFamily="49" charset="0"/>
              </a:rPr>
              <a:t>// Get access to the input device.</a:t>
            </a:r>
          </a:p>
          <a:p>
            <a:pPr lvl="1">
              <a:lnSpc>
                <a:spcPct val="80000"/>
              </a:lnSpc>
              <a:buFontTx/>
              <a:buNone/>
            </a:pP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 </a:t>
            </a:r>
            <a:r>
              <a:rPr lang="en-GB" altLang="en-US" sz="1800" dirty="0" err="1" smtClean="0">
                <a:latin typeface="Courier New" pitchFamily="49" charset="0"/>
                <a:cs typeface="Courier New" pitchFamily="49" charset="0"/>
              </a:rPr>
              <a:t>DI_Device</a:t>
            </a:r>
            <a:r>
              <a:rPr lang="en-GB" altLang="en-US" sz="1800" dirty="0" smtClean="0">
                <a:latin typeface="Courier New" pitchFamily="49" charset="0"/>
                <a:cs typeface="Courier New" pitchFamily="49" charset="0"/>
              </a:rPr>
              <a:t>-&gt;Acquire();</a:t>
            </a:r>
          </a:p>
          <a:p>
            <a:pPr lvl="1">
              <a:lnSpc>
                <a:spcPct val="80000"/>
              </a:lnSpc>
              <a:buFontTx/>
              <a:buNone/>
            </a:pPr>
            <a:r>
              <a:rPr lang="en-GB" altLang="en-US" sz="1800" dirty="0" smtClean="0">
                <a:latin typeface="Courier New" pitchFamily="49" charset="0"/>
                <a:cs typeface="Courier New" pitchFamily="49" charset="0"/>
              </a:rPr>
              <a:t>if FAILED( </a:t>
            </a: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a:t>
            </a:r>
          </a:p>
          <a:p>
            <a:pPr lvl="2">
              <a:lnSpc>
                <a:spcPct val="80000"/>
              </a:lnSpc>
              <a:buFontTx/>
              <a:buNone/>
            </a:pPr>
            <a:r>
              <a:rPr lang="en-GB" altLang="en-US" sz="1800" dirty="0" smtClean="0">
                <a:latin typeface="Courier New" pitchFamily="49" charset="0"/>
                <a:cs typeface="Courier New" pitchFamily="49" charset="0"/>
              </a:rPr>
              <a:t>return false;</a:t>
            </a:r>
          </a:p>
        </p:txBody>
      </p:sp>
    </p:spTree>
    <p:extLst>
      <p:ext uri="{BB962C8B-B14F-4D97-AF65-F5344CB8AC3E}">
        <p14:creationId xmlns:p14="http://schemas.microsoft.com/office/powerpoint/2010/main" val="4196830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normAutofit/>
          </a:bodyPr>
          <a:lstStyle/>
          <a:p>
            <a:r>
              <a:rPr lang="en-GB" altLang="en-US" sz="3600" dirty="0" smtClean="0"/>
              <a:t>Retrieving data from keyboard devices</a:t>
            </a:r>
          </a:p>
        </p:txBody>
      </p:sp>
      <p:sp>
        <p:nvSpPr>
          <p:cNvPr id="25603" name="Content Placeholder 2"/>
          <p:cNvSpPr>
            <a:spLocks noGrp="1"/>
          </p:cNvSpPr>
          <p:nvPr>
            <p:ph idx="1"/>
          </p:nvPr>
        </p:nvSpPr>
        <p:spPr/>
        <p:txBody>
          <a:bodyPr/>
          <a:lstStyle/>
          <a:p>
            <a:r>
              <a:rPr lang="en-MY" altLang="en-US" sz="2000" dirty="0" smtClean="0"/>
              <a:t>All devices use the function </a:t>
            </a:r>
            <a:r>
              <a:rPr lang="en-MY" altLang="en-US" sz="2000" dirty="0" err="1" smtClean="0"/>
              <a:t>GetDeviceState</a:t>
            </a:r>
            <a:r>
              <a:rPr lang="en-MY" altLang="en-US" sz="2000" dirty="0" smtClean="0"/>
              <a:t> when reading input. Whether the input device is a keyboard, mouse, or gamepad, the </a:t>
            </a:r>
            <a:r>
              <a:rPr lang="en-MY" altLang="en-US" sz="2000" dirty="0" err="1" smtClean="0"/>
              <a:t>GetDeviceState</a:t>
            </a:r>
            <a:r>
              <a:rPr lang="en-MY" altLang="en-US" sz="2000" dirty="0" smtClean="0"/>
              <a:t> </a:t>
            </a:r>
            <a:r>
              <a:rPr lang="en-GB" altLang="en-US" sz="2000" dirty="0" smtClean="0"/>
              <a:t>function is used.</a:t>
            </a:r>
          </a:p>
          <a:p>
            <a:pPr lvl="1">
              <a:buFontTx/>
              <a:buNone/>
            </a:pPr>
            <a:endParaRPr lang="en-GB" altLang="en-US" sz="1800" dirty="0" smtClean="0">
              <a:latin typeface="Courier New" pitchFamily="49" charset="0"/>
              <a:cs typeface="Courier New" pitchFamily="49" charset="0"/>
            </a:endParaRPr>
          </a:p>
          <a:p>
            <a:pPr lvl="1">
              <a:buFontTx/>
              <a:buNone/>
            </a:pPr>
            <a:r>
              <a:rPr lang="en-GB" altLang="en-US" sz="2000" dirty="0" smtClean="0">
                <a:latin typeface="Courier New" pitchFamily="49" charset="0"/>
                <a:cs typeface="Courier New" pitchFamily="49" charset="0"/>
              </a:rPr>
              <a:t>HRESULT </a:t>
            </a:r>
            <a:r>
              <a:rPr lang="en-GB" altLang="en-US" sz="2000" dirty="0" err="1" smtClean="0">
                <a:latin typeface="Courier New" pitchFamily="49" charset="0"/>
                <a:cs typeface="Courier New" pitchFamily="49" charset="0"/>
              </a:rPr>
              <a:t>GetDeviceState</a:t>
            </a:r>
            <a:r>
              <a:rPr lang="en-GB" altLang="en-US" sz="2000" dirty="0" smtClean="0">
                <a:latin typeface="Courier New" pitchFamily="49" charset="0"/>
                <a:cs typeface="Courier New" pitchFamily="49" charset="0"/>
              </a:rPr>
              <a:t>(</a:t>
            </a:r>
          </a:p>
          <a:p>
            <a:pPr lvl="2">
              <a:buFontTx/>
              <a:buNone/>
            </a:pPr>
            <a:r>
              <a:rPr lang="en-GB" altLang="en-US" dirty="0" smtClean="0">
                <a:latin typeface="Courier New" pitchFamily="49" charset="0"/>
                <a:cs typeface="Courier New" pitchFamily="49" charset="0"/>
              </a:rPr>
              <a:t>DWORD </a:t>
            </a:r>
            <a:r>
              <a:rPr lang="en-GB" altLang="en-US" dirty="0" err="1" smtClean="0">
                <a:latin typeface="Courier New" pitchFamily="49" charset="0"/>
                <a:cs typeface="Courier New" pitchFamily="49" charset="0"/>
              </a:rPr>
              <a:t>cbData</a:t>
            </a:r>
            <a:r>
              <a:rPr lang="en-GB" altLang="en-US" dirty="0" smtClean="0">
                <a:latin typeface="Courier New" pitchFamily="49" charset="0"/>
                <a:cs typeface="Courier New" pitchFamily="49" charset="0"/>
              </a:rPr>
              <a:t>,</a:t>
            </a:r>
          </a:p>
          <a:p>
            <a:pPr lvl="2">
              <a:buFontTx/>
              <a:buNone/>
            </a:pPr>
            <a:r>
              <a:rPr lang="en-GB" altLang="en-US" dirty="0" smtClean="0">
                <a:latin typeface="Courier New" pitchFamily="49" charset="0"/>
                <a:cs typeface="Courier New" pitchFamily="49" charset="0"/>
              </a:rPr>
              <a:t>LPVOID </a:t>
            </a:r>
            <a:r>
              <a:rPr lang="en-GB" altLang="en-US" dirty="0" err="1" smtClean="0">
                <a:latin typeface="Courier New" pitchFamily="49" charset="0"/>
                <a:cs typeface="Courier New" pitchFamily="49" charset="0"/>
              </a:rPr>
              <a:t>lpvData</a:t>
            </a:r>
            <a:endParaRPr lang="en-GB" altLang="en-US" dirty="0" smtClean="0">
              <a:latin typeface="Courier New" pitchFamily="49" charset="0"/>
              <a:cs typeface="Courier New" pitchFamily="49" charset="0"/>
            </a:endParaRPr>
          </a:p>
          <a:p>
            <a:pPr lvl="1">
              <a:buFontTx/>
              <a:buNone/>
            </a:pPr>
            <a:r>
              <a:rPr lang="en-GB" altLang="en-US" sz="2000" dirty="0" smtClean="0">
                <a:latin typeface="Courier New" pitchFamily="49" charset="0"/>
                <a:cs typeface="Courier New" pitchFamily="49" charset="0"/>
              </a:rPr>
              <a:t>);</a:t>
            </a:r>
          </a:p>
          <a:p>
            <a:r>
              <a:rPr lang="en-MY" altLang="en-US" sz="2000" dirty="0" smtClean="0"/>
              <a:t>The function has two parameters:</a:t>
            </a:r>
          </a:p>
          <a:p>
            <a:pPr lvl="1"/>
            <a:r>
              <a:rPr lang="en-MY" altLang="en-US" sz="1600" b="1" dirty="0" err="1" smtClean="0">
                <a:latin typeface="Courier New" pitchFamily="49" charset="0"/>
                <a:cs typeface="Courier New" pitchFamily="49" charset="0"/>
              </a:rPr>
              <a:t>cbData</a:t>
            </a:r>
            <a:r>
              <a:rPr lang="en-MY" altLang="en-US" sz="1600" dirty="0" smtClean="0"/>
              <a:t> - DWORD value that holds the size of the buffer being passed as the second parameter. </a:t>
            </a:r>
          </a:p>
          <a:p>
            <a:pPr lvl="1"/>
            <a:r>
              <a:rPr lang="en-MY" altLang="en-US" sz="1600" b="1" dirty="0" err="1" smtClean="0">
                <a:latin typeface="Courier New" pitchFamily="49" charset="0"/>
                <a:cs typeface="Courier New" pitchFamily="49" charset="0"/>
              </a:rPr>
              <a:t>lpvData</a:t>
            </a:r>
            <a:r>
              <a:rPr lang="en-MY" altLang="en-US" sz="1600" dirty="0" smtClean="0"/>
              <a:t> - a pointer to the buffer that will hold the data that’s read from the device. </a:t>
            </a:r>
            <a:endParaRPr lang="en-GB" altLang="en-US" sz="1600" dirty="0" smtClean="0">
              <a:latin typeface="Courier New" pitchFamily="49" charset="0"/>
              <a:cs typeface="Courier New" pitchFamily="49" charset="0"/>
            </a:endParaRPr>
          </a:p>
        </p:txBody>
      </p:sp>
    </p:spTree>
    <p:extLst>
      <p:ext uri="{BB962C8B-B14F-4D97-AF65-F5344CB8AC3E}">
        <p14:creationId xmlns:p14="http://schemas.microsoft.com/office/powerpoint/2010/main" val="953409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Autofit/>
          </a:bodyPr>
          <a:lstStyle/>
          <a:p>
            <a:r>
              <a:rPr lang="en-GB" altLang="en-US" sz="3200" dirty="0" smtClean="0"/>
              <a:t>Reading from Keyboard using </a:t>
            </a:r>
            <a:r>
              <a:rPr lang="en-GB" altLang="en-US" sz="3200" dirty="0" err="1" smtClean="0"/>
              <a:t>GetDeviceState</a:t>
            </a:r>
            <a:endParaRPr lang="en-GB" altLang="en-US" sz="3200" dirty="0" smtClean="0"/>
          </a:p>
        </p:txBody>
      </p:sp>
      <p:sp>
        <p:nvSpPr>
          <p:cNvPr id="26627" name="Content Placeholder 2"/>
          <p:cNvSpPr>
            <a:spLocks noGrp="1"/>
          </p:cNvSpPr>
          <p:nvPr>
            <p:ph idx="1"/>
          </p:nvPr>
        </p:nvSpPr>
        <p:spPr/>
        <p:txBody>
          <a:bodyPr/>
          <a:lstStyle/>
          <a:p>
            <a:pPr>
              <a:lnSpc>
                <a:spcPct val="90000"/>
              </a:lnSpc>
            </a:pPr>
            <a:r>
              <a:rPr lang="en-MY" altLang="en-US" sz="2200" dirty="0" smtClean="0"/>
              <a:t>This fills a buffer with a snapshot of the keyboard at that moment in time. </a:t>
            </a:r>
          </a:p>
          <a:p>
            <a:pPr>
              <a:lnSpc>
                <a:spcPct val="90000"/>
              </a:lnSpc>
            </a:pPr>
            <a:r>
              <a:rPr lang="en-MY" altLang="en-US" sz="2200" dirty="0" smtClean="0"/>
              <a:t>This function takes a pointer to a buffer and how many buffer entries there are. </a:t>
            </a:r>
          </a:p>
          <a:p>
            <a:pPr>
              <a:lnSpc>
                <a:spcPct val="90000"/>
              </a:lnSpc>
            </a:pPr>
            <a:r>
              <a:rPr lang="en-MY" altLang="en-US" sz="2200" dirty="0" smtClean="0"/>
              <a:t>For a keyboard this is always 256. So to retrieve the data we need to declare a 256 array of chars then call the </a:t>
            </a:r>
            <a:r>
              <a:rPr lang="en-MY" altLang="en-US" sz="2200" dirty="0" err="1" smtClean="0"/>
              <a:t>GetDeviceState</a:t>
            </a:r>
            <a:r>
              <a:rPr lang="en-MY" altLang="en-US" sz="2200" dirty="0" smtClean="0"/>
              <a:t> method to fill it:</a:t>
            </a:r>
          </a:p>
          <a:p>
            <a:pPr>
              <a:lnSpc>
                <a:spcPct val="90000"/>
              </a:lnSpc>
            </a:pPr>
            <a:endParaRPr lang="en-MY" altLang="en-US" sz="2600" dirty="0" smtClean="0"/>
          </a:p>
          <a:p>
            <a:pPr>
              <a:lnSpc>
                <a:spcPct val="90000"/>
              </a:lnSpc>
              <a:buFontTx/>
              <a:buNone/>
            </a:pPr>
            <a:r>
              <a:rPr lang="en-MY" altLang="en-US" sz="2600" dirty="0" smtClean="0"/>
              <a:t> 	</a:t>
            </a:r>
            <a:r>
              <a:rPr lang="en-MY" altLang="en-US" sz="2100" dirty="0" smtClean="0">
                <a:latin typeface="Courier New" pitchFamily="49" charset="0"/>
                <a:cs typeface="Courier New" pitchFamily="49" charset="0"/>
              </a:rPr>
              <a:t>char    keys[256];</a:t>
            </a:r>
            <a:br>
              <a:rPr lang="en-MY" altLang="en-US" sz="2100" dirty="0" smtClean="0">
                <a:latin typeface="Courier New" pitchFamily="49" charset="0"/>
                <a:cs typeface="Courier New" pitchFamily="49" charset="0"/>
              </a:rPr>
            </a:br>
            <a:r>
              <a:rPr lang="en-MY" altLang="en-US" sz="2100" dirty="0" smtClean="0">
                <a:latin typeface="Courier New" pitchFamily="49" charset="0"/>
                <a:cs typeface="Courier New" pitchFamily="49" charset="0"/>
              </a:rPr>
              <a:t/>
            </a:r>
            <a:br>
              <a:rPr lang="en-MY" altLang="en-US" sz="2100" dirty="0" smtClean="0">
                <a:latin typeface="Courier New" pitchFamily="49" charset="0"/>
                <a:cs typeface="Courier New" pitchFamily="49" charset="0"/>
              </a:rPr>
            </a:br>
            <a:r>
              <a:rPr lang="en-MY" altLang="en-US" sz="2100" dirty="0" smtClean="0">
                <a:latin typeface="Courier New" pitchFamily="49" charset="0"/>
                <a:cs typeface="Courier New" pitchFamily="49" charset="0"/>
              </a:rPr>
              <a:t>//Get the input's device state, </a:t>
            </a:r>
          </a:p>
          <a:p>
            <a:pPr>
              <a:lnSpc>
                <a:spcPct val="90000"/>
              </a:lnSpc>
              <a:buFontTx/>
              <a:buNone/>
            </a:pPr>
            <a:r>
              <a:rPr lang="en-MY" altLang="en-US" sz="2100" dirty="0" smtClean="0">
                <a:latin typeface="Courier New" pitchFamily="49" charset="0"/>
                <a:cs typeface="Courier New" pitchFamily="49" charset="0"/>
              </a:rPr>
              <a:t>	//and put the state in keys - zero first</a:t>
            </a:r>
            <a:br>
              <a:rPr lang="en-MY" altLang="en-US" sz="2100" dirty="0" smtClean="0">
                <a:latin typeface="Courier New" pitchFamily="49" charset="0"/>
                <a:cs typeface="Courier New" pitchFamily="49" charset="0"/>
              </a:rPr>
            </a:br>
            <a:r>
              <a:rPr lang="en-MY" altLang="en-US" sz="2100" dirty="0" err="1" smtClean="0">
                <a:latin typeface="Courier New" pitchFamily="49" charset="0"/>
                <a:cs typeface="Courier New" pitchFamily="49" charset="0"/>
              </a:rPr>
              <a:t>ZeroMemory</a:t>
            </a:r>
            <a:r>
              <a:rPr lang="en-MY" altLang="en-US" sz="2100" dirty="0" smtClean="0">
                <a:latin typeface="Courier New" pitchFamily="49" charset="0"/>
                <a:cs typeface="Courier New" pitchFamily="49" charset="0"/>
              </a:rPr>
              <a:t>(keys, </a:t>
            </a:r>
            <a:r>
              <a:rPr lang="en-MY" altLang="en-US" sz="2100" dirty="0" err="1" smtClean="0">
                <a:latin typeface="Courier New" pitchFamily="49" charset="0"/>
                <a:cs typeface="Courier New" pitchFamily="49" charset="0"/>
              </a:rPr>
              <a:t>sizeof</a:t>
            </a:r>
            <a:r>
              <a:rPr lang="en-MY" altLang="en-US" sz="2100" dirty="0" smtClean="0">
                <a:latin typeface="Courier New" pitchFamily="49" charset="0"/>
                <a:cs typeface="Courier New" pitchFamily="49" charset="0"/>
              </a:rPr>
              <a:t>(keys) );</a:t>
            </a:r>
            <a:br>
              <a:rPr lang="en-MY" altLang="en-US" sz="2100" dirty="0" smtClean="0">
                <a:latin typeface="Courier New" pitchFamily="49" charset="0"/>
                <a:cs typeface="Courier New" pitchFamily="49" charset="0"/>
              </a:rPr>
            </a:br>
            <a:r>
              <a:rPr lang="en-MY" altLang="en-US" sz="2100" dirty="0" err="1" smtClean="0">
                <a:latin typeface="Courier New" pitchFamily="49" charset="0"/>
                <a:cs typeface="Courier New" pitchFamily="49" charset="0"/>
              </a:rPr>
              <a:t>m_diKeyboardDevice</a:t>
            </a:r>
            <a:r>
              <a:rPr lang="en-MY" altLang="en-US" sz="2100" dirty="0" smtClean="0">
                <a:latin typeface="Courier New" pitchFamily="49" charset="0"/>
                <a:cs typeface="Courier New" pitchFamily="49" charset="0"/>
              </a:rPr>
              <a:t>-&gt;</a:t>
            </a:r>
            <a:r>
              <a:rPr lang="en-MY" altLang="en-US" sz="2100" dirty="0" err="1" smtClean="0">
                <a:latin typeface="Courier New" pitchFamily="49" charset="0"/>
                <a:cs typeface="Courier New" pitchFamily="49" charset="0"/>
              </a:rPr>
              <a:t>GetDeviceState</a:t>
            </a:r>
            <a:r>
              <a:rPr lang="en-MY" altLang="en-US" sz="2100" dirty="0" smtClean="0">
                <a:latin typeface="Courier New" pitchFamily="49" charset="0"/>
                <a:cs typeface="Courier New" pitchFamily="49" charset="0"/>
              </a:rPr>
              <a:t>( </a:t>
            </a:r>
            <a:r>
              <a:rPr lang="en-MY" altLang="en-US" sz="2100" dirty="0" err="1" smtClean="0">
                <a:latin typeface="Courier New" pitchFamily="49" charset="0"/>
                <a:cs typeface="Courier New" pitchFamily="49" charset="0"/>
              </a:rPr>
              <a:t>sizeof</a:t>
            </a:r>
            <a:r>
              <a:rPr lang="en-MY" altLang="en-US" sz="2100" dirty="0" smtClean="0">
                <a:latin typeface="Courier New" pitchFamily="49" charset="0"/>
                <a:cs typeface="Courier New" pitchFamily="49" charset="0"/>
              </a:rPr>
              <a:t>(keys), keys );</a:t>
            </a:r>
          </a:p>
          <a:p>
            <a:pPr>
              <a:lnSpc>
                <a:spcPct val="90000"/>
              </a:lnSpc>
            </a:pPr>
            <a:endParaRPr lang="en-GB" altLang="en-US" sz="2600" dirty="0" smtClean="0">
              <a:solidFill>
                <a:srgbClr val="A50021"/>
              </a:solidFill>
            </a:endParaRPr>
          </a:p>
        </p:txBody>
      </p:sp>
    </p:spTree>
    <p:extLst>
      <p:ext uri="{BB962C8B-B14F-4D97-AF65-F5344CB8AC3E}">
        <p14:creationId xmlns:p14="http://schemas.microsoft.com/office/powerpoint/2010/main" val="2347085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GB" altLang="en-US" smtClean="0"/>
              <a:t>Checking which key is pressed</a:t>
            </a:r>
          </a:p>
        </p:txBody>
      </p:sp>
      <p:sp>
        <p:nvSpPr>
          <p:cNvPr id="27651" name="Content Placeholder 2"/>
          <p:cNvSpPr>
            <a:spLocks noGrp="1"/>
          </p:cNvSpPr>
          <p:nvPr>
            <p:ph idx="1"/>
          </p:nvPr>
        </p:nvSpPr>
        <p:spPr/>
        <p:txBody>
          <a:bodyPr/>
          <a:lstStyle/>
          <a:p>
            <a:r>
              <a:rPr lang="en-MY" altLang="en-US" sz="1600" dirty="0" smtClean="0"/>
              <a:t>If a key is pressed then and-</a:t>
            </a:r>
            <a:r>
              <a:rPr lang="en-MY" altLang="en-US" sz="1600" dirty="0" err="1" smtClean="0"/>
              <a:t>ing</a:t>
            </a:r>
            <a:r>
              <a:rPr lang="en-MY" altLang="en-US" sz="1600" dirty="0" smtClean="0"/>
              <a:t> it with 0x80 will return true. If it is 0 then it is not pressed. e.g. to see if the key at index 7 is pressed:</a:t>
            </a:r>
          </a:p>
          <a:p>
            <a:endParaRPr lang="en-MY" altLang="en-US" sz="1600" dirty="0" smtClean="0"/>
          </a:p>
          <a:p>
            <a:pPr lvl="1">
              <a:buFontTx/>
              <a:buNone/>
            </a:pPr>
            <a:r>
              <a:rPr lang="en-MY" altLang="en-US" sz="1600" dirty="0" smtClean="0">
                <a:latin typeface="Courier New" pitchFamily="49" charset="0"/>
                <a:cs typeface="Courier New" pitchFamily="49" charset="0"/>
              </a:rPr>
              <a:t>if (keys[7] &amp; 0x80)</a:t>
            </a:r>
            <a:br>
              <a:rPr lang="en-MY" altLang="en-US" sz="1600" dirty="0" smtClean="0">
                <a:latin typeface="Courier New" pitchFamily="49" charset="0"/>
                <a:cs typeface="Courier New" pitchFamily="49" charset="0"/>
              </a:rPr>
            </a:br>
            <a:r>
              <a:rPr lang="en-MY" altLang="en-US" sz="1600" dirty="0" smtClean="0">
                <a:latin typeface="Courier New" pitchFamily="49" charset="0"/>
                <a:cs typeface="Courier New" pitchFamily="49" charset="0"/>
              </a:rPr>
              <a:t>   // key 7 is pressed</a:t>
            </a:r>
          </a:p>
          <a:p>
            <a:r>
              <a:rPr lang="en-MY" altLang="en-US" sz="1600" dirty="0" smtClean="0"/>
              <a:t>Each of the array elements represents one key on the keyboard. Rather than try to remember all the numbers we can use some DirectInput defines. These are very similar to the virtual key codes we used previously in Win32. The main difference is that they begin with DIK_ instead of VK_ e.g. to determine if the right arrow is pressed down:</a:t>
            </a:r>
          </a:p>
          <a:p>
            <a:endParaRPr lang="en-MY" altLang="en-US" sz="1600" dirty="0" smtClean="0"/>
          </a:p>
          <a:p>
            <a:pPr lvl="1">
              <a:buFontTx/>
              <a:buNone/>
            </a:pPr>
            <a:r>
              <a:rPr lang="en-MY" altLang="en-US" sz="1600" dirty="0" smtClean="0">
                <a:latin typeface="Courier New" pitchFamily="49" charset="0"/>
                <a:cs typeface="Courier New" pitchFamily="49" charset="0"/>
              </a:rPr>
              <a:t>if (keys[DIK_RIGHT] &amp; 0x80)</a:t>
            </a:r>
            <a:br>
              <a:rPr lang="en-MY" altLang="en-US" sz="1600" dirty="0" smtClean="0">
                <a:latin typeface="Courier New" pitchFamily="49" charset="0"/>
                <a:cs typeface="Courier New" pitchFamily="49" charset="0"/>
              </a:rPr>
            </a:br>
            <a:r>
              <a:rPr lang="en-MY" altLang="en-US" sz="1600" dirty="0" smtClean="0">
                <a:latin typeface="Courier New" pitchFamily="49" charset="0"/>
                <a:cs typeface="Courier New" pitchFamily="49" charset="0"/>
              </a:rPr>
              <a:t>     // right arrow is pressed</a:t>
            </a:r>
          </a:p>
          <a:p>
            <a:endParaRPr lang="en-MY" altLang="en-US" sz="1600" dirty="0" smtClean="0"/>
          </a:p>
          <a:p>
            <a:r>
              <a:rPr lang="en-MY" altLang="en-US" sz="1600" dirty="0" smtClean="0"/>
              <a:t>To determine if the x key is pressed:</a:t>
            </a:r>
          </a:p>
          <a:p>
            <a:endParaRPr lang="en-MY" altLang="en-US" sz="1600" dirty="0" smtClean="0"/>
          </a:p>
          <a:p>
            <a:pPr lvl="1">
              <a:buFontTx/>
              <a:buNone/>
            </a:pPr>
            <a:r>
              <a:rPr lang="en-MY" altLang="en-US" sz="1600" dirty="0" smtClean="0">
                <a:latin typeface="Courier New" pitchFamily="49" charset="0"/>
                <a:cs typeface="Courier New" pitchFamily="49" charset="0"/>
              </a:rPr>
              <a:t>if (keys[DIK_X] &amp; 0x80)</a:t>
            </a:r>
            <a:br>
              <a:rPr lang="en-MY" altLang="en-US" sz="1600" dirty="0" smtClean="0">
                <a:latin typeface="Courier New" pitchFamily="49" charset="0"/>
                <a:cs typeface="Courier New" pitchFamily="49" charset="0"/>
              </a:rPr>
            </a:br>
            <a:r>
              <a:rPr lang="en-MY" altLang="en-US" sz="1600" dirty="0" smtClean="0">
                <a:latin typeface="Courier New" pitchFamily="49" charset="0"/>
                <a:cs typeface="Courier New" pitchFamily="49" charset="0"/>
              </a:rPr>
              <a:t>     // x key is pressed</a:t>
            </a:r>
          </a:p>
          <a:p>
            <a:endParaRPr lang="en-GB" altLang="en-US" sz="1600" dirty="0" smtClean="0">
              <a:solidFill>
                <a:srgbClr val="003300"/>
              </a:solidFill>
            </a:endParaRPr>
          </a:p>
        </p:txBody>
      </p:sp>
      <p:sp>
        <p:nvSpPr>
          <p:cNvPr id="27655" name="TextBox 6"/>
          <p:cNvSpPr txBox="1">
            <a:spLocks noChangeArrowheads="1"/>
          </p:cNvSpPr>
          <p:nvPr/>
        </p:nvSpPr>
        <p:spPr bwMode="auto">
          <a:xfrm>
            <a:off x="5486400" y="4419600"/>
            <a:ext cx="3200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MY" altLang="en-US" sz="1600"/>
              <a:t>These defines are held in the direct input header. A full list can be viewed </a:t>
            </a:r>
            <a:r>
              <a:rPr lang="en-MY" altLang="en-US" sz="1600">
                <a:hlinkClick r:id="rId2"/>
              </a:rPr>
              <a:t>http://msdn2.microsoft.com/en-us/library/bb174685.aspx</a:t>
            </a:r>
            <a:r>
              <a:rPr lang="en-MY" altLang="en-US" sz="1600"/>
              <a:t> </a:t>
            </a:r>
            <a:endParaRPr lang="en-GB" altLang="en-US" sz="1600"/>
          </a:p>
        </p:txBody>
      </p:sp>
    </p:spTree>
    <p:extLst>
      <p:ext uri="{BB962C8B-B14F-4D97-AF65-F5344CB8AC3E}">
        <p14:creationId xmlns:p14="http://schemas.microsoft.com/office/powerpoint/2010/main" val="393668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GB" altLang="en-US" smtClean="0"/>
              <a:t>Using macro</a:t>
            </a:r>
          </a:p>
        </p:txBody>
      </p:sp>
      <p:sp>
        <p:nvSpPr>
          <p:cNvPr id="28675" name="Content Placeholder 2"/>
          <p:cNvSpPr>
            <a:spLocks noGrp="1"/>
          </p:cNvSpPr>
          <p:nvPr>
            <p:ph idx="1"/>
          </p:nvPr>
        </p:nvSpPr>
        <p:spPr/>
        <p:txBody>
          <a:bodyPr/>
          <a:lstStyle/>
          <a:p>
            <a:pPr>
              <a:lnSpc>
                <a:spcPct val="80000"/>
              </a:lnSpc>
              <a:buFontTx/>
              <a:buNone/>
            </a:pPr>
            <a:r>
              <a:rPr lang="en-MY" altLang="en-US" sz="1300" dirty="0" smtClean="0">
                <a:latin typeface="Courier New" pitchFamily="49" charset="0"/>
                <a:cs typeface="Courier New" pitchFamily="49" charset="0"/>
              </a:rPr>
              <a:t>// Define the macro needed to check the state of the keys on the keyboard</a:t>
            </a:r>
          </a:p>
          <a:p>
            <a:pPr>
              <a:lnSpc>
                <a:spcPct val="80000"/>
              </a:lnSpc>
              <a:buFontTx/>
              <a:buNone/>
            </a:pPr>
            <a:r>
              <a:rPr lang="en-MY" altLang="en-US" sz="1300" dirty="0" smtClean="0">
                <a:latin typeface="Courier New" pitchFamily="49" charset="0"/>
                <a:cs typeface="Courier New" pitchFamily="49" charset="0"/>
              </a:rPr>
              <a:t>#define KEYDOWN(name, key) (name[key] &amp; 0x80)</a:t>
            </a:r>
          </a:p>
          <a:p>
            <a:pPr>
              <a:lnSpc>
                <a:spcPct val="80000"/>
              </a:lnSpc>
              <a:buFontTx/>
              <a:buNone/>
            </a:pPr>
            <a:endParaRPr lang="en-MY" altLang="en-US" sz="1300" dirty="0" smtClean="0">
              <a:latin typeface="Courier New" pitchFamily="49" charset="0"/>
              <a:cs typeface="Courier New" pitchFamily="49" charset="0"/>
            </a:endParaRPr>
          </a:p>
          <a:p>
            <a:pPr>
              <a:lnSpc>
                <a:spcPct val="80000"/>
              </a:lnSpc>
              <a:buFontTx/>
              <a:buNone/>
            </a:pPr>
            <a:r>
              <a:rPr lang="en-MY" altLang="en-US" sz="1300" dirty="0" smtClean="0">
                <a:latin typeface="Courier New" pitchFamily="49" charset="0"/>
                <a:cs typeface="Courier New" pitchFamily="49" charset="0"/>
              </a:rPr>
              <a:t>// This is the required keyboard buffer</a:t>
            </a:r>
          </a:p>
          <a:p>
            <a:pPr>
              <a:lnSpc>
                <a:spcPct val="80000"/>
              </a:lnSpc>
              <a:buFontTx/>
              <a:buNone/>
            </a:pPr>
            <a:r>
              <a:rPr lang="en-GB" altLang="en-US" sz="1300" dirty="0" smtClean="0">
                <a:latin typeface="Courier New" pitchFamily="49" charset="0"/>
                <a:cs typeface="Courier New" pitchFamily="49" charset="0"/>
              </a:rPr>
              <a:t>char buffer[256];</a:t>
            </a:r>
          </a:p>
          <a:p>
            <a:pPr>
              <a:lnSpc>
                <a:spcPct val="80000"/>
              </a:lnSpc>
              <a:buFontTx/>
              <a:buNone/>
            </a:pPr>
            <a:endParaRPr lang="en-GB" altLang="en-US" sz="1300" dirty="0" smtClean="0">
              <a:latin typeface="Courier New" pitchFamily="49" charset="0"/>
              <a:cs typeface="Courier New" pitchFamily="49" charset="0"/>
            </a:endParaRPr>
          </a:p>
          <a:p>
            <a:pPr>
              <a:lnSpc>
                <a:spcPct val="80000"/>
              </a:lnSpc>
              <a:buFontTx/>
              <a:buNone/>
            </a:pPr>
            <a:r>
              <a:rPr lang="en-MY" altLang="en-US" sz="1300" dirty="0" smtClean="0">
                <a:latin typeface="Courier New" pitchFamily="49" charset="0"/>
                <a:cs typeface="Courier New" pitchFamily="49" charset="0"/>
              </a:rPr>
              <a:t>// This is the main game loop, read from the input device each frame</a:t>
            </a:r>
          </a:p>
          <a:p>
            <a:pPr>
              <a:lnSpc>
                <a:spcPct val="80000"/>
              </a:lnSpc>
              <a:buFontTx/>
              <a:buNone/>
            </a:pPr>
            <a:r>
              <a:rPr lang="en-GB" altLang="en-US" sz="1300" dirty="0" smtClean="0">
                <a:latin typeface="Courier New" pitchFamily="49" charset="0"/>
                <a:cs typeface="Courier New" pitchFamily="49" charset="0"/>
              </a:rPr>
              <a:t>while ( 1 )</a:t>
            </a:r>
          </a:p>
          <a:p>
            <a:pPr>
              <a:lnSpc>
                <a:spcPct val="80000"/>
              </a:lnSpc>
              <a:buFontTx/>
              <a:buNone/>
            </a:pPr>
            <a:r>
              <a:rPr lang="en-GB" altLang="en-US" sz="1300" dirty="0" smtClean="0">
                <a:latin typeface="Courier New" pitchFamily="49" charset="0"/>
                <a:cs typeface="Courier New" pitchFamily="49" charset="0"/>
              </a:rPr>
              <a:t>{</a:t>
            </a:r>
          </a:p>
          <a:p>
            <a:pPr lvl="1">
              <a:lnSpc>
                <a:spcPct val="80000"/>
              </a:lnSpc>
              <a:buFontTx/>
              <a:buNone/>
            </a:pPr>
            <a:r>
              <a:rPr lang="en-MY" altLang="en-US" sz="1100" dirty="0" smtClean="0">
                <a:latin typeface="Courier New" pitchFamily="49" charset="0"/>
                <a:cs typeface="Courier New" pitchFamily="49" charset="0"/>
              </a:rPr>
              <a:t>// Check the keyboard and see if any keys are currently </a:t>
            </a:r>
            <a:r>
              <a:rPr lang="en-GB" altLang="en-US" sz="1100" dirty="0" smtClean="0">
                <a:latin typeface="Courier New" pitchFamily="49" charset="0"/>
                <a:cs typeface="Courier New" pitchFamily="49" charset="0"/>
              </a:rPr>
              <a:t>being pressed</a:t>
            </a:r>
          </a:p>
          <a:p>
            <a:pPr lvl="1">
              <a:lnSpc>
                <a:spcPct val="80000"/>
              </a:lnSpc>
              <a:buFontTx/>
              <a:buNone/>
            </a:pPr>
            <a:r>
              <a:rPr lang="en-GB" altLang="en-US" sz="1100" dirty="0" err="1" smtClean="0">
                <a:latin typeface="Courier New" pitchFamily="49" charset="0"/>
                <a:cs typeface="Courier New" pitchFamily="49" charset="0"/>
              </a:rPr>
              <a:t>g_lpDIDevice</a:t>
            </a:r>
            <a:r>
              <a:rPr lang="en-GB" altLang="en-US" sz="1100" dirty="0" smtClean="0">
                <a:latin typeface="Courier New" pitchFamily="49" charset="0"/>
                <a:cs typeface="Courier New" pitchFamily="49" charset="0"/>
              </a:rPr>
              <a:t>-&gt;</a:t>
            </a:r>
            <a:r>
              <a:rPr lang="en-GB" altLang="en-US" sz="1100" dirty="0" err="1" smtClean="0">
                <a:latin typeface="Courier New" pitchFamily="49" charset="0"/>
                <a:cs typeface="Courier New" pitchFamily="49" charset="0"/>
              </a:rPr>
              <a:t>GetDeviceState</a:t>
            </a:r>
            <a:r>
              <a:rPr lang="en-GB" altLang="en-US" sz="1100" dirty="0" smtClean="0">
                <a:latin typeface="Courier New" pitchFamily="49" charset="0"/>
                <a:cs typeface="Courier New" pitchFamily="49" charset="0"/>
              </a:rPr>
              <a:t>( </a:t>
            </a:r>
            <a:r>
              <a:rPr lang="en-GB" altLang="en-US" sz="1100" dirty="0" err="1" smtClean="0">
                <a:latin typeface="Courier New" pitchFamily="49" charset="0"/>
                <a:cs typeface="Courier New" pitchFamily="49" charset="0"/>
              </a:rPr>
              <a:t>sizeof</a:t>
            </a:r>
            <a:r>
              <a:rPr lang="en-GB" altLang="en-US" sz="1100" dirty="0" smtClean="0">
                <a:latin typeface="Courier New" pitchFamily="49" charset="0"/>
                <a:cs typeface="Courier New" pitchFamily="49" charset="0"/>
              </a:rPr>
              <a:t>( buffer ),(LPVOID )&amp;buffer );</a:t>
            </a:r>
          </a:p>
          <a:p>
            <a:pPr lvl="1">
              <a:lnSpc>
                <a:spcPct val="80000"/>
              </a:lnSpc>
              <a:buFontTx/>
              <a:buNone/>
            </a:pPr>
            <a:endParaRPr lang="en-GB" altLang="en-US" sz="1100" dirty="0" smtClean="0">
              <a:latin typeface="Courier New" pitchFamily="49" charset="0"/>
              <a:cs typeface="Courier New" pitchFamily="49" charset="0"/>
            </a:endParaRPr>
          </a:p>
          <a:p>
            <a:pPr lvl="1">
              <a:lnSpc>
                <a:spcPct val="80000"/>
              </a:lnSpc>
              <a:buFontTx/>
              <a:buNone/>
            </a:pPr>
            <a:r>
              <a:rPr lang="en-MY" altLang="en-US" sz="1100" dirty="0" smtClean="0">
                <a:latin typeface="Courier New" pitchFamily="49" charset="0"/>
                <a:cs typeface="Courier New" pitchFamily="49" charset="0"/>
              </a:rPr>
              <a:t>// Do something with the input</a:t>
            </a:r>
          </a:p>
          <a:p>
            <a:pPr lvl="1">
              <a:lnSpc>
                <a:spcPct val="80000"/>
              </a:lnSpc>
              <a:buFontTx/>
              <a:buNone/>
            </a:pPr>
            <a:r>
              <a:rPr lang="en-MY" altLang="en-US" sz="1100" dirty="0" smtClean="0">
                <a:latin typeface="Courier New" pitchFamily="49" charset="0"/>
                <a:cs typeface="Courier New" pitchFamily="49" charset="0"/>
              </a:rPr>
              <a:t>// Here the KEYDOWN macro checks whether the left arrow key was pressed</a:t>
            </a:r>
          </a:p>
          <a:p>
            <a:pPr lvl="1">
              <a:lnSpc>
                <a:spcPct val="80000"/>
              </a:lnSpc>
              <a:buFontTx/>
              <a:buNone/>
            </a:pPr>
            <a:r>
              <a:rPr lang="en-GB" altLang="en-US" sz="1100" dirty="0" smtClean="0">
                <a:latin typeface="Courier New" pitchFamily="49" charset="0"/>
                <a:cs typeface="Courier New" pitchFamily="49" charset="0"/>
              </a:rPr>
              <a:t>if (KEYDOWN(buffer, DIK_LEFT))</a:t>
            </a:r>
          </a:p>
          <a:p>
            <a:pPr lvl="1">
              <a:lnSpc>
                <a:spcPct val="80000"/>
              </a:lnSpc>
              <a:buFontTx/>
              <a:buNone/>
            </a:pPr>
            <a:r>
              <a:rPr lang="en-GB" altLang="en-US" sz="1100" dirty="0" smtClean="0">
                <a:latin typeface="Courier New" pitchFamily="49" charset="0"/>
                <a:cs typeface="Courier New" pitchFamily="49" charset="0"/>
              </a:rPr>
              <a:t>{</a:t>
            </a:r>
          </a:p>
          <a:p>
            <a:pPr lvl="1">
              <a:lnSpc>
                <a:spcPct val="80000"/>
              </a:lnSpc>
              <a:buFontTx/>
              <a:buNone/>
            </a:pPr>
            <a:r>
              <a:rPr lang="en-MY" altLang="en-US" sz="1100" dirty="0" smtClean="0">
                <a:latin typeface="Courier New" pitchFamily="49" charset="0"/>
                <a:cs typeface="Courier New" pitchFamily="49" charset="0"/>
              </a:rPr>
              <a:t>	// Do something with the left arrow</a:t>
            </a:r>
          </a:p>
          <a:p>
            <a:pPr lvl="1">
              <a:lnSpc>
                <a:spcPct val="80000"/>
              </a:lnSpc>
              <a:buFontTx/>
              <a:buNone/>
            </a:pPr>
            <a:r>
              <a:rPr lang="en-GB" altLang="en-US" sz="1100" dirty="0" smtClean="0">
                <a:latin typeface="Courier New" pitchFamily="49" charset="0"/>
                <a:cs typeface="Courier New" pitchFamily="49" charset="0"/>
              </a:rPr>
              <a:t>}</a:t>
            </a:r>
          </a:p>
          <a:p>
            <a:pPr lvl="1">
              <a:lnSpc>
                <a:spcPct val="80000"/>
              </a:lnSpc>
              <a:buFontTx/>
              <a:buNone/>
            </a:pPr>
            <a:endParaRPr lang="en-GB" altLang="en-US" sz="1100" dirty="0" smtClean="0">
              <a:latin typeface="Courier New" pitchFamily="49" charset="0"/>
              <a:cs typeface="Courier New" pitchFamily="49" charset="0"/>
            </a:endParaRPr>
          </a:p>
          <a:p>
            <a:pPr lvl="1">
              <a:lnSpc>
                <a:spcPct val="80000"/>
              </a:lnSpc>
              <a:buFontTx/>
              <a:buNone/>
            </a:pPr>
            <a:r>
              <a:rPr lang="en-MY" altLang="en-US" sz="1100" dirty="0" smtClean="0">
                <a:latin typeface="Courier New" pitchFamily="49" charset="0"/>
                <a:cs typeface="Courier New" pitchFamily="49" charset="0"/>
              </a:rPr>
              <a:t>// KEYDOWN is used again to check whether the up arrow key was pressed</a:t>
            </a:r>
          </a:p>
          <a:p>
            <a:pPr lvl="1">
              <a:lnSpc>
                <a:spcPct val="80000"/>
              </a:lnSpc>
              <a:buFontTx/>
              <a:buNone/>
            </a:pPr>
            <a:r>
              <a:rPr lang="en-GB" altLang="en-US" sz="1100" dirty="0" smtClean="0">
                <a:latin typeface="Courier New" pitchFamily="49" charset="0"/>
                <a:cs typeface="Courier New" pitchFamily="49" charset="0"/>
              </a:rPr>
              <a:t>if (KEYDOWN(buffer, DIK_UP))</a:t>
            </a:r>
          </a:p>
          <a:p>
            <a:pPr lvl="1">
              <a:lnSpc>
                <a:spcPct val="80000"/>
              </a:lnSpc>
              <a:buFontTx/>
              <a:buNone/>
            </a:pPr>
            <a:r>
              <a:rPr lang="en-GB" altLang="en-US" sz="1100" dirty="0" smtClean="0">
                <a:latin typeface="Courier New" pitchFamily="49" charset="0"/>
                <a:cs typeface="Courier New" pitchFamily="49" charset="0"/>
              </a:rPr>
              <a:t>{</a:t>
            </a:r>
          </a:p>
          <a:p>
            <a:pPr lvl="1">
              <a:lnSpc>
                <a:spcPct val="80000"/>
              </a:lnSpc>
              <a:buFontTx/>
              <a:buNone/>
            </a:pPr>
            <a:r>
              <a:rPr lang="en-MY" altLang="en-US" sz="1100" dirty="0" smtClean="0">
                <a:latin typeface="Courier New" pitchFamily="49" charset="0"/>
                <a:cs typeface="Courier New" pitchFamily="49" charset="0"/>
              </a:rPr>
              <a:t>	// Do something with the up arrow</a:t>
            </a:r>
          </a:p>
          <a:p>
            <a:pPr lvl="1">
              <a:lnSpc>
                <a:spcPct val="80000"/>
              </a:lnSpc>
              <a:buFontTx/>
              <a:buNone/>
            </a:pPr>
            <a:r>
              <a:rPr lang="en-GB" altLang="en-US" sz="1100" dirty="0" smtClean="0">
                <a:latin typeface="Courier New" pitchFamily="49" charset="0"/>
                <a:cs typeface="Courier New" pitchFamily="49" charset="0"/>
              </a:rPr>
              <a:t>}</a:t>
            </a:r>
          </a:p>
          <a:p>
            <a:pPr>
              <a:lnSpc>
                <a:spcPct val="80000"/>
              </a:lnSpc>
              <a:buFontTx/>
              <a:buNone/>
            </a:pPr>
            <a:r>
              <a:rPr lang="en-GB" altLang="en-US" sz="1300" dirty="0" smtClean="0">
                <a:latin typeface="Courier New" pitchFamily="49" charset="0"/>
                <a:cs typeface="Courier New" pitchFamily="49" charset="0"/>
              </a:rPr>
              <a:t>}</a:t>
            </a:r>
          </a:p>
        </p:txBody>
      </p:sp>
    </p:spTree>
    <p:extLst>
      <p:ext uri="{BB962C8B-B14F-4D97-AF65-F5344CB8AC3E}">
        <p14:creationId xmlns:p14="http://schemas.microsoft.com/office/powerpoint/2010/main" val="3049787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GB" altLang="en-US" smtClean="0"/>
              <a:t>Reading data from mouse devices </a:t>
            </a:r>
          </a:p>
        </p:txBody>
      </p:sp>
      <p:sp>
        <p:nvSpPr>
          <p:cNvPr id="29699" name="Content Placeholder 2"/>
          <p:cNvSpPr>
            <a:spLocks noGrp="1"/>
          </p:cNvSpPr>
          <p:nvPr>
            <p:ph idx="1"/>
          </p:nvPr>
        </p:nvSpPr>
        <p:spPr/>
        <p:txBody>
          <a:bodyPr/>
          <a:lstStyle/>
          <a:p>
            <a:r>
              <a:rPr lang="en-MY" altLang="en-US" sz="2400" smtClean="0"/>
              <a:t>Similar to keyboard but the main differences are the GUID that is passed to the CreateDevice function and the DIDATAFORMAT structure that holds the input for this device.</a:t>
            </a:r>
          </a:p>
          <a:p>
            <a:endParaRPr lang="en-GB" altLang="en-US" smtClean="0"/>
          </a:p>
        </p:txBody>
      </p:sp>
    </p:spTree>
    <p:extLst>
      <p:ext uri="{BB962C8B-B14F-4D97-AF65-F5344CB8AC3E}">
        <p14:creationId xmlns:p14="http://schemas.microsoft.com/office/powerpoint/2010/main" val="1686034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GB" altLang="en-US" smtClean="0"/>
              <a:t>Reading data from mouse devices</a:t>
            </a:r>
          </a:p>
        </p:txBody>
      </p:sp>
      <p:sp>
        <p:nvSpPr>
          <p:cNvPr id="30723" name="Content Placeholder 2"/>
          <p:cNvSpPr>
            <a:spLocks noGrp="1"/>
          </p:cNvSpPr>
          <p:nvPr>
            <p:ph idx="1"/>
          </p:nvPr>
        </p:nvSpPr>
        <p:spPr/>
        <p:txBody>
          <a:bodyPr/>
          <a:lstStyle/>
          <a:p>
            <a:pPr>
              <a:lnSpc>
                <a:spcPct val="80000"/>
              </a:lnSpc>
            </a:pPr>
            <a:r>
              <a:rPr lang="en-MY" altLang="en-US" sz="2500" dirty="0" smtClean="0"/>
              <a:t>Changes in STEP3:</a:t>
            </a:r>
          </a:p>
          <a:p>
            <a:pPr>
              <a:lnSpc>
                <a:spcPct val="80000"/>
              </a:lnSpc>
              <a:buFontTx/>
              <a:buNone/>
            </a:pPr>
            <a:r>
              <a:rPr lang="en-MY" altLang="en-US" sz="1800" dirty="0" smtClean="0">
                <a:latin typeface="Courier New" pitchFamily="49" charset="0"/>
                <a:cs typeface="Courier New" pitchFamily="49" charset="0"/>
              </a:rPr>
              <a:t>// Call the </a:t>
            </a:r>
            <a:r>
              <a:rPr lang="en-MY" altLang="en-US" sz="1800" dirty="0" err="1" smtClean="0">
                <a:latin typeface="Courier New" pitchFamily="49" charset="0"/>
                <a:cs typeface="Courier New" pitchFamily="49" charset="0"/>
              </a:rPr>
              <a:t>CreateDevice</a:t>
            </a:r>
            <a:r>
              <a:rPr lang="en-MY" altLang="en-US" sz="1800" dirty="0" smtClean="0">
                <a:latin typeface="Courier New" pitchFamily="49" charset="0"/>
                <a:cs typeface="Courier New" pitchFamily="49" charset="0"/>
              </a:rPr>
              <a:t> function using the </a:t>
            </a:r>
          </a:p>
          <a:p>
            <a:pPr>
              <a:lnSpc>
                <a:spcPct val="80000"/>
              </a:lnSpc>
              <a:buFontTx/>
              <a:buNone/>
            </a:pPr>
            <a:r>
              <a:rPr lang="en-MY" altLang="en-US" sz="1800" dirty="0" smtClean="0">
                <a:latin typeface="Courier New" pitchFamily="49" charset="0"/>
                <a:cs typeface="Courier New" pitchFamily="49" charset="0"/>
              </a:rPr>
              <a:t>// </a:t>
            </a:r>
            <a:r>
              <a:rPr lang="en-MY" altLang="en-US" sz="1800" dirty="0" err="1" smtClean="0">
                <a:latin typeface="Courier New" pitchFamily="49" charset="0"/>
                <a:cs typeface="Courier New" pitchFamily="49" charset="0"/>
              </a:rPr>
              <a:t>GUID_SysMouse</a:t>
            </a:r>
            <a:r>
              <a:rPr lang="en-MY" altLang="en-US" sz="1800" dirty="0" smtClean="0">
                <a:latin typeface="Courier New" pitchFamily="49" charset="0"/>
                <a:cs typeface="Courier New" pitchFamily="49" charset="0"/>
              </a:rPr>
              <a:t> parameter</a:t>
            </a:r>
          </a:p>
          <a:p>
            <a:pPr>
              <a:lnSpc>
                <a:spcPct val="80000"/>
              </a:lnSpc>
              <a:buFontTx/>
              <a:buNone/>
            </a:pP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 </a:t>
            </a:r>
            <a:r>
              <a:rPr lang="en-GB" altLang="en-US" sz="1800" dirty="0" err="1" smtClean="0">
                <a:latin typeface="Courier New" pitchFamily="49" charset="0"/>
                <a:cs typeface="Courier New" pitchFamily="49" charset="0"/>
              </a:rPr>
              <a:t>g_lpDI</a:t>
            </a:r>
            <a:r>
              <a:rPr lang="en-GB" altLang="en-US" sz="1800" dirty="0" smtClean="0">
                <a:latin typeface="Courier New" pitchFamily="49" charset="0"/>
                <a:cs typeface="Courier New" pitchFamily="49" charset="0"/>
              </a:rPr>
              <a:t>-&gt;</a:t>
            </a:r>
            <a:r>
              <a:rPr lang="en-GB" altLang="en-US" sz="1800" dirty="0" err="1" smtClean="0">
                <a:latin typeface="Courier New" pitchFamily="49" charset="0"/>
                <a:cs typeface="Courier New" pitchFamily="49" charset="0"/>
              </a:rPr>
              <a:t>CreateDevice</a:t>
            </a:r>
            <a:r>
              <a:rPr lang="en-GB" altLang="en-US" sz="1800" dirty="0" smtClean="0">
                <a:latin typeface="Courier New" pitchFamily="49" charset="0"/>
                <a:cs typeface="Courier New" pitchFamily="49" charset="0"/>
              </a:rPr>
              <a:t>(</a:t>
            </a:r>
            <a:r>
              <a:rPr lang="en-GB" altLang="en-US" sz="1800" dirty="0" err="1" smtClean="0">
                <a:latin typeface="Courier New" pitchFamily="49" charset="0"/>
                <a:cs typeface="Courier New" pitchFamily="49" charset="0"/>
              </a:rPr>
              <a:t>GUID_SysMouse</a:t>
            </a:r>
            <a:r>
              <a:rPr lang="en-GB" altLang="en-US" sz="1800" dirty="0" smtClean="0">
                <a:latin typeface="Courier New" pitchFamily="49" charset="0"/>
                <a:cs typeface="Courier New" pitchFamily="49" charset="0"/>
              </a:rPr>
              <a:t>, &amp;</a:t>
            </a:r>
            <a:r>
              <a:rPr lang="en-GB" altLang="en-US" sz="1800" dirty="0" err="1" smtClean="0">
                <a:latin typeface="Courier New" pitchFamily="49" charset="0"/>
                <a:cs typeface="Courier New" pitchFamily="49" charset="0"/>
              </a:rPr>
              <a:t>g_lpDIDevice</a:t>
            </a:r>
            <a:r>
              <a:rPr lang="en-GB" altLang="en-US" sz="1800" dirty="0" smtClean="0">
                <a:latin typeface="Courier New" pitchFamily="49" charset="0"/>
                <a:cs typeface="Courier New" pitchFamily="49" charset="0"/>
              </a:rPr>
              <a:t>, NULL);</a:t>
            </a:r>
          </a:p>
          <a:p>
            <a:pPr>
              <a:lnSpc>
                <a:spcPct val="80000"/>
              </a:lnSpc>
              <a:buFontTx/>
              <a:buNone/>
            </a:pPr>
            <a:endParaRPr lang="en-GB" altLang="en-US" sz="1800" dirty="0" smtClean="0">
              <a:latin typeface="Courier New" pitchFamily="49" charset="0"/>
              <a:cs typeface="Courier New" pitchFamily="49" charset="0"/>
            </a:endParaRPr>
          </a:p>
          <a:p>
            <a:pPr>
              <a:lnSpc>
                <a:spcPct val="80000"/>
              </a:lnSpc>
              <a:buFontTx/>
              <a:buNone/>
            </a:pPr>
            <a:r>
              <a:rPr lang="en-MY" altLang="en-US" sz="1800" dirty="0" smtClean="0">
                <a:latin typeface="Courier New" pitchFamily="49" charset="0"/>
                <a:cs typeface="Courier New" pitchFamily="49" charset="0"/>
              </a:rPr>
              <a:t>// Check the return code for the </a:t>
            </a:r>
          </a:p>
          <a:p>
            <a:pPr>
              <a:lnSpc>
                <a:spcPct val="80000"/>
              </a:lnSpc>
              <a:buFontTx/>
              <a:buNone/>
            </a:pPr>
            <a:r>
              <a:rPr lang="en-MY" altLang="en-US" sz="1800" dirty="0" smtClean="0">
                <a:latin typeface="Courier New" pitchFamily="49" charset="0"/>
                <a:cs typeface="Courier New" pitchFamily="49" charset="0"/>
              </a:rPr>
              <a:t>// </a:t>
            </a:r>
            <a:r>
              <a:rPr lang="en-MY" altLang="en-US" sz="1800" dirty="0" err="1" smtClean="0">
                <a:latin typeface="Courier New" pitchFamily="49" charset="0"/>
                <a:cs typeface="Courier New" pitchFamily="49" charset="0"/>
              </a:rPr>
              <a:t>CreateDevice</a:t>
            </a:r>
            <a:r>
              <a:rPr lang="en-MY" altLang="en-US" sz="1800" dirty="0" smtClean="0">
                <a:latin typeface="Courier New" pitchFamily="49" charset="0"/>
                <a:cs typeface="Courier New" pitchFamily="49" charset="0"/>
              </a:rPr>
              <a:t> function</a:t>
            </a:r>
          </a:p>
          <a:p>
            <a:pPr>
              <a:lnSpc>
                <a:spcPct val="80000"/>
              </a:lnSpc>
              <a:buFontTx/>
              <a:buNone/>
            </a:pPr>
            <a:r>
              <a:rPr lang="en-GB" altLang="en-US" sz="1800" dirty="0" smtClean="0">
                <a:latin typeface="Courier New" pitchFamily="49" charset="0"/>
                <a:cs typeface="Courier New" pitchFamily="49" charset="0"/>
              </a:rPr>
              <a:t>if FAILED(</a:t>
            </a: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a:t>
            </a:r>
          </a:p>
          <a:p>
            <a:pPr>
              <a:lnSpc>
                <a:spcPct val="80000"/>
              </a:lnSpc>
              <a:buFontTx/>
              <a:buNone/>
            </a:pPr>
            <a:r>
              <a:rPr lang="en-GB" altLang="en-US" sz="1800" dirty="0" smtClean="0">
                <a:latin typeface="Courier New" pitchFamily="49" charset="0"/>
                <a:cs typeface="Courier New" pitchFamily="49" charset="0"/>
              </a:rPr>
              <a:t>	return FALSE;</a:t>
            </a:r>
          </a:p>
          <a:p>
            <a:pPr>
              <a:lnSpc>
                <a:spcPct val="80000"/>
              </a:lnSpc>
              <a:buFontTx/>
              <a:buNone/>
            </a:pPr>
            <a:endParaRPr lang="en-MY" altLang="en-US" sz="1800" dirty="0" smtClean="0">
              <a:latin typeface="Courier New" pitchFamily="49" charset="0"/>
              <a:cs typeface="Courier New" pitchFamily="49" charset="0"/>
            </a:endParaRPr>
          </a:p>
          <a:p>
            <a:pPr>
              <a:lnSpc>
                <a:spcPct val="80000"/>
              </a:lnSpc>
            </a:pPr>
            <a:r>
              <a:rPr lang="en-GB" altLang="en-US" sz="1800" dirty="0" smtClean="0"/>
              <a:t>Changes in STEP4:</a:t>
            </a:r>
          </a:p>
          <a:p>
            <a:pPr>
              <a:lnSpc>
                <a:spcPct val="80000"/>
              </a:lnSpc>
              <a:buFontTx/>
              <a:buNone/>
            </a:pPr>
            <a:r>
              <a:rPr lang="en-MY" altLang="en-US" sz="1800" dirty="0" smtClean="0">
                <a:latin typeface="Courier New" pitchFamily="49" charset="0"/>
                <a:cs typeface="Courier New" pitchFamily="49" charset="0"/>
              </a:rPr>
              <a:t>// Set the data format for the mouse</a:t>
            </a:r>
          </a:p>
          <a:p>
            <a:pPr>
              <a:lnSpc>
                <a:spcPct val="80000"/>
              </a:lnSpc>
              <a:buFontTx/>
              <a:buNone/>
            </a:pP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 </a:t>
            </a:r>
            <a:r>
              <a:rPr lang="en-GB" altLang="en-US" sz="1800" dirty="0" err="1" smtClean="0">
                <a:latin typeface="Courier New" pitchFamily="49" charset="0"/>
                <a:cs typeface="Courier New" pitchFamily="49" charset="0"/>
              </a:rPr>
              <a:t>g_lpDIDevice</a:t>
            </a:r>
            <a:r>
              <a:rPr lang="en-GB" altLang="en-US" sz="1800" dirty="0" smtClean="0">
                <a:latin typeface="Courier New" pitchFamily="49" charset="0"/>
                <a:cs typeface="Courier New" pitchFamily="49" charset="0"/>
              </a:rPr>
              <a:t>-&gt;</a:t>
            </a:r>
            <a:r>
              <a:rPr lang="en-GB" altLang="en-US" sz="1800" dirty="0" err="1" smtClean="0">
                <a:latin typeface="Courier New" pitchFamily="49" charset="0"/>
                <a:cs typeface="Courier New" pitchFamily="49" charset="0"/>
              </a:rPr>
              <a:t>SetDataFormat</a:t>
            </a:r>
            <a:r>
              <a:rPr lang="en-GB" altLang="en-US" sz="1800" dirty="0" smtClean="0">
                <a:latin typeface="Courier New" pitchFamily="49" charset="0"/>
                <a:cs typeface="Courier New" pitchFamily="49" charset="0"/>
              </a:rPr>
              <a:t>( &amp;</a:t>
            </a:r>
            <a:r>
              <a:rPr lang="en-GB" altLang="en-US" sz="1800" dirty="0" err="1" smtClean="0">
                <a:latin typeface="Courier New" pitchFamily="49" charset="0"/>
                <a:cs typeface="Courier New" pitchFamily="49" charset="0"/>
              </a:rPr>
              <a:t>c_dfDIMouse</a:t>
            </a:r>
            <a:r>
              <a:rPr lang="en-GB" altLang="en-US" sz="1800" dirty="0" smtClean="0">
                <a:latin typeface="Courier New" pitchFamily="49" charset="0"/>
                <a:cs typeface="Courier New" pitchFamily="49" charset="0"/>
              </a:rPr>
              <a:t> );</a:t>
            </a:r>
          </a:p>
          <a:p>
            <a:pPr>
              <a:lnSpc>
                <a:spcPct val="80000"/>
              </a:lnSpc>
              <a:buFontTx/>
              <a:buNone/>
            </a:pPr>
            <a:endParaRPr lang="en-GB" altLang="en-US" sz="1800" dirty="0" smtClean="0">
              <a:latin typeface="Courier New" pitchFamily="49" charset="0"/>
              <a:cs typeface="Courier New" pitchFamily="49" charset="0"/>
            </a:endParaRPr>
          </a:p>
          <a:p>
            <a:pPr>
              <a:lnSpc>
                <a:spcPct val="80000"/>
              </a:lnSpc>
              <a:buFontTx/>
              <a:buNone/>
            </a:pPr>
            <a:r>
              <a:rPr lang="en-MY" altLang="en-US" sz="1800" dirty="0" smtClean="0">
                <a:latin typeface="Courier New" pitchFamily="49" charset="0"/>
                <a:cs typeface="Courier New" pitchFamily="49" charset="0"/>
              </a:rPr>
              <a:t>// Check the return code for the </a:t>
            </a:r>
            <a:r>
              <a:rPr lang="en-MY" altLang="en-US" sz="1800" dirty="0" err="1" smtClean="0">
                <a:latin typeface="Courier New" pitchFamily="49" charset="0"/>
                <a:cs typeface="Courier New" pitchFamily="49" charset="0"/>
              </a:rPr>
              <a:t>SetDataFormat</a:t>
            </a:r>
            <a:r>
              <a:rPr lang="en-MY" altLang="en-US" sz="1800" dirty="0" smtClean="0">
                <a:latin typeface="Courier New" pitchFamily="49" charset="0"/>
                <a:cs typeface="Courier New" pitchFamily="49" charset="0"/>
              </a:rPr>
              <a:t> function</a:t>
            </a:r>
          </a:p>
          <a:p>
            <a:pPr>
              <a:lnSpc>
                <a:spcPct val="80000"/>
              </a:lnSpc>
              <a:buFontTx/>
              <a:buNone/>
            </a:pPr>
            <a:r>
              <a:rPr lang="en-GB" altLang="en-US" sz="1800" dirty="0" smtClean="0">
                <a:latin typeface="Courier New" pitchFamily="49" charset="0"/>
                <a:cs typeface="Courier New" pitchFamily="49" charset="0"/>
              </a:rPr>
              <a:t>if FAILED( </a:t>
            </a:r>
            <a:r>
              <a:rPr lang="en-GB" altLang="en-US" sz="1800" dirty="0" err="1" smtClean="0">
                <a:latin typeface="Courier New" pitchFamily="49" charset="0"/>
                <a:cs typeface="Courier New" pitchFamily="49" charset="0"/>
              </a:rPr>
              <a:t>hr</a:t>
            </a:r>
            <a:r>
              <a:rPr lang="en-GB" altLang="en-US" sz="1800" dirty="0" smtClean="0">
                <a:latin typeface="Courier New" pitchFamily="49" charset="0"/>
                <a:cs typeface="Courier New" pitchFamily="49" charset="0"/>
              </a:rPr>
              <a:t> )</a:t>
            </a:r>
          </a:p>
          <a:p>
            <a:pPr>
              <a:lnSpc>
                <a:spcPct val="80000"/>
              </a:lnSpc>
              <a:buFontTx/>
              <a:buNone/>
            </a:pPr>
            <a:r>
              <a:rPr lang="en-GB" altLang="en-US" sz="1800" dirty="0" smtClean="0">
                <a:latin typeface="Courier New" pitchFamily="49" charset="0"/>
                <a:cs typeface="Courier New" pitchFamily="49" charset="0"/>
              </a:rPr>
              <a:t>	return FALSE;</a:t>
            </a:r>
          </a:p>
        </p:txBody>
      </p:sp>
      <p:sp>
        <p:nvSpPr>
          <p:cNvPr id="30727" name="Text Box 7"/>
          <p:cNvSpPr txBox="1">
            <a:spLocks noChangeArrowheads="1"/>
          </p:cNvSpPr>
          <p:nvPr/>
        </p:nvSpPr>
        <p:spPr bwMode="auto">
          <a:xfrm>
            <a:off x="9296400" y="1447800"/>
            <a:ext cx="312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endParaRPr lang="en-US" altLang="en-US"/>
          </a:p>
        </p:txBody>
      </p:sp>
    </p:spTree>
    <p:extLst>
      <p:ext uri="{BB962C8B-B14F-4D97-AF65-F5344CB8AC3E}">
        <p14:creationId xmlns:p14="http://schemas.microsoft.com/office/powerpoint/2010/main" val="3777770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GB" altLang="en-US" smtClean="0"/>
              <a:t>Example code for mouse</a:t>
            </a:r>
          </a:p>
        </p:txBody>
      </p:sp>
      <p:sp>
        <p:nvSpPr>
          <p:cNvPr id="31747" name="Content Placeholder 2"/>
          <p:cNvSpPr>
            <a:spLocks noGrp="1"/>
          </p:cNvSpPr>
          <p:nvPr>
            <p:ph idx="1"/>
          </p:nvPr>
        </p:nvSpPr>
        <p:spPr/>
        <p:txBody>
          <a:bodyPr/>
          <a:lstStyle/>
          <a:p>
            <a:pPr>
              <a:lnSpc>
                <a:spcPct val="80000"/>
              </a:lnSpc>
              <a:buFontTx/>
              <a:buNone/>
            </a:pPr>
            <a:r>
              <a:rPr lang="en-MY" altLang="en-US" sz="1400" dirty="0" smtClean="0">
                <a:latin typeface="Courier New" pitchFamily="49" charset="0"/>
                <a:cs typeface="Courier New" pitchFamily="49" charset="0"/>
              </a:rPr>
              <a:t>// Define the macro needed to check the state of the keys on the keyboard</a:t>
            </a:r>
          </a:p>
          <a:p>
            <a:pPr>
              <a:lnSpc>
                <a:spcPct val="80000"/>
              </a:lnSpc>
              <a:buFontTx/>
              <a:buNone/>
            </a:pPr>
            <a:r>
              <a:rPr lang="en-MY" altLang="en-US" sz="1400" dirty="0" smtClean="0">
                <a:latin typeface="Courier New" pitchFamily="49" charset="0"/>
                <a:cs typeface="Courier New" pitchFamily="49" charset="0"/>
              </a:rPr>
              <a:t>#define BUTTONDOWN (name, key) (</a:t>
            </a:r>
            <a:r>
              <a:rPr lang="en-MY" altLang="en-US" sz="1400" dirty="0" err="1" smtClean="0">
                <a:latin typeface="Courier New" pitchFamily="49" charset="0"/>
                <a:cs typeface="Courier New" pitchFamily="49" charset="0"/>
              </a:rPr>
              <a:t>name.rgbButtons</a:t>
            </a:r>
            <a:r>
              <a:rPr lang="en-MY" altLang="en-US" sz="1400" dirty="0" smtClean="0">
                <a:latin typeface="Courier New" pitchFamily="49" charset="0"/>
                <a:cs typeface="Courier New" pitchFamily="49" charset="0"/>
              </a:rPr>
              <a:t>[key] &amp; 0x80)</a:t>
            </a:r>
          </a:p>
          <a:p>
            <a:pPr>
              <a:lnSpc>
                <a:spcPct val="80000"/>
              </a:lnSpc>
              <a:buFontTx/>
              <a:buNone/>
            </a:pPr>
            <a:endParaRPr lang="en-MY" altLang="en-US" sz="1400" dirty="0" smtClean="0">
              <a:latin typeface="Courier New" pitchFamily="49" charset="0"/>
              <a:cs typeface="Courier New" pitchFamily="49" charset="0"/>
            </a:endParaRPr>
          </a:p>
          <a:p>
            <a:pPr>
              <a:lnSpc>
                <a:spcPct val="80000"/>
              </a:lnSpc>
              <a:buFontTx/>
              <a:buNone/>
            </a:pPr>
            <a:r>
              <a:rPr lang="en-MY" altLang="en-US" sz="1400" dirty="0" smtClean="0">
                <a:latin typeface="Courier New" pitchFamily="49" charset="0"/>
                <a:cs typeface="Courier New" pitchFamily="49" charset="0"/>
              </a:rPr>
              <a:t>// This is required to hold the state of the mouse</a:t>
            </a:r>
          </a:p>
          <a:p>
            <a:pPr>
              <a:lnSpc>
                <a:spcPct val="80000"/>
              </a:lnSpc>
              <a:buFontTx/>
              <a:buNone/>
            </a:pPr>
            <a:r>
              <a:rPr lang="en-MY" altLang="en-US" sz="1400" dirty="0" smtClean="0">
                <a:latin typeface="Courier New" pitchFamily="49" charset="0"/>
                <a:cs typeface="Courier New" pitchFamily="49" charset="0"/>
              </a:rPr>
              <a:t>// This variable holds the current state of the mouse device</a:t>
            </a:r>
          </a:p>
          <a:p>
            <a:pPr>
              <a:lnSpc>
                <a:spcPct val="80000"/>
              </a:lnSpc>
              <a:buFontTx/>
              <a:buNone/>
            </a:pPr>
            <a:r>
              <a:rPr lang="en-GB" altLang="en-US" sz="1400" dirty="0" smtClean="0">
                <a:latin typeface="Courier New" pitchFamily="49" charset="0"/>
                <a:cs typeface="Courier New" pitchFamily="49" charset="0"/>
              </a:rPr>
              <a:t>DIMOUSESTATE </a:t>
            </a:r>
            <a:r>
              <a:rPr lang="en-GB" altLang="en-US" sz="1400" dirty="0" err="1" smtClean="0">
                <a:latin typeface="Courier New" pitchFamily="49" charset="0"/>
                <a:cs typeface="Courier New" pitchFamily="49" charset="0"/>
              </a:rPr>
              <a:t>mouseState</a:t>
            </a:r>
            <a:r>
              <a:rPr lang="en-GB" altLang="en-US" sz="1400" dirty="0" smtClean="0">
                <a:latin typeface="Courier New" pitchFamily="49" charset="0"/>
                <a:cs typeface="Courier New" pitchFamily="49" charset="0"/>
              </a:rPr>
              <a:t>;</a:t>
            </a:r>
          </a:p>
          <a:p>
            <a:pPr>
              <a:lnSpc>
                <a:spcPct val="80000"/>
              </a:lnSpc>
              <a:buFontTx/>
              <a:buNone/>
            </a:pPr>
            <a:endParaRPr lang="en-GB" altLang="en-US" sz="1400" dirty="0" smtClean="0">
              <a:latin typeface="Courier New" pitchFamily="49" charset="0"/>
              <a:cs typeface="Courier New" pitchFamily="49" charset="0"/>
            </a:endParaRPr>
          </a:p>
          <a:p>
            <a:pPr>
              <a:lnSpc>
                <a:spcPct val="80000"/>
              </a:lnSpc>
              <a:buFontTx/>
              <a:buNone/>
            </a:pPr>
            <a:r>
              <a:rPr lang="en-MY" altLang="en-US" sz="1400" dirty="0" smtClean="0">
                <a:latin typeface="Courier New" pitchFamily="49" charset="0"/>
                <a:cs typeface="Courier New" pitchFamily="49" charset="0"/>
              </a:rPr>
              <a:t>// This variable holds the current X position of the sprite</a:t>
            </a:r>
          </a:p>
          <a:p>
            <a:pPr>
              <a:lnSpc>
                <a:spcPct val="80000"/>
              </a:lnSpc>
              <a:buFontTx/>
              <a:buNone/>
            </a:pPr>
            <a:r>
              <a:rPr lang="en-GB" altLang="en-US" sz="1400" dirty="0" smtClean="0">
                <a:latin typeface="Courier New" pitchFamily="49" charset="0"/>
                <a:cs typeface="Courier New" pitchFamily="49" charset="0"/>
              </a:rPr>
              <a:t>LONG </a:t>
            </a:r>
            <a:r>
              <a:rPr lang="en-GB" altLang="en-US" sz="1400" dirty="0" err="1" smtClean="0">
                <a:latin typeface="Courier New" pitchFamily="49" charset="0"/>
                <a:cs typeface="Courier New" pitchFamily="49" charset="0"/>
              </a:rPr>
              <a:t>currentXpos</a:t>
            </a:r>
            <a:r>
              <a:rPr lang="en-GB" altLang="en-US" sz="1400" dirty="0" smtClean="0">
                <a:latin typeface="Courier New" pitchFamily="49" charset="0"/>
                <a:cs typeface="Courier New" pitchFamily="49" charset="0"/>
              </a:rPr>
              <a:t>;</a:t>
            </a:r>
          </a:p>
          <a:p>
            <a:pPr>
              <a:lnSpc>
                <a:spcPct val="80000"/>
              </a:lnSpc>
              <a:buFontTx/>
              <a:buNone/>
            </a:pPr>
            <a:r>
              <a:rPr lang="en-MY" altLang="en-US" sz="1400" dirty="0" smtClean="0">
                <a:latin typeface="Courier New" pitchFamily="49" charset="0"/>
                <a:cs typeface="Courier New" pitchFamily="49" charset="0"/>
              </a:rPr>
              <a:t>// This variable holds the current Y position of the sprite</a:t>
            </a:r>
          </a:p>
          <a:p>
            <a:pPr>
              <a:lnSpc>
                <a:spcPct val="80000"/>
              </a:lnSpc>
              <a:buFontTx/>
              <a:buNone/>
            </a:pPr>
            <a:r>
              <a:rPr lang="en-GB" altLang="en-US" sz="1400" dirty="0" smtClean="0">
                <a:latin typeface="Courier New" pitchFamily="49" charset="0"/>
                <a:cs typeface="Courier New" pitchFamily="49" charset="0"/>
              </a:rPr>
              <a:t>LONG </a:t>
            </a:r>
            <a:r>
              <a:rPr lang="en-GB" altLang="en-US" sz="1400" dirty="0" err="1" smtClean="0">
                <a:latin typeface="Courier New" pitchFamily="49" charset="0"/>
                <a:cs typeface="Courier New" pitchFamily="49" charset="0"/>
              </a:rPr>
              <a:t>currentYpos</a:t>
            </a:r>
            <a:r>
              <a:rPr lang="en-GB" altLang="en-US" sz="1400" dirty="0" smtClean="0">
                <a:latin typeface="Courier New" pitchFamily="49" charset="0"/>
                <a:cs typeface="Courier New" pitchFamily="49" charset="0"/>
              </a:rPr>
              <a:t>;</a:t>
            </a:r>
          </a:p>
          <a:p>
            <a:pPr>
              <a:lnSpc>
                <a:spcPct val="80000"/>
              </a:lnSpc>
              <a:buFontTx/>
              <a:buNone/>
            </a:pPr>
            <a:endParaRPr lang="en-MY" altLang="en-US" sz="1400" dirty="0" smtClean="0">
              <a:latin typeface="Courier New" pitchFamily="49" charset="0"/>
              <a:cs typeface="Courier New" pitchFamily="49" charset="0"/>
            </a:endParaRPr>
          </a:p>
          <a:p>
            <a:pPr>
              <a:lnSpc>
                <a:spcPct val="80000"/>
              </a:lnSpc>
              <a:buFontTx/>
              <a:buNone/>
            </a:pPr>
            <a:r>
              <a:rPr lang="en-MY" altLang="en-US" sz="1400" dirty="0" smtClean="0">
                <a:latin typeface="Courier New" pitchFamily="49" charset="0"/>
                <a:cs typeface="Courier New" pitchFamily="49" charset="0"/>
              </a:rPr>
              <a:t>// Set the default position for the sprite</a:t>
            </a:r>
          </a:p>
          <a:p>
            <a:pPr>
              <a:lnSpc>
                <a:spcPct val="80000"/>
              </a:lnSpc>
              <a:buFontTx/>
              <a:buNone/>
            </a:pPr>
            <a:r>
              <a:rPr lang="en-GB" altLang="en-US" sz="1400" dirty="0" err="1" smtClean="0">
                <a:latin typeface="Courier New" pitchFamily="49" charset="0"/>
                <a:cs typeface="Courier New" pitchFamily="49" charset="0"/>
              </a:rPr>
              <a:t>currentXpos</a:t>
            </a:r>
            <a:r>
              <a:rPr lang="en-GB" altLang="en-US" sz="1400" dirty="0" smtClean="0">
                <a:latin typeface="Courier New" pitchFamily="49" charset="0"/>
                <a:cs typeface="Courier New" pitchFamily="49" charset="0"/>
              </a:rPr>
              <a:t> = 320;</a:t>
            </a:r>
          </a:p>
          <a:p>
            <a:pPr>
              <a:lnSpc>
                <a:spcPct val="80000"/>
              </a:lnSpc>
              <a:buFontTx/>
              <a:buNone/>
            </a:pPr>
            <a:r>
              <a:rPr lang="en-GB" altLang="en-US" sz="1400" dirty="0" err="1" smtClean="0">
                <a:latin typeface="Courier New" pitchFamily="49" charset="0"/>
                <a:cs typeface="Courier New" pitchFamily="49" charset="0"/>
              </a:rPr>
              <a:t>currentYpos</a:t>
            </a:r>
            <a:r>
              <a:rPr lang="en-GB" altLang="en-US" sz="1400" dirty="0" smtClean="0">
                <a:latin typeface="Courier New" pitchFamily="49" charset="0"/>
                <a:cs typeface="Courier New" pitchFamily="49" charset="0"/>
              </a:rPr>
              <a:t> = 240;</a:t>
            </a:r>
          </a:p>
          <a:p>
            <a:pPr>
              <a:lnSpc>
                <a:spcPct val="80000"/>
              </a:lnSpc>
              <a:buFontTx/>
              <a:buNone/>
            </a:pPr>
            <a:endParaRPr lang="en-GB" altLang="en-US" sz="1400" dirty="0" smtClean="0">
              <a:latin typeface="Courier New" pitchFamily="49" charset="0"/>
              <a:cs typeface="Courier New" pitchFamily="49" charset="0"/>
            </a:endParaRPr>
          </a:p>
          <a:p>
            <a:pPr>
              <a:lnSpc>
                <a:spcPct val="80000"/>
              </a:lnSpc>
              <a:buFontTx/>
              <a:buNone/>
            </a:pPr>
            <a:r>
              <a:rPr lang="en-MY" altLang="en-US" sz="1400" dirty="0" smtClean="0">
                <a:latin typeface="Courier New" pitchFamily="49" charset="0"/>
                <a:cs typeface="Courier New" pitchFamily="49" charset="0"/>
              </a:rPr>
              <a:t>// This is the main game loop, read from the input device each frame</a:t>
            </a:r>
          </a:p>
          <a:p>
            <a:pPr>
              <a:lnSpc>
                <a:spcPct val="80000"/>
              </a:lnSpc>
              <a:buFontTx/>
              <a:buNone/>
            </a:pPr>
            <a:r>
              <a:rPr lang="en-GB" altLang="en-US" sz="1400" dirty="0" smtClean="0">
                <a:latin typeface="Courier New" pitchFamily="49" charset="0"/>
                <a:cs typeface="Courier New" pitchFamily="49" charset="0"/>
              </a:rPr>
              <a:t>while ( 1 )</a:t>
            </a:r>
          </a:p>
          <a:p>
            <a:pPr>
              <a:lnSpc>
                <a:spcPct val="80000"/>
              </a:lnSpc>
              <a:buFontTx/>
              <a:buNone/>
            </a:pPr>
            <a:r>
              <a:rPr lang="en-GB" altLang="en-US" sz="1400" dirty="0" smtClean="0">
                <a:latin typeface="Courier New" pitchFamily="49" charset="0"/>
                <a:cs typeface="Courier New" pitchFamily="49" charset="0"/>
              </a:rPr>
              <a:t>{</a:t>
            </a:r>
          </a:p>
          <a:p>
            <a:pPr>
              <a:lnSpc>
                <a:spcPct val="80000"/>
              </a:lnSpc>
              <a:buFontTx/>
              <a:buNone/>
            </a:pPr>
            <a:endParaRPr lang="en-GB" altLang="en-US" sz="1400" dirty="0" smtClean="0">
              <a:solidFill>
                <a:srgbClr val="A50021"/>
              </a:solidFill>
              <a:latin typeface="Courier New" pitchFamily="49" charset="0"/>
              <a:cs typeface="Courier New" pitchFamily="49" charset="0"/>
            </a:endParaRPr>
          </a:p>
        </p:txBody>
      </p:sp>
    </p:spTree>
    <p:extLst>
      <p:ext uri="{BB962C8B-B14F-4D97-AF65-F5344CB8AC3E}">
        <p14:creationId xmlns:p14="http://schemas.microsoft.com/office/powerpoint/2010/main" val="2794040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p:txBody>
          <a:bodyPr/>
          <a:lstStyle/>
          <a:p>
            <a:r>
              <a:rPr lang="en-US" altLang="en-US" smtClean="0"/>
              <a:t>Example code for mouse (cont)</a:t>
            </a:r>
          </a:p>
        </p:txBody>
      </p:sp>
      <p:sp>
        <p:nvSpPr>
          <p:cNvPr id="32771" name="Rectangle 1027"/>
          <p:cNvSpPr>
            <a:spLocks noGrp="1" noChangeArrowheads="1"/>
          </p:cNvSpPr>
          <p:nvPr>
            <p:ph type="body" idx="1"/>
          </p:nvPr>
        </p:nvSpPr>
        <p:spPr/>
        <p:txBody>
          <a:bodyPr/>
          <a:lstStyle/>
          <a:p>
            <a:pPr lvl="1">
              <a:lnSpc>
                <a:spcPct val="80000"/>
              </a:lnSpc>
              <a:buFontTx/>
              <a:buNone/>
            </a:pPr>
            <a:r>
              <a:rPr lang="en-MY" altLang="en-US" sz="1200" dirty="0" smtClean="0">
                <a:latin typeface="Courier New" pitchFamily="49" charset="0"/>
                <a:cs typeface="Courier New" pitchFamily="49" charset="0"/>
              </a:rPr>
              <a:t>// Check the mouse and get the current state of the device</a:t>
            </a:r>
          </a:p>
          <a:p>
            <a:pPr lvl="1">
              <a:lnSpc>
                <a:spcPct val="80000"/>
              </a:lnSpc>
              <a:buFontTx/>
              <a:buNone/>
            </a:pPr>
            <a:r>
              <a:rPr lang="en-GB" altLang="en-US" sz="1200" dirty="0" smtClean="0">
                <a:latin typeface="Courier New" pitchFamily="49" charset="0"/>
                <a:cs typeface="Courier New" pitchFamily="49" charset="0"/>
              </a:rPr>
              <a:t>// being pressed</a:t>
            </a:r>
          </a:p>
          <a:p>
            <a:pPr lvl="1">
              <a:lnSpc>
                <a:spcPct val="80000"/>
              </a:lnSpc>
              <a:buFontTx/>
              <a:buNone/>
            </a:pPr>
            <a:r>
              <a:rPr lang="en-GB" altLang="en-US" sz="1200" dirty="0" err="1" smtClean="0">
                <a:latin typeface="Courier New" pitchFamily="49" charset="0"/>
                <a:cs typeface="Courier New" pitchFamily="49" charset="0"/>
              </a:rPr>
              <a:t>g_lpDIDevice</a:t>
            </a:r>
            <a:r>
              <a:rPr lang="en-GB" altLang="en-US" sz="1200" dirty="0" smtClean="0">
                <a:latin typeface="Courier New" pitchFamily="49" charset="0"/>
                <a:cs typeface="Courier New" pitchFamily="49" charset="0"/>
              </a:rPr>
              <a:t>-&gt;</a:t>
            </a:r>
            <a:r>
              <a:rPr lang="en-GB" altLang="en-US" sz="1200" dirty="0" err="1" smtClean="0">
                <a:latin typeface="Courier New" pitchFamily="49" charset="0"/>
                <a:cs typeface="Courier New" pitchFamily="49" charset="0"/>
              </a:rPr>
              <a:t>GetDeviceState</a:t>
            </a:r>
            <a:r>
              <a:rPr lang="en-GB" altLang="en-US" sz="1200" dirty="0" smtClean="0">
                <a:latin typeface="Courier New" pitchFamily="49" charset="0"/>
                <a:cs typeface="Courier New" pitchFamily="49" charset="0"/>
              </a:rPr>
              <a:t> (</a:t>
            </a:r>
            <a:r>
              <a:rPr lang="en-GB" altLang="en-US" sz="1200" dirty="0" err="1" smtClean="0">
                <a:latin typeface="Courier New" pitchFamily="49" charset="0"/>
                <a:cs typeface="Courier New" pitchFamily="49" charset="0"/>
              </a:rPr>
              <a:t>sizeof</a:t>
            </a:r>
            <a:r>
              <a:rPr lang="en-GB" altLang="en-US" sz="1200" dirty="0" smtClean="0">
                <a:latin typeface="Courier New" pitchFamily="49" charset="0"/>
                <a:cs typeface="Courier New" pitchFamily="49" charset="0"/>
              </a:rPr>
              <a:t> ( </a:t>
            </a:r>
            <a:r>
              <a:rPr lang="en-GB" altLang="en-US" sz="1200" dirty="0" err="1" smtClean="0">
                <a:latin typeface="Courier New" pitchFamily="49" charset="0"/>
                <a:cs typeface="Courier New" pitchFamily="49" charset="0"/>
              </a:rPr>
              <a:t>mouseState</a:t>
            </a:r>
            <a:r>
              <a:rPr lang="en-GB" altLang="en-US" sz="1200" dirty="0" smtClean="0">
                <a:latin typeface="Courier New" pitchFamily="49" charset="0"/>
                <a:cs typeface="Courier New" pitchFamily="49" charset="0"/>
              </a:rPr>
              <a:t> ),LPVOID) &amp;</a:t>
            </a:r>
            <a:r>
              <a:rPr lang="en-GB" altLang="en-US" sz="1200" dirty="0" err="1" smtClean="0">
                <a:latin typeface="Courier New" pitchFamily="49" charset="0"/>
                <a:cs typeface="Courier New" pitchFamily="49" charset="0"/>
              </a:rPr>
              <a:t>mouseState</a:t>
            </a:r>
            <a:r>
              <a:rPr lang="en-GB" altLang="en-US" sz="1200" dirty="0" smtClean="0">
                <a:latin typeface="Courier New" pitchFamily="49" charset="0"/>
                <a:cs typeface="Courier New" pitchFamily="49" charset="0"/>
              </a:rPr>
              <a:t>);</a:t>
            </a:r>
          </a:p>
          <a:p>
            <a:pPr lvl="1">
              <a:lnSpc>
                <a:spcPct val="80000"/>
              </a:lnSpc>
              <a:buFontTx/>
              <a:buNone/>
            </a:pPr>
            <a:endParaRPr lang="en-GB" altLang="en-US" sz="1200" dirty="0" smtClean="0">
              <a:latin typeface="Courier New" pitchFamily="49" charset="0"/>
              <a:cs typeface="Courier New" pitchFamily="49" charset="0"/>
            </a:endParaRPr>
          </a:p>
          <a:p>
            <a:pPr lvl="1">
              <a:lnSpc>
                <a:spcPct val="80000"/>
              </a:lnSpc>
              <a:buFontTx/>
              <a:buNone/>
            </a:pPr>
            <a:r>
              <a:rPr lang="en-MY" altLang="en-US" sz="1200" dirty="0" smtClean="0">
                <a:latin typeface="Courier New" pitchFamily="49" charset="0"/>
                <a:cs typeface="Courier New" pitchFamily="49" charset="0"/>
              </a:rPr>
              <a:t>// Do something with the input</a:t>
            </a:r>
          </a:p>
          <a:p>
            <a:pPr lvl="1">
              <a:lnSpc>
                <a:spcPct val="80000"/>
              </a:lnSpc>
              <a:buFontTx/>
              <a:buNone/>
            </a:pPr>
            <a:r>
              <a:rPr lang="en-MY" altLang="en-US" sz="1200" dirty="0" smtClean="0">
                <a:latin typeface="Courier New" pitchFamily="49" charset="0"/>
                <a:cs typeface="Courier New" pitchFamily="49" charset="0"/>
              </a:rPr>
              <a:t>// Here the BUTTONDOWN macro checks if the first mouse button is pressed</a:t>
            </a:r>
          </a:p>
          <a:p>
            <a:pPr lvl="1">
              <a:lnSpc>
                <a:spcPct val="80000"/>
              </a:lnSpc>
              <a:buFontTx/>
              <a:buNone/>
            </a:pPr>
            <a:r>
              <a:rPr lang="en-GB" altLang="en-US" sz="1200" dirty="0" smtClean="0">
                <a:latin typeface="Courier New" pitchFamily="49" charset="0"/>
                <a:cs typeface="Courier New" pitchFamily="49" charset="0"/>
              </a:rPr>
              <a:t>if (BUTTONDOWN( </a:t>
            </a:r>
            <a:r>
              <a:rPr lang="en-GB" altLang="en-US" sz="1200" dirty="0" err="1" smtClean="0">
                <a:latin typeface="Courier New" pitchFamily="49" charset="0"/>
                <a:cs typeface="Courier New" pitchFamily="49" charset="0"/>
              </a:rPr>
              <a:t>mouseState</a:t>
            </a:r>
            <a:r>
              <a:rPr lang="en-GB" altLang="en-US" sz="1200" dirty="0" smtClean="0">
                <a:latin typeface="Courier New" pitchFamily="49" charset="0"/>
                <a:cs typeface="Courier New" pitchFamily="49" charset="0"/>
              </a:rPr>
              <a:t>, 0 ) )</a:t>
            </a:r>
          </a:p>
          <a:p>
            <a:pPr lvl="1">
              <a:lnSpc>
                <a:spcPct val="80000"/>
              </a:lnSpc>
              <a:buFontTx/>
              <a:buNone/>
            </a:pPr>
            <a:r>
              <a:rPr lang="en-GB" altLang="en-US" sz="1200" dirty="0" smtClean="0">
                <a:latin typeface="Courier New" pitchFamily="49" charset="0"/>
                <a:cs typeface="Courier New" pitchFamily="49" charset="0"/>
              </a:rPr>
              <a:t>{</a:t>
            </a:r>
          </a:p>
          <a:p>
            <a:pPr lvl="2">
              <a:lnSpc>
                <a:spcPct val="80000"/>
              </a:lnSpc>
              <a:buFontTx/>
              <a:buNone/>
            </a:pPr>
            <a:r>
              <a:rPr lang="en-MY" altLang="en-US" sz="1200" dirty="0" smtClean="0">
                <a:latin typeface="Courier New" pitchFamily="49" charset="0"/>
                <a:cs typeface="Courier New" pitchFamily="49" charset="0"/>
              </a:rPr>
              <a:t>// Do something with the first mouse button</a:t>
            </a:r>
          </a:p>
          <a:p>
            <a:pPr lvl="1">
              <a:lnSpc>
                <a:spcPct val="80000"/>
              </a:lnSpc>
              <a:buFontTx/>
              <a:buNone/>
            </a:pPr>
            <a:r>
              <a:rPr lang="en-GB" altLang="en-US" sz="1200" dirty="0" smtClean="0">
                <a:latin typeface="Courier New" pitchFamily="49" charset="0"/>
                <a:cs typeface="Courier New" pitchFamily="49" charset="0"/>
              </a:rPr>
              <a:t>}</a:t>
            </a:r>
          </a:p>
          <a:p>
            <a:pPr lvl="1">
              <a:lnSpc>
                <a:spcPct val="80000"/>
              </a:lnSpc>
              <a:buFontTx/>
              <a:buNone/>
            </a:pPr>
            <a:endParaRPr lang="en-GB" altLang="en-US" sz="1200" dirty="0" smtClean="0">
              <a:latin typeface="Courier New" pitchFamily="49" charset="0"/>
              <a:cs typeface="Courier New" pitchFamily="49" charset="0"/>
            </a:endParaRPr>
          </a:p>
          <a:p>
            <a:pPr lvl="1">
              <a:lnSpc>
                <a:spcPct val="80000"/>
              </a:lnSpc>
              <a:buFontTx/>
              <a:buNone/>
            </a:pPr>
            <a:r>
              <a:rPr lang="en-MY" altLang="en-US" sz="1200" dirty="0" smtClean="0">
                <a:latin typeface="Courier New" pitchFamily="49" charset="0"/>
                <a:cs typeface="Courier New" pitchFamily="49" charset="0"/>
              </a:rPr>
              <a:t>// BUTTONDOWN is used again to check if the second mouse button is pressed</a:t>
            </a:r>
          </a:p>
          <a:p>
            <a:pPr lvl="1">
              <a:lnSpc>
                <a:spcPct val="80000"/>
              </a:lnSpc>
              <a:buFontTx/>
              <a:buNone/>
            </a:pPr>
            <a:r>
              <a:rPr lang="en-GB" altLang="en-US" sz="1200" dirty="0" smtClean="0">
                <a:latin typeface="Courier New" pitchFamily="49" charset="0"/>
                <a:cs typeface="Courier New" pitchFamily="49" charset="0"/>
              </a:rPr>
              <a:t>if ( BUTTONDOWN( </a:t>
            </a:r>
            <a:r>
              <a:rPr lang="en-GB" altLang="en-US" sz="1200" dirty="0" err="1" smtClean="0">
                <a:latin typeface="Courier New" pitchFamily="49" charset="0"/>
                <a:cs typeface="Courier New" pitchFamily="49" charset="0"/>
              </a:rPr>
              <a:t>mouseState</a:t>
            </a:r>
            <a:r>
              <a:rPr lang="en-GB" altLang="en-US" sz="1200" dirty="0" smtClean="0">
                <a:latin typeface="Courier New" pitchFamily="49" charset="0"/>
                <a:cs typeface="Courier New" pitchFamily="49" charset="0"/>
              </a:rPr>
              <a:t>, 1 ) )</a:t>
            </a:r>
          </a:p>
          <a:p>
            <a:pPr lvl="1">
              <a:lnSpc>
                <a:spcPct val="80000"/>
              </a:lnSpc>
              <a:buFontTx/>
              <a:buNone/>
            </a:pPr>
            <a:r>
              <a:rPr lang="en-GB" altLang="en-US" sz="1200" dirty="0" smtClean="0">
                <a:latin typeface="Courier New" pitchFamily="49" charset="0"/>
                <a:cs typeface="Courier New" pitchFamily="49" charset="0"/>
              </a:rPr>
              <a:t>{</a:t>
            </a:r>
          </a:p>
          <a:p>
            <a:pPr lvl="2">
              <a:lnSpc>
                <a:spcPct val="80000"/>
              </a:lnSpc>
              <a:buFontTx/>
              <a:buNone/>
            </a:pPr>
            <a:r>
              <a:rPr lang="en-MY" altLang="en-US" sz="1200" dirty="0" smtClean="0">
                <a:latin typeface="Courier New" pitchFamily="49" charset="0"/>
                <a:cs typeface="Courier New" pitchFamily="49" charset="0"/>
              </a:rPr>
              <a:t>// Do something</a:t>
            </a:r>
          </a:p>
          <a:p>
            <a:pPr lvl="1">
              <a:lnSpc>
                <a:spcPct val="80000"/>
              </a:lnSpc>
              <a:buFontTx/>
              <a:buNone/>
            </a:pPr>
            <a:r>
              <a:rPr lang="en-GB" altLang="en-US" sz="1600" dirty="0" smtClean="0">
                <a:latin typeface="Courier New" pitchFamily="49" charset="0"/>
                <a:cs typeface="Courier New" pitchFamily="49" charset="0"/>
              </a:rPr>
              <a:t>}</a:t>
            </a:r>
          </a:p>
          <a:p>
            <a:pPr lvl="1">
              <a:lnSpc>
                <a:spcPct val="80000"/>
              </a:lnSpc>
              <a:buFontTx/>
              <a:buNone/>
            </a:pPr>
            <a:endParaRPr lang="en-GB" altLang="en-US" sz="1200" dirty="0" smtClean="0">
              <a:latin typeface="Courier New" pitchFamily="49" charset="0"/>
              <a:cs typeface="Courier New" pitchFamily="49" charset="0"/>
            </a:endParaRPr>
          </a:p>
          <a:p>
            <a:pPr lvl="1">
              <a:lnSpc>
                <a:spcPct val="80000"/>
              </a:lnSpc>
              <a:buFontTx/>
              <a:buNone/>
            </a:pPr>
            <a:r>
              <a:rPr lang="en-MY" altLang="en-US" sz="1200" dirty="0" smtClean="0">
                <a:latin typeface="Courier New" pitchFamily="49" charset="0"/>
                <a:cs typeface="Courier New" pitchFamily="49" charset="0"/>
              </a:rPr>
              <a:t>// Next, check the movement of the mouse</a:t>
            </a:r>
          </a:p>
          <a:p>
            <a:pPr lvl="1">
              <a:lnSpc>
                <a:spcPct val="80000"/>
              </a:lnSpc>
              <a:buFontTx/>
              <a:buNone/>
            </a:pPr>
            <a:r>
              <a:rPr lang="en-MY" altLang="en-US" sz="1200" dirty="0" smtClean="0">
                <a:latin typeface="Courier New" pitchFamily="49" charset="0"/>
                <a:cs typeface="Courier New" pitchFamily="49" charset="0"/>
              </a:rPr>
              <a:t>// See how far in the X direction the mouse has been moved</a:t>
            </a:r>
          </a:p>
          <a:p>
            <a:pPr lvl="1">
              <a:lnSpc>
                <a:spcPct val="80000"/>
              </a:lnSpc>
              <a:buFontTx/>
              <a:buNone/>
            </a:pPr>
            <a:r>
              <a:rPr lang="en-GB" altLang="en-US" sz="1200" dirty="0" err="1" smtClean="0">
                <a:latin typeface="Courier New" pitchFamily="49" charset="0"/>
                <a:cs typeface="Courier New" pitchFamily="49" charset="0"/>
              </a:rPr>
              <a:t>currentXpos</a:t>
            </a:r>
            <a:r>
              <a:rPr lang="en-GB" altLang="en-US" sz="1200" dirty="0" smtClean="0">
                <a:latin typeface="Courier New" pitchFamily="49" charset="0"/>
                <a:cs typeface="Courier New" pitchFamily="49" charset="0"/>
              </a:rPr>
              <a:t> += </a:t>
            </a:r>
            <a:r>
              <a:rPr lang="en-GB" altLang="en-US" sz="1200" dirty="0" err="1" smtClean="0">
                <a:latin typeface="Courier New" pitchFamily="49" charset="0"/>
                <a:cs typeface="Courier New" pitchFamily="49" charset="0"/>
              </a:rPr>
              <a:t>mouseState.lX</a:t>
            </a:r>
            <a:r>
              <a:rPr lang="en-GB" altLang="en-US" sz="1200" dirty="0" smtClean="0">
                <a:latin typeface="Courier New" pitchFamily="49" charset="0"/>
                <a:cs typeface="Courier New" pitchFamily="49" charset="0"/>
              </a:rPr>
              <a:t>;</a:t>
            </a:r>
          </a:p>
          <a:p>
            <a:pPr lvl="1">
              <a:lnSpc>
                <a:spcPct val="80000"/>
              </a:lnSpc>
              <a:buFontTx/>
              <a:buNone/>
            </a:pPr>
            <a:r>
              <a:rPr lang="en-MY" altLang="en-US" sz="1200" dirty="0" smtClean="0">
                <a:latin typeface="Courier New" pitchFamily="49" charset="0"/>
                <a:cs typeface="Courier New" pitchFamily="49" charset="0"/>
              </a:rPr>
              <a:t>// See how far in the Y direction the mouse has been moved</a:t>
            </a:r>
          </a:p>
          <a:p>
            <a:pPr lvl="1">
              <a:lnSpc>
                <a:spcPct val="80000"/>
              </a:lnSpc>
              <a:buFontTx/>
              <a:buNone/>
            </a:pPr>
            <a:r>
              <a:rPr lang="en-GB" altLang="en-US" sz="1200" dirty="0" err="1" smtClean="0">
                <a:latin typeface="Courier New" pitchFamily="49" charset="0"/>
                <a:cs typeface="Courier New" pitchFamily="49" charset="0"/>
              </a:rPr>
              <a:t>currentYpos</a:t>
            </a:r>
            <a:r>
              <a:rPr lang="en-GB" altLang="en-US" sz="1200" dirty="0" smtClean="0">
                <a:latin typeface="Courier New" pitchFamily="49" charset="0"/>
                <a:cs typeface="Courier New" pitchFamily="49" charset="0"/>
              </a:rPr>
              <a:t> += </a:t>
            </a:r>
            <a:r>
              <a:rPr lang="en-GB" altLang="en-US" sz="1200" dirty="0" err="1" smtClean="0">
                <a:latin typeface="Courier New" pitchFamily="49" charset="0"/>
                <a:cs typeface="Courier New" pitchFamily="49" charset="0"/>
              </a:rPr>
              <a:t>mouseState.lY</a:t>
            </a:r>
            <a:r>
              <a:rPr lang="en-GB" altLang="en-US" sz="1200" dirty="0" smtClean="0">
                <a:latin typeface="Courier New" pitchFamily="49" charset="0"/>
                <a:cs typeface="Courier New" pitchFamily="49" charset="0"/>
              </a:rPr>
              <a:t>;</a:t>
            </a:r>
          </a:p>
          <a:p>
            <a:pPr lvl="1">
              <a:lnSpc>
                <a:spcPct val="80000"/>
              </a:lnSpc>
              <a:buFontTx/>
              <a:buNone/>
            </a:pPr>
            <a:r>
              <a:rPr lang="en-MY" altLang="en-US" sz="1200" dirty="0" smtClean="0">
                <a:latin typeface="Courier New" pitchFamily="49" charset="0"/>
                <a:cs typeface="Courier New" pitchFamily="49" charset="0"/>
              </a:rPr>
              <a:t>// Do something with the mouse movement</a:t>
            </a:r>
          </a:p>
          <a:p>
            <a:pPr>
              <a:lnSpc>
                <a:spcPct val="80000"/>
              </a:lnSpc>
              <a:buFontTx/>
              <a:buNone/>
            </a:pPr>
            <a:r>
              <a:rPr lang="en-GB" altLang="en-US" sz="1400" dirty="0" smtClean="0">
                <a:latin typeface="Courier New" pitchFamily="49" charset="0"/>
                <a:cs typeface="Courier New" pitchFamily="49" charset="0"/>
              </a:rPr>
              <a:t>}</a:t>
            </a:r>
          </a:p>
          <a:p>
            <a:pPr>
              <a:lnSpc>
                <a:spcPct val="90000"/>
              </a:lnSpc>
              <a:buFontTx/>
              <a:buNone/>
            </a:pPr>
            <a:endParaRPr lang="en-US" altLang="en-US" sz="1400" dirty="0" smtClean="0">
              <a:solidFill>
                <a:srgbClr val="A50021"/>
              </a:solidFill>
            </a:endParaRPr>
          </a:p>
        </p:txBody>
      </p:sp>
    </p:spTree>
    <p:extLst>
      <p:ext uri="{BB962C8B-B14F-4D97-AF65-F5344CB8AC3E}">
        <p14:creationId xmlns:p14="http://schemas.microsoft.com/office/powerpoint/2010/main" val="21171197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XInput</a:t>
            </a:r>
            <a:r>
              <a:rPr lang="en-US" dirty="0" smtClean="0"/>
              <a:t>	</a:t>
            </a:r>
            <a:endParaRPr lang="en-MY" dirty="0"/>
          </a:p>
        </p:txBody>
      </p:sp>
      <p:sp>
        <p:nvSpPr>
          <p:cNvPr id="3" name="Content Placeholder 2"/>
          <p:cNvSpPr>
            <a:spLocks noGrp="1"/>
          </p:cNvSpPr>
          <p:nvPr>
            <p:ph idx="1"/>
          </p:nvPr>
        </p:nvSpPr>
        <p:spPr/>
        <p:txBody>
          <a:bodyPr/>
          <a:lstStyle/>
          <a:p>
            <a:r>
              <a:rPr lang="en-US" dirty="0" smtClean="0"/>
              <a:t>Optionally, you may refer to the </a:t>
            </a:r>
            <a:r>
              <a:rPr lang="en-US" dirty="0" smtClean="0">
                <a:hlinkClick r:id="rId2"/>
              </a:rPr>
              <a:t>Programming </a:t>
            </a:r>
            <a:r>
              <a:rPr lang="en-US" dirty="0">
                <a:hlinkClick r:id="rId2"/>
              </a:rPr>
              <a:t>G</a:t>
            </a:r>
            <a:r>
              <a:rPr lang="en-US" dirty="0" smtClean="0">
                <a:hlinkClick r:id="rId2"/>
              </a:rPr>
              <a:t>uide for </a:t>
            </a:r>
            <a:r>
              <a:rPr lang="en-US" dirty="0" err="1" smtClean="0">
                <a:hlinkClick r:id="rId2"/>
              </a:rPr>
              <a:t>XInput</a:t>
            </a:r>
            <a:endParaRPr lang="en-MY" dirty="0"/>
          </a:p>
        </p:txBody>
      </p:sp>
    </p:spTree>
    <p:extLst>
      <p:ext uri="{BB962C8B-B14F-4D97-AF65-F5344CB8AC3E}">
        <p14:creationId xmlns:p14="http://schemas.microsoft.com/office/powerpoint/2010/main" val="4196337664"/>
      </p:ext>
    </p:extLst>
  </p:cSld>
  <p:clrMapOvr>
    <a:masterClrMapping/>
  </p:clrMapOvr>
</p:sld>
</file>

<file path=ppt/theme/theme1.xml><?xml version="1.0" encoding="utf-8"?>
<a:theme xmlns:a="http://schemas.openxmlformats.org/drawingml/2006/main" name="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Metro">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TotalTime>
  <Words>2308</Words>
  <Application>Microsoft Office PowerPoint</Application>
  <PresentationFormat>On-screen Show (4:3)</PresentationFormat>
  <Paragraphs>428</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Courier New</vt:lpstr>
      <vt:lpstr>Segoe UI</vt:lpstr>
      <vt:lpstr>Segoe UI Light</vt:lpstr>
      <vt:lpstr>Office Theme</vt:lpstr>
      <vt:lpstr>LECTURE 4</vt:lpstr>
      <vt:lpstr>Super Quiz – Total Recall</vt:lpstr>
      <vt:lpstr>Super Quiz – Total Recall</vt:lpstr>
      <vt:lpstr>Super Quiz – Total Recall</vt:lpstr>
      <vt:lpstr>Overview</vt:lpstr>
      <vt:lpstr>Why we need inputs</vt:lpstr>
      <vt:lpstr>Why we need inputs</vt:lpstr>
      <vt:lpstr>Windows API inout</vt:lpstr>
      <vt:lpstr>Windows API Input – Keyboard Example</vt:lpstr>
      <vt:lpstr>Windows API Input – Keyboard Example</vt:lpstr>
      <vt:lpstr>Windows API Input – Mouse Example</vt:lpstr>
      <vt:lpstr>Windows API Input – Mouse Example</vt:lpstr>
      <vt:lpstr>Windows API Input – Mouse Example</vt:lpstr>
      <vt:lpstr>DirectInput - Introduction</vt:lpstr>
      <vt:lpstr>PowerPoint Presentation</vt:lpstr>
      <vt:lpstr>STEP 1: Including DirectInput library</vt:lpstr>
      <vt:lpstr>STEP2: Creating DirectInput Object</vt:lpstr>
      <vt:lpstr>STEP2: Creating DirectInput Object</vt:lpstr>
      <vt:lpstr>STEP3: Creating DirectInput Hardware</vt:lpstr>
      <vt:lpstr>STEP4: Setting the Data Format</vt:lpstr>
      <vt:lpstr>STEP4: Setting the Data Format</vt:lpstr>
      <vt:lpstr>STEP4: Setting the Data Format</vt:lpstr>
      <vt:lpstr>STEP4: Setting the Data Format</vt:lpstr>
      <vt:lpstr>STEP5: Setting the Cooperative Level</vt:lpstr>
      <vt:lpstr>STEP5: Setting the Cooperative Level</vt:lpstr>
      <vt:lpstr>STEP6: Acquiring access</vt:lpstr>
      <vt:lpstr>Retrieving data from keyboard devices</vt:lpstr>
      <vt:lpstr>Reading from Keyboard using GetDeviceState</vt:lpstr>
      <vt:lpstr>Checking which key is pressed</vt:lpstr>
      <vt:lpstr>Using macro</vt:lpstr>
      <vt:lpstr>Reading data from mouse devices </vt:lpstr>
      <vt:lpstr>Reading data from mouse devices</vt:lpstr>
      <vt:lpstr>Example code for mouse</vt:lpstr>
      <vt:lpstr>Example code for mouse (cont)</vt:lpstr>
      <vt:lpstr>XInput </vt:lpstr>
    </vt:vector>
  </TitlesOfParts>
  <Company>SAINT-GOBAIN 1.7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Alesandra Blakeston</dc:creator>
  <cp:lastModifiedBy>Andrew Tan</cp:lastModifiedBy>
  <cp:revision>23</cp:revision>
  <dcterms:created xsi:type="dcterms:W3CDTF">2013-06-03T12:57:42Z</dcterms:created>
  <dcterms:modified xsi:type="dcterms:W3CDTF">2019-05-24T06:40:23Z</dcterms:modified>
</cp:coreProperties>
</file>