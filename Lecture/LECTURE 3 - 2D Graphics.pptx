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6" r:id="rId3"/>
    <p:sldId id="307" r:id="rId4"/>
    <p:sldId id="308" r:id="rId5"/>
    <p:sldId id="257" r:id="rId6"/>
    <p:sldId id="258" r:id="rId7"/>
    <p:sldId id="259" r:id="rId8"/>
    <p:sldId id="262" r:id="rId9"/>
    <p:sldId id="260" r:id="rId10"/>
    <p:sldId id="261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4" r:id="rId32"/>
    <p:sldId id="285" r:id="rId33"/>
    <p:sldId id="283" r:id="rId34"/>
    <p:sldId id="288" r:id="rId35"/>
    <p:sldId id="289" r:id="rId36"/>
    <p:sldId id="290" r:id="rId37"/>
    <p:sldId id="291" r:id="rId38"/>
    <p:sldId id="292" r:id="rId39"/>
    <p:sldId id="286" r:id="rId40"/>
    <p:sldId id="287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3" r:id="rId50"/>
    <p:sldId id="302" r:id="rId51"/>
    <p:sldId id="301" r:id="rId52"/>
    <p:sldId id="304" r:id="rId53"/>
    <p:sldId id="305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3C"/>
    <a:srgbClr val="0B3261"/>
    <a:srgbClr val="F58D01"/>
    <a:srgbClr val="464543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0" autoAdjust="0"/>
    <p:restoredTop sz="85679" autoAdjust="0"/>
  </p:normalViewPr>
  <p:slideViewPr>
    <p:cSldViewPr>
      <p:cViewPr>
        <p:scale>
          <a:sx n="66" d="100"/>
          <a:sy n="66" d="100"/>
        </p:scale>
        <p:origin x="-1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212976"/>
            <a:ext cx="7776864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Subtitle 2"/>
          <p:cNvSpPr txBox="1">
            <a:spLocks/>
          </p:cNvSpPr>
          <p:nvPr userDrawn="1"/>
        </p:nvSpPr>
        <p:spPr>
          <a:xfrm>
            <a:off x="7668344" y="116632"/>
            <a:ext cx="1368152" cy="456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GB" sz="1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74822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 txBox="1">
            <a:spLocks/>
          </p:cNvSpPr>
          <p:nvPr userDrawn="1"/>
        </p:nvSpPr>
        <p:spPr>
          <a:xfrm>
            <a:off x="4139952" y="6386920"/>
            <a:ext cx="1368152" cy="384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427868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4139952" y="6386920"/>
            <a:ext cx="1368152" cy="384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117342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4662296" y="1556056"/>
            <a:ext cx="4020984" cy="613784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 userDrawn="1"/>
        </p:nvSpPr>
        <p:spPr>
          <a:xfrm>
            <a:off x="479008" y="1556792"/>
            <a:ext cx="4020984" cy="613784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4" name="Picture 13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386" y="6309320"/>
            <a:ext cx="303997" cy="450964"/>
          </a:xfrm>
          <a:prstGeom prst="rect">
            <a:avLst/>
          </a:prstGeom>
        </p:spPr>
      </p:pic>
      <p:pic>
        <p:nvPicPr>
          <p:cNvPr id="15" name="Picture 14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966" y="6309320"/>
            <a:ext cx="303997" cy="45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07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9" name="Picture 8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966" y="6309320"/>
            <a:ext cx="303997" cy="45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4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2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7" name="Picture 2" descr="C:\Users\jw\Documents\Visual Studio 2010\Projects\JSBubbles\JSBubbles.Game\images\themes\metro\Next.png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029" y="6348019"/>
            <a:ext cx="40005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Obraz 7">
            <a:hlinkClick r:id="" action="ppaction://hlinkshowjump?jump=endshow"/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40" y="6343213"/>
            <a:ext cx="400106" cy="400106"/>
          </a:xfrm>
          <a:prstGeom prst="rect">
            <a:avLst/>
          </a:prstGeom>
        </p:spPr>
      </p:pic>
      <p:pic>
        <p:nvPicPr>
          <p:cNvPr id="9" name="Obraz 8">
            <a:hlinkClick r:id="" action="ppaction://hlinkshowjump?jump=firstslide"/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908" y="6347991"/>
            <a:ext cx="400106" cy="400106"/>
          </a:xfrm>
          <a:prstGeom prst="rect">
            <a:avLst/>
          </a:prstGeom>
        </p:spPr>
      </p:pic>
      <p:pic>
        <p:nvPicPr>
          <p:cNvPr id="10" name="Obraz 9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800" y="6338465"/>
            <a:ext cx="419159" cy="419159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 userDrawn="1"/>
        </p:nvSpPr>
        <p:spPr>
          <a:xfrm>
            <a:off x="107504" y="6388737"/>
            <a:ext cx="7776864" cy="312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AACS2173</a:t>
            </a:r>
            <a:r>
              <a:rPr lang="en-GB" sz="1800" baseline="0" dirty="0"/>
              <a:t> – Computer Game Programming I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34593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Segoe UI" pitchFamily="34" charset="0"/>
          <a:cs typeface="Segoe UI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msdn.microsoft.com/en-us/library/bb172802(v=vs.85).aspx" TargetMode="Externa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en-us/library/bb174350(v=VS.85).aspx" TargetMode="External"/><Relationship Id="rId7" Type="http://schemas.openxmlformats.org/officeDocument/2006/relationships/hyperlink" Target="http://msdn.microsoft.com/en-us/library/bb174423(v=VS.85).aspx" TargetMode="External"/><Relationship Id="rId2" Type="http://schemas.openxmlformats.org/officeDocument/2006/relationships/hyperlink" Target="http://msdn.microsoft.com/en-us/library/bb174352(v=VS.85).aspx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msdn.microsoft.com/en-us/library/bb174252(v=VS.85).aspx" TargetMode="External"/><Relationship Id="rId5" Type="http://schemas.openxmlformats.org/officeDocument/2006/relationships/hyperlink" Target="http://msdn.microsoft.com/en-us/library/bb174251(v=VS.85).aspx" TargetMode="External"/><Relationship Id="rId4" Type="http://schemas.openxmlformats.org/officeDocument/2006/relationships/hyperlink" Target="http://msdn.microsoft.com/en-us/library/bb174250(v=VS.85).aspx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msdn.microsoft.com/en-us/library/bb174258(v=VS.85).aspx" TargetMode="Externa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en-us/library/aa383751(v=vs.85).aspx" TargetMode="External"/><Relationship Id="rId2" Type="http://schemas.openxmlformats.org/officeDocument/2006/relationships/hyperlink" Target="http://msdn.microsoft.com/en-us/library/bb205544(v=vs.85).aspx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msdn.microsoft.com/en-us/library/bb172518(v=vs.85).aspx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en-us/library/bb173962(v=VS.85).aspx" TargetMode="External"/><Relationship Id="rId2" Type="http://schemas.openxmlformats.org/officeDocument/2006/relationships/hyperlink" Target="http://msdn.microsoft.com/en-us/library/bb172773(v=VS.85).aspx" TargetMode="Externa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://msdn.microsoft.com/en-us/library/bb219838(v=vs.85).aspx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010543"/>
          </a:xfrm>
        </p:spPr>
        <p:txBody>
          <a:bodyPr/>
          <a:lstStyle/>
          <a:p>
            <a:r>
              <a:rPr lang="en-GB" dirty="0"/>
              <a:t>LECTURE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2D Graphics</a:t>
            </a:r>
          </a:p>
        </p:txBody>
      </p:sp>
    </p:spTree>
    <p:extLst>
      <p:ext uri="{BB962C8B-B14F-4D97-AF65-F5344CB8AC3E}">
        <p14:creationId xmlns:p14="http://schemas.microsoft.com/office/powerpoint/2010/main" val="263179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Quiz - DirectX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DirectX?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A game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A subject in TARUC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A way to directly become your ex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A program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A library</a:t>
            </a:r>
          </a:p>
        </p:txBody>
      </p:sp>
    </p:spTree>
    <p:extLst>
      <p:ext uri="{BB962C8B-B14F-4D97-AF65-F5344CB8AC3E}">
        <p14:creationId xmlns:p14="http://schemas.microsoft.com/office/powerpoint/2010/main" val="370215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Quiz – DirectX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uses DirectX?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Nubs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Pros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Parents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Children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Game developers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All of the above</a:t>
            </a:r>
          </a:p>
        </p:txBody>
      </p:sp>
    </p:spTree>
    <p:extLst>
      <p:ext uri="{BB962C8B-B14F-4D97-AF65-F5344CB8AC3E}">
        <p14:creationId xmlns:p14="http://schemas.microsoft.com/office/powerpoint/2010/main" val="36588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Quiz – DirectX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platforms use DirectX?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PC MASTER RACE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PlayStation4ever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Nintendo Wii U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Xbox One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Smart Phones</a:t>
            </a:r>
          </a:p>
        </p:txBody>
      </p:sp>
    </p:spTree>
    <p:extLst>
      <p:ext uri="{BB962C8B-B14F-4D97-AF65-F5344CB8AC3E}">
        <p14:creationId xmlns:p14="http://schemas.microsoft.com/office/powerpoint/2010/main" val="128016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DirectX?</a:t>
            </a:r>
          </a:p>
          <a:p>
            <a:r>
              <a:rPr lang="en-US" dirty="0"/>
              <a:t>Architecture of DirectX</a:t>
            </a:r>
          </a:p>
          <a:p>
            <a:r>
              <a:rPr lang="en-US" dirty="0"/>
              <a:t>Setting up a DirectX application</a:t>
            </a:r>
          </a:p>
          <a:p>
            <a:r>
              <a:rPr lang="en-US" dirty="0"/>
              <a:t>Sprites</a:t>
            </a:r>
          </a:p>
          <a:p>
            <a:r>
              <a:rPr lang="en-US" dirty="0"/>
              <a:t>Double buffering</a:t>
            </a:r>
          </a:p>
          <a:p>
            <a:r>
              <a:rPr lang="en-US" dirty="0"/>
              <a:t>Line drawing</a:t>
            </a:r>
          </a:p>
          <a:p>
            <a:r>
              <a:rPr lang="en-US" dirty="0"/>
              <a:t>Font/Text drawing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891540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DirectX?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collection of API’s that are designed to give game developers a low-level interface to the PC hardware that is running windows.</a:t>
            </a:r>
          </a:p>
          <a:p>
            <a:r>
              <a:rPr lang="en-US" dirty="0"/>
              <a:t>The API is split into multiple components, and in every revision more components are added/deprecated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901116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DirectX? – JUNE 2010</a:t>
            </a:r>
            <a:endParaRPr lang="en-MY" dirty="0"/>
          </a:p>
        </p:txBody>
      </p:sp>
      <p:sp>
        <p:nvSpPr>
          <p:cNvPr id="3" name="Rectangle 2"/>
          <p:cNvSpPr/>
          <p:nvPr/>
        </p:nvSpPr>
        <p:spPr>
          <a:xfrm>
            <a:off x="467544" y="1556792"/>
            <a:ext cx="8208912" cy="6348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Direct X</a:t>
            </a:r>
            <a:endParaRPr lang="en-MY" sz="2000" dirty="0"/>
          </a:p>
        </p:txBody>
      </p:sp>
      <p:sp>
        <p:nvSpPr>
          <p:cNvPr id="25" name="Rectangle 24"/>
          <p:cNvSpPr/>
          <p:nvPr/>
        </p:nvSpPr>
        <p:spPr>
          <a:xfrm>
            <a:off x="466327" y="2348880"/>
            <a:ext cx="1585393" cy="6480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Sound</a:t>
            </a:r>
            <a:endParaRPr lang="en-MY" sz="2000" dirty="0"/>
          </a:p>
        </p:txBody>
      </p:sp>
      <p:sp>
        <p:nvSpPr>
          <p:cNvPr id="26" name="Rectangle 25"/>
          <p:cNvSpPr/>
          <p:nvPr/>
        </p:nvSpPr>
        <p:spPr>
          <a:xfrm>
            <a:off x="2195736" y="2348880"/>
            <a:ext cx="4824536" cy="648072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Graphics</a:t>
            </a:r>
            <a:endParaRPr lang="en-MY" sz="2000" dirty="0"/>
          </a:p>
        </p:txBody>
      </p:sp>
      <p:sp>
        <p:nvSpPr>
          <p:cNvPr id="27" name="Rectangle 26"/>
          <p:cNvSpPr/>
          <p:nvPr/>
        </p:nvSpPr>
        <p:spPr>
          <a:xfrm>
            <a:off x="7164288" y="2348880"/>
            <a:ext cx="1510951" cy="648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Input</a:t>
            </a:r>
            <a:endParaRPr lang="en-MY" sz="2000" dirty="0"/>
          </a:p>
        </p:txBody>
      </p:sp>
      <p:sp>
        <p:nvSpPr>
          <p:cNvPr id="28" name="Rectangle 27"/>
          <p:cNvSpPr/>
          <p:nvPr/>
        </p:nvSpPr>
        <p:spPr>
          <a:xfrm>
            <a:off x="2195737" y="3163652"/>
            <a:ext cx="1512167" cy="648072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D3D11</a:t>
            </a:r>
            <a:endParaRPr lang="en-MY" sz="2000" dirty="0"/>
          </a:p>
        </p:txBody>
      </p:sp>
      <p:sp>
        <p:nvSpPr>
          <p:cNvPr id="29" name="Rectangle 28"/>
          <p:cNvSpPr/>
          <p:nvPr/>
        </p:nvSpPr>
        <p:spPr>
          <a:xfrm>
            <a:off x="3860304" y="3163652"/>
            <a:ext cx="1503784" cy="648072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D3D10</a:t>
            </a:r>
            <a:endParaRPr lang="en-MY" sz="2000" dirty="0"/>
          </a:p>
        </p:txBody>
      </p:sp>
      <p:sp>
        <p:nvSpPr>
          <p:cNvPr id="30" name="Rectangle 29"/>
          <p:cNvSpPr/>
          <p:nvPr/>
        </p:nvSpPr>
        <p:spPr>
          <a:xfrm>
            <a:off x="5508104" y="3163652"/>
            <a:ext cx="1512168" cy="648072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D3D9</a:t>
            </a:r>
            <a:endParaRPr lang="en-MY" sz="2000" dirty="0"/>
          </a:p>
        </p:txBody>
      </p:sp>
      <p:sp>
        <p:nvSpPr>
          <p:cNvPr id="31" name="Rectangle 30"/>
          <p:cNvSpPr/>
          <p:nvPr/>
        </p:nvSpPr>
        <p:spPr>
          <a:xfrm>
            <a:off x="2186405" y="3964124"/>
            <a:ext cx="1512167" cy="648072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DXGI</a:t>
            </a:r>
            <a:endParaRPr lang="en-MY" sz="2000" dirty="0"/>
          </a:p>
        </p:txBody>
      </p:sp>
      <p:sp>
        <p:nvSpPr>
          <p:cNvPr id="32" name="Rectangle 31"/>
          <p:cNvSpPr/>
          <p:nvPr/>
        </p:nvSpPr>
        <p:spPr>
          <a:xfrm>
            <a:off x="466326" y="3149352"/>
            <a:ext cx="1585393" cy="6480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XAudio2</a:t>
            </a:r>
            <a:endParaRPr lang="en-MY" sz="2000" dirty="0"/>
          </a:p>
        </p:txBody>
      </p:sp>
      <p:sp>
        <p:nvSpPr>
          <p:cNvPr id="33" name="Rectangle 32"/>
          <p:cNvSpPr/>
          <p:nvPr/>
        </p:nvSpPr>
        <p:spPr>
          <a:xfrm>
            <a:off x="466325" y="3964124"/>
            <a:ext cx="1585393" cy="6480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X3AUDIO</a:t>
            </a:r>
            <a:endParaRPr lang="en-MY" sz="2000" dirty="0"/>
          </a:p>
        </p:txBody>
      </p:sp>
      <p:sp>
        <p:nvSpPr>
          <p:cNvPr id="34" name="Rectangle 33"/>
          <p:cNvSpPr/>
          <p:nvPr/>
        </p:nvSpPr>
        <p:spPr>
          <a:xfrm>
            <a:off x="466324" y="4725144"/>
            <a:ext cx="1585393" cy="6480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XACT</a:t>
            </a:r>
            <a:endParaRPr lang="en-MY" sz="2000" dirty="0"/>
          </a:p>
        </p:txBody>
      </p:sp>
      <p:sp>
        <p:nvSpPr>
          <p:cNvPr id="35" name="Rectangle 34"/>
          <p:cNvSpPr/>
          <p:nvPr/>
        </p:nvSpPr>
        <p:spPr>
          <a:xfrm>
            <a:off x="7157189" y="3163652"/>
            <a:ext cx="1510951" cy="648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DirectInput</a:t>
            </a:r>
            <a:endParaRPr lang="en-MY" sz="2000" dirty="0"/>
          </a:p>
        </p:txBody>
      </p:sp>
      <p:sp>
        <p:nvSpPr>
          <p:cNvPr id="36" name="Rectangle 35"/>
          <p:cNvSpPr/>
          <p:nvPr/>
        </p:nvSpPr>
        <p:spPr>
          <a:xfrm>
            <a:off x="7157188" y="3964124"/>
            <a:ext cx="1510951" cy="648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XInput</a:t>
            </a:r>
            <a:endParaRPr lang="en-MY" sz="2000" dirty="0"/>
          </a:p>
        </p:txBody>
      </p:sp>
      <p:sp>
        <p:nvSpPr>
          <p:cNvPr id="37" name="Rectangle 36"/>
          <p:cNvSpPr/>
          <p:nvPr/>
        </p:nvSpPr>
        <p:spPr>
          <a:xfrm>
            <a:off x="3851920" y="3964124"/>
            <a:ext cx="1512167" cy="648072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HLSL</a:t>
            </a:r>
            <a:endParaRPr lang="en-MY" sz="2000" dirty="0"/>
          </a:p>
        </p:txBody>
      </p:sp>
      <p:sp>
        <p:nvSpPr>
          <p:cNvPr id="38" name="Rectangle 37"/>
          <p:cNvSpPr/>
          <p:nvPr/>
        </p:nvSpPr>
        <p:spPr>
          <a:xfrm>
            <a:off x="5508713" y="3964124"/>
            <a:ext cx="1512167" cy="648072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D2D1</a:t>
            </a: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990702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DirectX SDK –Windows SDK</a:t>
            </a:r>
            <a:endParaRPr lang="en-MY" dirty="0"/>
          </a:p>
        </p:txBody>
      </p:sp>
      <p:sp>
        <p:nvSpPr>
          <p:cNvPr id="3" name="Rectangle 2"/>
          <p:cNvSpPr/>
          <p:nvPr/>
        </p:nvSpPr>
        <p:spPr>
          <a:xfrm>
            <a:off x="467544" y="1556792"/>
            <a:ext cx="8208912" cy="6348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Direct X</a:t>
            </a:r>
            <a:endParaRPr lang="en-MY" sz="2000" dirty="0"/>
          </a:p>
        </p:txBody>
      </p:sp>
      <p:sp>
        <p:nvSpPr>
          <p:cNvPr id="4" name="Rectangle 3"/>
          <p:cNvSpPr/>
          <p:nvPr/>
        </p:nvSpPr>
        <p:spPr>
          <a:xfrm>
            <a:off x="466327" y="2348880"/>
            <a:ext cx="1585393" cy="6480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Sound</a:t>
            </a:r>
            <a:endParaRPr lang="en-MY" sz="2000" dirty="0"/>
          </a:p>
        </p:txBody>
      </p:sp>
      <p:sp>
        <p:nvSpPr>
          <p:cNvPr id="5" name="Rectangle 4"/>
          <p:cNvSpPr/>
          <p:nvPr/>
        </p:nvSpPr>
        <p:spPr>
          <a:xfrm>
            <a:off x="2195736" y="2348880"/>
            <a:ext cx="4824536" cy="648072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Windows Graphics Components</a:t>
            </a:r>
            <a:endParaRPr lang="en-MY" sz="2000" dirty="0"/>
          </a:p>
        </p:txBody>
      </p:sp>
      <p:sp>
        <p:nvSpPr>
          <p:cNvPr id="6" name="Rectangle 5"/>
          <p:cNvSpPr/>
          <p:nvPr/>
        </p:nvSpPr>
        <p:spPr>
          <a:xfrm>
            <a:off x="7164288" y="2348880"/>
            <a:ext cx="1510951" cy="648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Input</a:t>
            </a:r>
            <a:endParaRPr lang="en-MY" sz="2000" dirty="0"/>
          </a:p>
        </p:txBody>
      </p:sp>
      <p:sp>
        <p:nvSpPr>
          <p:cNvPr id="7" name="Rectangle 6"/>
          <p:cNvSpPr/>
          <p:nvPr/>
        </p:nvSpPr>
        <p:spPr>
          <a:xfrm>
            <a:off x="2195737" y="3163652"/>
            <a:ext cx="1512167" cy="648072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Direct3D</a:t>
            </a:r>
            <a:endParaRPr lang="en-MY" sz="2000" dirty="0"/>
          </a:p>
        </p:txBody>
      </p:sp>
      <p:sp>
        <p:nvSpPr>
          <p:cNvPr id="8" name="Rectangle 7"/>
          <p:cNvSpPr/>
          <p:nvPr/>
        </p:nvSpPr>
        <p:spPr>
          <a:xfrm>
            <a:off x="3860304" y="3163652"/>
            <a:ext cx="1503784" cy="648072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Direct2D</a:t>
            </a:r>
            <a:endParaRPr lang="en-MY" sz="2000" dirty="0"/>
          </a:p>
        </p:txBody>
      </p:sp>
      <p:sp>
        <p:nvSpPr>
          <p:cNvPr id="9" name="Rectangle 8"/>
          <p:cNvSpPr/>
          <p:nvPr/>
        </p:nvSpPr>
        <p:spPr>
          <a:xfrm>
            <a:off x="5508104" y="3163652"/>
            <a:ext cx="1512168" cy="648072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HLSL</a:t>
            </a:r>
            <a:endParaRPr lang="en-MY" sz="2000" dirty="0"/>
          </a:p>
        </p:txBody>
      </p:sp>
      <p:sp>
        <p:nvSpPr>
          <p:cNvPr id="11" name="Rectangle 10"/>
          <p:cNvSpPr/>
          <p:nvPr/>
        </p:nvSpPr>
        <p:spPr>
          <a:xfrm>
            <a:off x="466326" y="3149352"/>
            <a:ext cx="1585393" cy="6480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XAudio2</a:t>
            </a:r>
            <a:endParaRPr lang="en-MY" sz="2000" dirty="0"/>
          </a:p>
        </p:txBody>
      </p:sp>
      <p:sp>
        <p:nvSpPr>
          <p:cNvPr id="12" name="Rectangle 11"/>
          <p:cNvSpPr/>
          <p:nvPr/>
        </p:nvSpPr>
        <p:spPr>
          <a:xfrm>
            <a:off x="466325" y="3964124"/>
            <a:ext cx="1585393" cy="6480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X3DAUDIO</a:t>
            </a:r>
            <a:endParaRPr lang="en-MY" sz="2000" dirty="0"/>
          </a:p>
        </p:txBody>
      </p:sp>
      <p:sp>
        <p:nvSpPr>
          <p:cNvPr id="15" name="Rectangle 14"/>
          <p:cNvSpPr/>
          <p:nvPr/>
        </p:nvSpPr>
        <p:spPr>
          <a:xfrm>
            <a:off x="7165505" y="3163652"/>
            <a:ext cx="1510951" cy="648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XInput</a:t>
            </a: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12983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DirectX Architecture</a:t>
            </a:r>
            <a:endParaRPr lang="en-MY" dirty="0"/>
          </a:p>
        </p:txBody>
      </p:sp>
      <p:sp>
        <p:nvSpPr>
          <p:cNvPr id="3" name="Rectangle 2"/>
          <p:cNvSpPr/>
          <p:nvPr/>
        </p:nvSpPr>
        <p:spPr>
          <a:xfrm>
            <a:off x="467544" y="1700808"/>
            <a:ext cx="4032448" cy="648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Win 32 Application</a:t>
            </a:r>
            <a:endParaRPr lang="en-MY" sz="2000" dirty="0"/>
          </a:p>
        </p:txBody>
      </p:sp>
      <p:sp>
        <p:nvSpPr>
          <p:cNvPr id="4" name="Rectangle 3"/>
          <p:cNvSpPr/>
          <p:nvPr/>
        </p:nvSpPr>
        <p:spPr>
          <a:xfrm>
            <a:off x="4644008" y="1700808"/>
            <a:ext cx="4032448" cy="648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Win 32 Application</a:t>
            </a:r>
            <a:endParaRPr lang="en-MY" sz="2000" dirty="0"/>
          </a:p>
        </p:txBody>
      </p:sp>
      <p:sp>
        <p:nvSpPr>
          <p:cNvPr id="5" name="Rectangle 4"/>
          <p:cNvSpPr/>
          <p:nvPr/>
        </p:nvSpPr>
        <p:spPr>
          <a:xfrm>
            <a:off x="467544" y="2475147"/>
            <a:ext cx="4032448" cy="648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Direct3D API</a:t>
            </a:r>
            <a:endParaRPr lang="en-MY" sz="2000" dirty="0"/>
          </a:p>
        </p:txBody>
      </p:sp>
      <p:sp>
        <p:nvSpPr>
          <p:cNvPr id="6" name="Rectangle 5"/>
          <p:cNvSpPr/>
          <p:nvPr/>
        </p:nvSpPr>
        <p:spPr>
          <a:xfrm>
            <a:off x="4644008" y="2475146"/>
            <a:ext cx="4032448" cy="141805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GDI</a:t>
            </a:r>
            <a:endParaRPr lang="en-MY" sz="2000" dirty="0"/>
          </a:p>
        </p:txBody>
      </p:sp>
      <p:sp>
        <p:nvSpPr>
          <p:cNvPr id="7" name="Rectangle 6"/>
          <p:cNvSpPr/>
          <p:nvPr/>
        </p:nvSpPr>
        <p:spPr>
          <a:xfrm>
            <a:off x="467544" y="3249993"/>
            <a:ext cx="4032448" cy="6432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HAL Device</a:t>
            </a:r>
            <a:endParaRPr lang="en-MY" sz="2000" dirty="0"/>
          </a:p>
        </p:txBody>
      </p:sp>
      <p:sp>
        <p:nvSpPr>
          <p:cNvPr id="8" name="Rectangle 7"/>
          <p:cNvSpPr/>
          <p:nvPr/>
        </p:nvSpPr>
        <p:spPr>
          <a:xfrm>
            <a:off x="467544" y="4005064"/>
            <a:ext cx="8208912" cy="6432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Device Driver Interface</a:t>
            </a:r>
            <a:endParaRPr lang="en-MY" sz="2000" dirty="0"/>
          </a:p>
        </p:txBody>
      </p:sp>
      <p:sp>
        <p:nvSpPr>
          <p:cNvPr id="9" name="Rectangle 8"/>
          <p:cNvSpPr/>
          <p:nvPr/>
        </p:nvSpPr>
        <p:spPr>
          <a:xfrm>
            <a:off x="467544" y="4759459"/>
            <a:ext cx="8208912" cy="6348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Graphics Hardware</a:t>
            </a: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595424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 DirectX Application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There are 3 steps involved in setting up your DirectX application</a:t>
            </a:r>
          </a:p>
          <a:p>
            <a:endParaRPr lang="en-MY" dirty="0"/>
          </a:p>
          <a:p>
            <a:pPr marL="514350" indent="-514350">
              <a:buFont typeface="+mj-lt"/>
              <a:buAutoNum type="arabicPeriod"/>
            </a:pPr>
            <a:r>
              <a:rPr lang="en-MY" dirty="0"/>
              <a:t>Create pointers to Direct3D object and device.</a:t>
            </a:r>
          </a:p>
          <a:p>
            <a:pPr marL="514350" indent="-514350">
              <a:buFont typeface="+mj-lt"/>
              <a:buAutoNum type="arabicPeriod"/>
            </a:pPr>
            <a:r>
              <a:rPr lang="en-MY" dirty="0"/>
              <a:t>Create the Direct3D object.</a:t>
            </a:r>
          </a:p>
          <a:p>
            <a:pPr marL="514350" indent="-514350">
              <a:buFont typeface="+mj-lt"/>
              <a:buAutoNum type="arabicPeriod"/>
            </a:pPr>
            <a:r>
              <a:rPr lang="en-MY" dirty="0"/>
              <a:t>Create the Direct3D device.</a:t>
            </a:r>
          </a:p>
          <a:p>
            <a:pPr marL="0" indent="0">
              <a:buNone/>
            </a:pPr>
            <a:endParaRPr lang="en-MY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530074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sz="3600" dirty="0"/>
              <a:t>Step 1: Direct3D Object &amp; Device </a:t>
            </a:r>
            <a:r>
              <a:rPr lang="en-GB" altLang="en-US" sz="3600" dirty="0">
                <a:solidFill>
                  <a:srgbClr val="00B050"/>
                </a:solidFill>
              </a:rPr>
              <a:t>Pointers</a:t>
            </a:r>
            <a:endParaRPr lang="en-MY" sz="3600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MY" dirty="0"/>
              <a:t>Direct3D object provides an interface for functions used to list and determine the capabilities of a Direct3D device</a:t>
            </a:r>
          </a:p>
          <a:p>
            <a:r>
              <a:rPr lang="en-MY" dirty="0"/>
              <a:t>The Direct3D device provides the methods that applications use to render to the screen.</a:t>
            </a:r>
          </a:p>
          <a:p>
            <a:r>
              <a:rPr lang="en-MY" dirty="0"/>
              <a:t>STEP 1: Create Direct3D object and device pointers</a:t>
            </a:r>
            <a:br>
              <a:rPr lang="en-MY" dirty="0"/>
            </a:br>
            <a:br>
              <a:rPr lang="en-MY" dirty="0"/>
            </a:br>
            <a:r>
              <a:rPr lang="en-MY" dirty="0"/>
              <a:t>	//Direct3D object pointer</a:t>
            </a:r>
          </a:p>
          <a:p>
            <a:pPr marL="0" indent="0">
              <a:buNone/>
            </a:pPr>
            <a:r>
              <a:rPr lang="en-MY" dirty="0"/>
              <a:t>	LPDIRECT3D9 pD3D;</a:t>
            </a:r>
            <a:br>
              <a:rPr lang="en-MY" dirty="0"/>
            </a:br>
            <a:br>
              <a:rPr lang="en-MY" dirty="0"/>
            </a:br>
            <a:r>
              <a:rPr lang="en-MY" dirty="0"/>
              <a:t>	//Direct3D device pointer</a:t>
            </a:r>
            <a:br>
              <a:rPr lang="en-MY" dirty="0"/>
            </a:br>
            <a:r>
              <a:rPr lang="en-MY" dirty="0"/>
              <a:t>	LPDIRECT3DDEVICE9 pd3dDevice;</a:t>
            </a:r>
            <a:br>
              <a:rPr lang="en-MY" dirty="0"/>
            </a:br>
            <a:br>
              <a:rPr lang="en-MY" dirty="0"/>
            </a:br>
            <a:r>
              <a:rPr lang="en-MY" dirty="0"/>
              <a:t>NOTE: Usually these variables are declared as global variables.</a:t>
            </a:r>
          </a:p>
        </p:txBody>
      </p:sp>
    </p:spTree>
    <p:extLst>
      <p:ext uri="{BB962C8B-B14F-4D97-AF65-F5344CB8AC3E}">
        <p14:creationId xmlns:p14="http://schemas.microsoft.com/office/powerpoint/2010/main" val="3195015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STEP 2: Create the Direct3D object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MY" dirty="0"/>
              <a:t>The Direct3D object is created using the following call:</a:t>
            </a:r>
          </a:p>
          <a:p>
            <a:pPr marL="0" indent="0">
              <a:buNone/>
            </a:pPr>
            <a:br>
              <a:rPr lang="en-MY" dirty="0"/>
            </a:br>
            <a:r>
              <a:rPr lang="en-MY" dirty="0"/>
              <a:t>	IDirect3D9 *Direct3DCreate9( D3D_SDK_VERSION );</a:t>
            </a:r>
          </a:p>
          <a:p>
            <a:endParaRPr lang="en-MY" dirty="0"/>
          </a:p>
          <a:p>
            <a:r>
              <a:rPr lang="en-MY" dirty="0"/>
              <a:t>D3D_SDK_VERSION is the only valid parameter that can be sent to the Direct3DCreate9 function.</a:t>
            </a:r>
          </a:p>
          <a:p>
            <a:r>
              <a:rPr lang="en-MY" dirty="0"/>
              <a:t>This function returns a pointer to an IDirect3D9 interface. </a:t>
            </a:r>
          </a:p>
          <a:p>
            <a:r>
              <a:rPr lang="en-MY" dirty="0"/>
              <a:t>If the returned value is NULL, the call has failed.</a:t>
            </a:r>
          </a:p>
          <a:p>
            <a:r>
              <a:rPr lang="en-MY" dirty="0"/>
              <a:t>Example:</a:t>
            </a:r>
          </a:p>
          <a:p>
            <a:endParaRPr lang="en-MY" dirty="0"/>
          </a:p>
          <a:p>
            <a:pPr marL="0" indent="0">
              <a:buNone/>
            </a:pPr>
            <a:r>
              <a:rPr lang="en-MY" dirty="0"/>
              <a:t>	//Create the DirectX Object</a:t>
            </a:r>
          </a:p>
          <a:p>
            <a:pPr marL="0" indent="0">
              <a:buNone/>
            </a:pPr>
            <a:r>
              <a:rPr lang="en-MY" dirty="0"/>
              <a:t>	if(NULL == (pD3D = Direct3DCreate9(D3D_SDK_VERSION)))</a:t>
            </a:r>
          </a:p>
          <a:p>
            <a:pPr marL="0" indent="0">
              <a:buNone/>
            </a:pPr>
            <a:r>
              <a:rPr lang="en-MY" dirty="0"/>
              <a:t>	{</a:t>
            </a:r>
          </a:p>
          <a:p>
            <a:pPr marL="0" indent="0">
              <a:buNone/>
            </a:pPr>
            <a:r>
              <a:rPr lang="en-MY" dirty="0"/>
              <a:t>		return false;</a:t>
            </a:r>
          </a:p>
          <a:p>
            <a:pPr marL="0" indent="0">
              <a:buNone/>
            </a:pPr>
            <a:r>
              <a:rPr lang="en-MY" dirty="0"/>
              <a:t>	}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788248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STEP 3: Create Direct3D Device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MY" dirty="0"/>
              <a:t>The Direct3D device is created with a call to </a:t>
            </a:r>
            <a:r>
              <a:rPr lang="en-MY" dirty="0" err="1"/>
              <a:t>CreateDevice</a:t>
            </a:r>
            <a:r>
              <a:rPr lang="en-MY" dirty="0"/>
              <a:t>.</a:t>
            </a:r>
          </a:p>
          <a:p>
            <a:pPr marL="800100" lvl="2" indent="0">
              <a:buNone/>
            </a:pPr>
            <a:r>
              <a:rPr lang="en-MY" dirty="0"/>
              <a:t>HRESULT </a:t>
            </a:r>
            <a:r>
              <a:rPr lang="en-MY" dirty="0" err="1"/>
              <a:t>CreateDevice</a:t>
            </a:r>
            <a:r>
              <a:rPr lang="en-MY" dirty="0"/>
              <a:t>(</a:t>
            </a:r>
          </a:p>
          <a:p>
            <a:pPr marL="800100" lvl="2" indent="0">
              <a:buNone/>
            </a:pPr>
            <a:r>
              <a:rPr lang="en-MY" dirty="0"/>
              <a:t>UINT Adapter,</a:t>
            </a:r>
          </a:p>
          <a:p>
            <a:pPr marL="800100" lvl="2" indent="0">
              <a:buNone/>
            </a:pPr>
            <a:r>
              <a:rPr lang="en-MY" dirty="0"/>
              <a:t>D3DDEVTYPE </a:t>
            </a:r>
            <a:r>
              <a:rPr lang="en-MY" dirty="0" err="1"/>
              <a:t>DeviceType</a:t>
            </a:r>
            <a:r>
              <a:rPr lang="en-MY" dirty="0"/>
              <a:t>,</a:t>
            </a:r>
          </a:p>
          <a:p>
            <a:pPr marL="800100" lvl="2" indent="0">
              <a:buNone/>
            </a:pPr>
            <a:r>
              <a:rPr lang="en-MY" dirty="0"/>
              <a:t>HWND </a:t>
            </a:r>
            <a:r>
              <a:rPr lang="en-MY" dirty="0" err="1"/>
              <a:t>hFocusWindow</a:t>
            </a:r>
            <a:r>
              <a:rPr lang="en-MY" dirty="0"/>
              <a:t>,</a:t>
            </a:r>
          </a:p>
          <a:p>
            <a:pPr marL="800100" lvl="2" indent="0">
              <a:buNone/>
            </a:pPr>
            <a:r>
              <a:rPr lang="en-MY" dirty="0"/>
              <a:t>DWORD </a:t>
            </a:r>
            <a:r>
              <a:rPr lang="en-MY" dirty="0" err="1"/>
              <a:t>BehaviorFlags</a:t>
            </a:r>
            <a:r>
              <a:rPr lang="en-MY" dirty="0"/>
              <a:t>,</a:t>
            </a:r>
          </a:p>
          <a:p>
            <a:pPr marL="800100" lvl="2" indent="0">
              <a:buNone/>
            </a:pPr>
            <a:r>
              <a:rPr lang="en-MY" dirty="0"/>
              <a:t>D3DPRESENT_PARAMETERS *</a:t>
            </a:r>
            <a:r>
              <a:rPr lang="en-MY" dirty="0" err="1"/>
              <a:t>pPresentationParameters</a:t>
            </a:r>
            <a:r>
              <a:rPr lang="en-MY" dirty="0"/>
              <a:t>,</a:t>
            </a:r>
          </a:p>
          <a:p>
            <a:pPr marL="800100" lvl="2" indent="0">
              <a:buNone/>
            </a:pPr>
            <a:r>
              <a:rPr lang="en-MY" dirty="0"/>
              <a:t>IDirect3DDevice9** </a:t>
            </a:r>
            <a:r>
              <a:rPr lang="en-MY" dirty="0" err="1"/>
              <a:t>ppReturnedDeviceInterface</a:t>
            </a:r>
            <a:endParaRPr lang="en-MY" dirty="0"/>
          </a:p>
          <a:p>
            <a:pPr marL="800100" lvl="2" indent="0">
              <a:buNone/>
            </a:pPr>
            <a:r>
              <a:rPr lang="en-MY" dirty="0"/>
              <a:t>);</a:t>
            </a:r>
          </a:p>
          <a:p>
            <a:r>
              <a:rPr lang="en-MY" dirty="0"/>
              <a:t>The </a:t>
            </a:r>
            <a:r>
              <a:rPr lang="en-MY" dirty="0" err="1"/>
              <a:t>CreateDevice</a:t>
            </a:r>
            <a:r>
              <a:rPr lang="en-MY" dirty="0"/>
              <a:t> function requires a total of six parameters and has a return value of type HRESULT. </a:t>
            </a:r>
          </a:p>
          <a:p>
            <a:r>
              <a:rPr lang="en-MY" dirty="0"/>
              <a:t>If the function call succeeds, it returns a value of D3D_OK; otherwise, there are three possible return values:</a:t>
            </a:r>
          </a:p>
          <a:p>
            <a:pPr lvl="1"/>
            <a:r>
              <a:rPr lang="en-MY" dirty="0"/>
              <a:t>D3DERR_INVALIDCALL. One of the given parameters may be invalid.</a:t>
            </a:r>
          </a:p>
          <a:p>
            <a:pPr lvl="1"/>
            <a:r>
              <a:rPr lang="en-MY" dirty="0"/>
              <a:t>D3DERR_NOTAVAILABLE. The device doesn’t support this call.</a:t>
            </a:r>
          </a:p>
          <a:p>
            <a:pPr lvl="1"/>
            <a:r>
              <a:rPr lang="en-MY" dirty="0"/>
              <a:t>D3DERR_OUTOFVIDEOMEMORY. The video adapter doesn’t have enough video memory to complete this call.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466574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STEP 3: Create Direct3D Device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 b="1" dirty="0"/>
              <a:t>Adapter</a:t>
            </a:r>
            <a:r>
              <a:rPr lang="en-GB" altLang="en-US" sz="2000" dirty="0"/>
              <a:t>. Type UINT. This is the number of the video adapter that the device will be created for. Most game applications send the value D3DADAPTER_DEFAULT, which corresponds to the primary video adapter in the machine.</a:t>
            </a:r>
          </a:p>
          <a:p>
            <a:pPr>
              <a:lnSpc>
                <a:spcPct val="90000"/>
              </a:lnSpc>
            </a:pPr>
            <a:r>
              <a:rPr lang="en-GB" altLang="en-US" sz="2000" b="1" dirty="0" err="1"/>
              <a:t>DeviceType</a:t>
            </a:r>
            <a:r>
              <a:rPr lang="en-GB" altLang="en-US" sz="2000" dirty="0"/>
              <a:t>. Type D3DDEVTYPE. There are three possible device types to choose from:</a:t>
            </a:r>
          </a:p>
          <a:p>
            <a:pPr lvl="1">
              <a:lnSpc>
                <a:spcPct val="90000"/>
              </a:lnSpc>
            </a:pPr>
            <a:r>
              <a:rPr lang="en-GB" altLang="en-US" sz="1800" dirty="0"/>
              <a:t>D3DDEVTYPE_HAL. The device uses hardware acceleration and </a:t>
            </a:r>
            <a:r>
              <a:rPr lang="en-GB" altLang="en-US" sz="1800" dirty="0" err="1"/>
              <a:t>rasterization</a:t>
            </a:r>
            <a:r>
              <a:rPr lang="en-GB" altLang="en-US" sz="18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GB" altLang="en-US" sz="1800" dirty="0"/>
              <a:t>D3DDEVTYPE_REF. The Microsoft reference rasterizer is used.</a:t>
            </a:r>
          </a:p>
          <a:p>
            <a:pPr lvl="1">
              <a:lnSpc>
                <a:spcPct val="90000"/>
              </a:lnSpc>
            </a:pPr>
            <a:r>
              <a:rPr lang="en-GB" altLang="en-US" sz="1800" dirty="0"/>
              <a:t>D3DDEVTYPE_SW. A pluggable software device is used.</a:t>
            </a:r>
          </a:p>
          <a:p>
            <a:pPr>
              <a:lnSpc>
                <a:spcPct val="90000"/>
              </a:lnSpc>
            </a:pPr>
            <a:r>
              <a:rPr lang="en-GB" altLang="en-US" sz="2000" b="1" dirty="0" err="1"/>
              <a:t>hFocusWindow</a:t>
            </a:r>
            <a:r>
              <a:rPr lang="en-GB" altLang="en-US" sz="2000" dirty="0"/>
              <a:t>. Type HWND. This is the window to which this device will belong.</a:t>
            </a:r>
          </a:p>
          <a:p>
            <a:pPr>
              <a:lnSpc>
                <a:spcPct val="90000"/>
              </a:lnSpc>
            </a:pPr>
            <a:r>
              <a:rPr lang="en-GB" altLang="en-US" sz="2000" b="1" dirty="0" err="1"/>
              <a:t>BehaviorFlags</a:t>
            </a:r>
            <a:r>
              <a:rPr lang="en-GB" altLang="en-US" sz="2000" dirty="0"/>
              <a:t>. Type DWORD. This parameter allows multiple flags to be passed that specify how the device should be created. The examples presented here will only be using the D3DCREATE_SOFTWARE_VERTEXPROCESSING flag, which specifies that vertex processing will be handled in software.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123678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STEP 3: Create Direct3D Device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altLang="en-US" sz="1800" b="1" dirty="0" err="1"/>
              <a:t>PresentationParameters</a:t>
            </a:r>
            <a:r>
              <a:rPr lang="en-GB" altLang="en-US" sz="1800" dirty="0"/>
              <a:t>. Type D3DPRESENT_PARAMETERS. This structure controls how the device will be presented, such as whether this is a windowed application or whether this device will include a </a:t>
            </a:r>
            <a:r>
              <a:rPr lang="en-GB" altLang="en-US" sz="1800" dirty="0" err="1"/>
              <a:t>backbuffer</a:t>
            </a:r>
            <a:r>
              <a:rPr lang="en-GB" altLang="en-US" sz="1800" dirty="0"/>
              <a:t>. The D3DPRESENT_PARAMETERS structure is defined like this:</a:t>
            </a:r>
          </a:p>
          <a:p>
            <a:pPr lvl="1">
              <a:lnSpc>
                <a:spcPct val="80000"/>
              </a:lnSpc>
              <a:buNone/>
            </a:pPr>
            <a:r>
              <a:rPr lang="en-GB" altLang="en-US" sz="1600" dirty="0" err="1">
                <a:latin typeface="Courier New" pitchFamily="49" charset="0"/>
              </a:rPr>
              <a:t>typedef</a:t>
            </a:r>
            <a:r>
              <a:rPr lang="en-GB" altLang="en-US" sz="1600" dirty="0">
                <a:latin typeface="Courier New" pitchFamily="49" charset="0"/>
              </a:rPr>
              <a:t> </a:t>
            </a:r>
            <a:r>
              <a:rPr lang="en-GB" altLang="en-US" sz="1600" dirty="0" err="1">
                <a:latin typeface="Courier New" pitchFamily="49" charset="0"/>
              </a:rPr>
              <a:t>struct</a:t>
            </a:r>
            <a:r>
              <a:rPr lang="en-GB" altLang="en-US" sz="1600" dirty="0">
                <a:latin typeface="Courier New" pitchFamily="49" charset="0"/>
              </a:rPr>
              <a:t> _D3DPRESENT_PARAMETERS_ {</a:t>
            </a:r>
          </a:p>
          <a:p>
            <a:pPr lvl="2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UINT </a:t>
            </a:r>
            <a:r>
              <a:rPr lang="en-GB" altLang="en-US" sz="1400" dirty="0" err="1">
                <a:latin typeface="Courier New" pitchFamily="49" charset="0"/>
              </a:rPr>
              <a:t>BackBufferWidth</a:t>
            </a:r>
            <a:r>
              <a:rPr lang="en-GB" altLang="en-US" sz="1400" dirty="0">
                <a:latin typeface="Courier New" pitchFamily="49" charset="0"/>
              </a:rPr>
              <a:t>, </a:t>
            </a:r>
            <a:r>
              <a:rPr lang="en-GB" altLang="en-US" sz="1400" dirty="0" err="1">
                <a:latin typeface="Courier New" pitchFamily="49" charset="0"/>
              </a:rPr>
              <a:t>BackBufferHeight</a:t>
            </a:r>
            <a:r>
              <a:rPr lang="en-GB" altLang="en-US" sz="1400" dirty="0">
                <a:latin typeface="Courier New" pitchFamily="49" charset="0"/>
              </a:rPr>
              <a:t>;</a:t>
            </a:r>
          </a:p>
          <a:p>
            <a:pPr lvl="2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D3DFORMAT </a:t>
            </a:r>
            <a:r>
              <a:rPr lang="en-GB" altLang="en-US" sz="1400" dirty="0" err="1">
                <a:latin typeface="Courier New" pitchFamily="49" charset="0"/>
              </a:rPr>
              <a:t>BackBufferFormat</a:t>
            </a:r>
            <a:r>
              <a:rPr lang="en-GB" altLang="en-US" sz="1400" dirty="0">
                <a:latin typeface="Courier New" pitchFamily="49" charset="0"/>
              </a:rPr>
              <a:t>;</a:t>
            </a:r>
          </a:p>
          <a:p>
            <a:pPr lvl="2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UINT </a:t>
            </a:r>
            <a:r>
              <a:rPr lang="en-GB" altLang="en-US" sz="1400" dirty="0" err="1">
                <a:latin typeface="Courier New" pitchFamily="49" charset="0"/>
              </a:rPr>
              <a:t>BackBufferCount</a:t>
            </a:r>
            <a:r>
              <a:rPr lang="en-GB" altLang="en-US" sz="1400" dirty="0">
                <a:latin typeface="Courier New" pitchFamily="49" charset="0"/>
              </a:rPr>
              <a:t>;</a:t>
            </a:r>
          </a:p>
          <a:p>
            <a:pPr lvl="2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D3DMULTISAMPLE_TYPE </a:t>
            </a:r>
            <a:r>
              <a:rPr lang="en-GB" altLang="en-US" sz="1400" dirty="0" err="1">
                <a:latin typeface="Courier New" pitchFamily="49" charset="0"/>
              </a:rPr>
              <a:t>MultiSampleType</a:t>
            </a:r>
            <a:r>
              <a:rPr lang="en-GB" altLang="en-US" sz="1400" dirty="0">
                <a:latin typeface="Courier New" pitchFamily="49" charset="0"/>
              </a:rPr>
              <a:t>;</a:t>
            </a:r>
          </a:p>
          <a:p>
            <a:pPr lvl="2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DWORD </a:t>
            </a:r>
            <a:r>
              <a:rPr lang="en-GB" altLang="en-US" sz="1400" dirty="0" err="1">
                <a:latin typeface="Courier New" pitchFamily="49" charset="0"/>
              </a:rPr>
              <a:t>MultiSampleQuality</a:t>
            </a:r>
            <a:r>
              <a:rPr lang="en-GB" altLang="en-US" sz="1400" dirty="0">
                <a:latin typeface="Courier New" pitchFamily="49" charset="0"/>
              </a:rPr>
              <a:t>;</a:t>
            </a:r>
          </a:p>
          <a:p>
            <a:pPr lvl="2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D3DSWAPEFFECT </a:t>
            </a:r>
            <a:r>
              <a:rPr lang="en-GB" altLang="en-US" sz="1400" dirty="0" err="1">
                <a:latin typeface="Courier New" pitchFamily="49" charset="0"/>
              </a:rPr>
              <a:t>SwapEffect</a:t>
            </a:r>
            <a:r>
              <a:rPr lang="en-GB" altLang="en-US" sz="1400" dirty="0">
                <a:latin typeface="Courier New" pitchFamily="49" charset="0"/>
              </a:rPr>
              <a:t>;</a:t>
            </a:r>
          </a:p>
          <a:p>
            <a:pPr lvl="2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HWND </a:t>
            </a:r>
            <a:r>
              <a:rPr lang="en-GB" altLang="en-US" sz="1400" dirty="0" err="1">
                <a:latin typeface="Courier New" pitchFamily="49" charset="0"/>
              </a:rPr>
              <a:t>hDeviceWindow</a:t>
            </a:r>
            <a:r>
              <a:rPr lang="en-GB" altLang="en-US" sz="1400" dirty="0">
                <a:latin typeface="Courier New" pitchFamily="49" charset="0"/>
              </a:rPr>
              <a:t>;</a:t>
            </a:r>
          </a:p>
          <a:p>
            <a:pPr lvl="2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BOOL Windowed;</a:t>
            </a:r>
          </a:p>
          <a:p>
            <a:pPr lvl="2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BOOL </a:t>
            </a:r>
            <a:r>
              <a:rPr lang="en-GB" altLang="en-US" sz="1400" dirty="0" err="1">
                <a:latin typeface="Courier New" pitchFamily="49" charset="0"/>
              </a:rPr>
              <a:t>EnableAutoDepthStencil</a:t>
            </a:r>
            <a:r>
              <a:rPr lang="en-GB" altLang="en-US" sz="1400" dirty="0">
                <a:latin typeface="Courier New" pitchFamily="49" charset="0"/>
              </a:rPr>
              <a:t>;</a:t>
            </a:r>
          </a:p>
          <a:p>
            <a:pPr lvl="2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D3DFORMAT </a:t>
            </a:r>
            <a:r>
              <a:rPr lang="en-GB" altLang="en-US" sz="1400" dirty="0" err="1">
                <a:latin typeface="Courier New" pitchFamily="49" charset="0"/>
              </a:rPr>
              <a:t>AutoDepthStencilFormat</a:t>
            </a:r>
            <a:r>
              <a:rPr lang="en-GB" altLang="en-US" sz="1400" dirty="0">
                <a:latin typeface="Courier New" pitchFamily="49" charset="0"/>
              </a:rPr>
              <a:t>;</a:t>
            </a:r>
          </a:p>
          <a:p>
            <a:pPr lvl="2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DWORD Flags;</a:t>
            </a:r>
          </a:p>
          <a:p>
            <a:pPr lvl="2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UINT </a:t>
            </a:r>
            <a:r>
              <a:rPr lang="en-GB" altLang="en-US" sz="1400" dirty="0" err="1">
                <a:latin typeface="Courier New" pitchFamily="49" charset="0"/>
              </a:rPr>
              <a:t>FullScreen_RefreshRateInHz</a:t>
            </a:r>
            <a:r>
              <a:rPr lang="en-GB" altLang="en-US" sz="1400" dirty="0">
                <a:latin typeface="Courier New" pitchFamily="49" charset="0"/>
              </a:rPr>
              <a:t>;</a:t>
            </a:r>
          </a:p>
          <a:p>
            <a:pPr lvl="2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UINT </a:t>
            </a:r>
            <a:r>
              <a:rPr lang="en-GB" altLang="en-US" sz="1400" dirty="0" err="1">
                <a:latin typeface="Courier New" pitchFamily="49" charset="0"/>
              </a:rPr>
              <a:t>PresentationInterval</a:t>
            </a:r>
            <a:r>
              <a:rPr lang="en-GB" altLang="en-US" sz="1400" dirty="0">
                <a:latin typeface="Courier New" pitchFamily="49" charset="0"/>
              </a:rPr>
              <a:t>;</a:t>
            </a:r>
          </a:p>
          <a:p>
            <a:pPr lvl="2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} D3DPRESENT_PARAMETERS;</a:t>
            </a:r>
          </a:p>
          <a:p>
            <a:pPr>
              <a:lnSpc>
                <a:spcPct val="80000"/>
              </a:lnSpc>
            </a:pPr>
            <a:r>
              <a:rPr lang="en-GB" altLang="en-US" sz="1800" b="1" dirty="0" err="1"/>
              <a:t>ppReturnedDeviceInterface</a:t>
            </a:r>
            <a:r>
              <a:rPr lang="en-GB" altLang="en-US" sz="1800" b="1" dirty="0"/>
              <a:t>.</a:t>
            </a:r>
            <a:r>
              <a:rPr lang="en-GB" altLang="en-US" sz="1800" dirty="0"/>
              <a:t> Type IDirect3Ddevice9**. This is the variable that will contain the valid Direct3D device.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663109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STEP 3: Create Direct3D Device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altLang="en-US" sz="2000" dirty="0"/>
              <a:t>Example</a:t>
            </a:r>
          </a:p>
          <a:p>
            <a:pPr>
              <a:lnSpc>
                <a:spcPct val="80000"/>
              </a:lnSpc>
              <a:buNone/>
            </a:pPr>
            <a:r>
              <a:rPr lang="en-GB" altLang="en-US" sz="1800" dirty="0">
                <a:latin typeface="Courier New" pitchFamily="49" charset="0"/>
              </a:rPr>
              <a:t>D3DPRESENT_PARAMETERS d3dpp;</a:t>
            </a:r>
          </a:p>
          <a:p>
            <a:pPr>
              <a:lnSpc>
                <a:spcPct val="80000"/>
              </a:lnSpc>
              <a:buNone/>
            </a:pPr>
            <a:r>
              <a:rPr lang="en-GB" altLang="en-US" sz="1800" dirty="0" err="1">
                <a:latin typeface="Courier New" pitchFamily="49" charset="0"/>
              </a:rPr>
              <a:t>ZeroMemory</a:t>
            </a:r>
            <a:r>
              <a:rPr lang="en-GB" altLang="en-US" sz="1800" dirty="0">
                <a:latin typeface="Courier New" pitchFamily="49" charset="0"/>
              </a:rPr>
              <a:t>( &amp;d3dpp, </a:t>
            </a:r>
            <a:r>
              <a:rPr lang="en-GB" altLang="en-US" sz="1800" dirty="0" err="1">
                <a:latin typeface="Courier New" pitchFamily="49" charset="0"/>
              </a:rPr>
              <a:t>sizeof</a:t>
            </a:r>
            <a:r>
              <a:rPr lang="en-GB" altLang="en-US" sz="1800" dirty="0">
                <a:latin typeface="Courier New" pitchFamily="49" charset="0"/>
              </a:rPr>
              <a:t>( d3dpp ) );</a:t>
            </a:r>
          </a:p>
          <a:p>
            <a:pPr>
              <a:lnSpc>
                <a:spcPct val="80000"/>
              </a:lnSpc>
              <a:buNone/>
            </a:pPr>
            <a:r>
              <a:rPr lang="en-GB" altLang="en-US" sz="1800" dirty="0">
                <a:latin typeface="Courier New" pitchFamily="49" charset="0"/>
              </a:rPr>
              <a:t>d3dpp.Windowed = TRUE;</a:t>
            </a:r>
          </a:p>
          <a:p>
            <a:pPr>
              <a:lnSpc>
                <a:spcPct val="80000"/>
              </a:lnSpc>
              <a:buNone/>
            </a:pPr>
            <a:r>
              <a:rPr lang="en-GB" altLang="en-US" sz="1800" dirty="0">
                <a:latin typeface="Courier New" pitchFamily="49" charset="0"/>
              </a:rPr>
              <a:t>d3dpp.SwapEffect = D3DSWAPEFFECT_DISCARD;</a:t>
            </a:r>
          </a:p>
          <a:p>
            <a:pPr>
              <a:lnSpc>
                <a:spcPct val="80000"/>
              </a:lnSpc>
              <a:buNone/>
            </a:pPr>
            <a:r>
              <a:rPr lang="en-GB" altLang="en-US" sz="1800" dirty="0">
                <a:latin typeface="Courier New" pitchFamily="49" charset="0"/>
              </a:rPr>
              <a:t>d3dpp.BackBufferFormat = D3DFMT_UNKNOWN;</a:t>
            </a:r>
          </a:p>
          <a:p>
            <a:pPr>
              <a:lnSpc>
                <a:spcPct val="80000"/>
              </a:lnSpc>
              <a:buNone/>
            </a:pPr>
            <a:r>
              <a:rPr lang="en-GB" altLang="en-US" sz="1800" dirty="0">
                <a:latin typeface="Courier New" pitchFamily="49" charset="0"/>
              </a:rPr>
              <a:t>d3dpp.BackBufferCount = 1;</a:t>
            </a:r>
          </a:p>
          <a:p>
            <a:pPr>
              <a:lnSpc>
                <a:spcPct val="80000"/>
              </a:lnSpc>
              <a:buNone/>
            </a:pPr>
            <a:r>
              <a:rPr lang="en-GB" altLang="en-US" sz="1800" dirty="0">
                <a:latin typeface="Courier New" pitchFamily="49" charset="0"/>
              </a:rPr>
              <a:t>d3dpp.BackBufferHeight = 480;</a:t>
            </a:r>
          </a:p>
          <a:p>
            <a:pPr>
              <a:lnSpc>
                <a:spcPct val="80000"/>
              </a:lnSpc>
              <a:buNone/>
            </a:pPr>
            <a:r>
              <a:rPr lang="en-GB" altLang="en-US" sz="1800" dirty="0">
                <a:latin typeface="Courier New" pitchFamily="49" charset="0"/>
              </a:rPr>
              <a:t>d3dpp.BackBufferWidth = 640;</a:t>
            </a:r>
          </a:p>
          <a:p>
            <a:pPr>
              <a:lnSpc>
                <a:spcPct val="80000"/>
              </a:lnSpc>
              <a:buNone/>
            </a:pPr>
            <a:r>
              <a:rPr lang="en-GB" altLang="en-US" sz="1800" dirty="0">
                <a:latin typeface="Courier New" pitchFamily="49" charset="0"/>
              </a:rPr>
              <a:t>d3dpp.hDeviceWindow = </a:t>
            </a:r>
            <a:r>
              <a:rPr lang="en-GB" altLang="en-US" sz="1800" dirty="0" err="1">
                <a:latin typeface="Courier New" pitchFamily="49" charset="0"/>
              </a:rPr>
              <a:t>wndHandle</a:t>
            </a:r>
            <a:r>
              <a:rPr lang="en-GB" altLang="en-US" sz="1800" dirty="0">
                <a:latin typeface="Courier New" pitchFamily="49" charset="0"/>
              </a:rPr>
              <a:t>;</a:t>
            </a:r>
          </a:p>
          <a:p>
            <a:pPr>
              <a:lnSpc>
                <a:spcPct val="80000"/>
              </a:lnSpc>
              <a:buNone/>
            </a:pPr>
            <a:endParaRPr lang="en-GB" altLang="en-US" sz="1800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if( FAILED( pD3D-&gt;</a:t>
            </a:r>
            <a:r>
              <a:rPr lang="en-GB" altLang="en-US" sz="1400" dirty="0" err="1">
                <a:latin typeface="Courier New" pitchFamily="49" charset="0"/>
              </a:rPr>
              <a:t>CreateDevice</a:t>
            </a:r>
            <a:r>
              <a:rPr lang="en-GB" altLang="en-US" sz="1400" dirty="0">
                <a:latin typeface="Courier New" pitchFamily="49" charset="0"/>
              </a:rPr>
              <a:t>( D3DADAPTER_DEFAULT,</a:t>
            </a:r>
          </a:p>
          <a:p>
            <a:pPr lvl="4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D3DDEVTYPE_REF,</a:t>
            </a:r>
          </a:p>
          <a:p>
            <a:pPr lvl="4">
              <a:lnSpc>
                <a:spcPct val="80000"/>
              </a:lnSpc>
              <a:buNone/>
            </a:pPr>
            <a:r>
              <a:rPr lang="en-GB" altLang="en-US" sz="1400" dirty="0" err="1">
                <a:latin typeface="Courier New" pitchFamily="49" charset="0"/>
              </a:rPr>
              <a:t>wndHandle</a:t>
            </a:r>
            <a:r>
              <a:rPr lang="en-GB" altLang="en-US" sz="1400" dirty="0">
                <a:latin typeface="Courier New" pitchFamily="49" charset="0"/>
              </a:rPr>
              <a:t>,</a:t>
            </a:r>
          </a:p>
          <a:p>
            <a:pPr lvl="4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D3DCREATE_SOFTWARE_VERTEXPROCESSING,</a:t>
            </a:r>
          </a:p>
          <a:p>
            <a:pPr lvl="4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&amp;d3dpp,</a:t>
            </a:r>
          </a:p>
          <a:p>
            <a:pPr lvl="4"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&amp;pd3dDevice ) ) )</a:t>
            </a:r>
          </a:p>
          <a:p>
            <a:pPr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return false;</a:t>
            </a:r>
          </a:p>
          <a:p>
            <a:pPr>
              <a:lnSpc>
                <a:spcPct val="80000"/>
              </a:lnSpc>
              <a:buNone/>
            </a:pPr>
            <a:r>
              <a:rPr lang="en-GB" altLang="en-US" sz="1400" dirty="0">
                <a:latin typeface="Courier New" pitchFamily="49" charset="0"/>
              </a:rPr>
              <a:t>}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989876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STEP 4: Draw to the device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dirty="0"/>
              <a:t>render function is where the actual drawing takes place.</a:t>
            </a:r>
          </a:p>
          <a:p>
            <a:pPr>
              <a:lnSpc>
                <a:spcPct val="90000"/>
              </a:lnSpc>
            </a:pPr>
            <a:r>
              <a:rPr lang="en-GB" altLang="en-US" dirty="0"/>
              <a:t>Example:</a:t>
            </a:r>
          </a:p>
          <a:p>
            <a:pPr lvl="1">
              <a:lnSpc>
                <a:spcPct val="90000"/>
              </a:lnSpc>
              <a:buNone/>
            </a:pPr>
            <a:r>
              <a:rPr lang="en-GB" altLang="en-US" sz="1600" dirty="0">
                <a:latin typeface="Courier New" pitchFamily="49" charset="0"/>
              </a:rPr>
              <a:t>void render(void)</a:t>
            </a:r>
          </a:p>
          <a:p>
            <a:pPr lvl="1">
              <a:lnSpc>
                <a:spcPct val="90000"/>
              </a:lnSpc>
              <a:buNone/>
            </a:pPr>
            <a:r>
              <a:rPr lang="en-GB" altLang="en-US" sz="1600" dirty="0">
                <a:latin typeface="Courier New" pitchFamily="49" charset="0"/>
              </a:rPr>
              <a:t>{</a:t>
            </a:r>
          </a:p>
          <a:p>
            <a:pPr lvl="1">
              <a:lnSpc>
                <a:spcPct val="90000"/>
              </a:lnSpc>
              <a:buNone/>
            </a:pPr>
            <a:r>
              <a:rPr lang="en-GB" altLang="en-US" sz="1600" dirty="0">
                <a:latin typeface="Courier New" pitchFamily="49" charset="0"/>
              </a:rPr>
              <a:t>// Check to make sure you have a valid Direct3D device</a:t>
            </a:r>
          </a:p>
          <a:p>
            <a:pPr lvl="1">
              <a:lnSpc>
                <a:spcPct val="90000"/>
              </a:lnSpc>
              <a:buNone/>
            </a:pPr>
            <a:r>
              <a:rPr lang="en-GB" altLang="en-US" sz="1600" dirty="0">
                <a:latin typeface="Courier New" pitchFamily="49" charset="0"/>
              </a:rPr>
              <a:t>if( NULL == pd3dDevice )</a:t>
            </a:r>
          </a:p>
          <a:p>
            <a:pPr lvl="1">
              <a:lnSpc>
                <a:spcPct val="90000"/>
              </a:lnSpc>
              <a:buNone/>
            </a:pPr>
            <a:r>
              <a:rPr lang="en-GB" altLang="en-US" sz="1600" dirty="0">
                <a:latin typeface="Courier New" pitchFamily="49" charset="0"/>
              </a:rPr>
              <a:t>	return;</a:t>
            </a:r>
          </a:p>
          <a:p>
            <a:pPr lvl="1">
              <a:lnSpc>
                <a:spcPct val="90000"/>
              </a:lnSpc>
              <a:buNone/>
            </a:pPr>
            <a:endParaRPr lang="en-GB" altLang="en-US" sz="1600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en-GB" altLang="en-US" sz="1600" dirty="0">
                <a:latin typeface="Courier New" pitchFamily="49" charset="0"/>
              </a:rPr>
              <a:t>// Clear the back buffer to a blue </a:t>
            </a:r>
            <a:r>
              <a:rPr lang="en-GB" altLang="en-US" sz="1600" dirty="0" err="1">
                <a:latin typeface="Courier New" pitchFamily="49" charset="0"/>
              </a:rPr>
              <a:t>color</a:t>
            </a:r>
            <a:endParaRPr lang="en-GB" altLang="en-US" sz="1600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en-GB" altLang="en-US" sz="1600" dirty="0">
                <a:latin typeface="Courier New" pitchFamily="49" charset="0"/>
              </a:rPr>
              <a:t>pd3dDevice-&gt;Clear( 0, NULL, D3DCLEAR_TARGET,</a:t>
            </a:r>
          </a:p>
          <a:p>
            <a:pPr lvl="1">
              <a:lnSpc>
                <a:spcPct val="90000"/>
              </a:lnSpc>
              <a:buNone/>
            </a:pPr>
            <a:r>
              <a:rPr lang="en-GB" altLang="en-US" sz="1600" dirty="0">
                <a:latin typeface="Courier New" pitchFamily="49" charset="0"/>
              </a:rPr>
              <a:t>D3DCOLOR_XRGB( 0,0,255 ), 1.0f, 0 );</a:t>
            </a:r>
          </a:p>
          <a:p>
            <a:pPr lvl="1">
              <a:lnSpc>
                <a:spcPct val="90000"/>
              </a:lnSpc>
              <a:buNone/>
            </a:pPr>
            <a:endParaRPr lang="en-GB" altLang="en-US" sz="1600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  <a:buNone/>
            </a:pPr>
            <a:r>
              <a:rPr lang="en-GB" altLang="en-US" sz="1600" dirty="0">
                <a:latin typeface="Courier New" pitchFamily="49" charset="0"/>
              </a:rPr>
              <a:t>// Present the back buffer contents to the display</a:t>
            </a:r>
          </a:p>
          <a:p>
            <a:pPr lvl="1">
              <a:lnSpc>
                <a:spcPct val="90000"/>
              </a:lnSpc>
              <a:buNone/>
            </a:pPr>
            <a:r>
              <a:rPr lang="en-GB" altLang="en-US" sz="1600" dirty="0">
                <a:latin typeface="Courier New" pitchFamily="49" charset="0"/>
              </a:rPr>
              <a:t>pd3dDevice-&gt;Present( NULL, NULL, NULL, NULL );</a:t>
            </a:r>
          </a:p>
          <a:p>
            <a:pPr lvl="1">
              <a:lnSpc>
                <a:spcPct val="90000"/>
              </a:lnSpc>
              <a:buNone/>
            </a:pPr>
            <a:r>
              <a:rPr lang="en-GB" altLang="en-US" sz="16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3660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structure changes</a:t>
            </a:r>
            <a:endParaRPr lang="en-MY" dirty="0"/>
          </a:p>
        </p:txBody>
      </p:sp>
      <p:sp>
        <p:nvSpPr>
          <p:cNvPr id="4" name="Rectangle 3"/>
          <p:cNvSpPr/>
          <p:nvPr/>
        </p:nvSpPr>
        <p:spPr>
          <a:xfrm>
            <a:off x="448477" y="1340768"/>
            <a:ext cx="8208912" cy="423664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Pre-processor</a:t>
            </a:r>
            <a:endParaRPr lang="en-MY" sz="2000" dirty="0"/>
          </a:p>
        </p:txBody>
      </p:sp>
      <p:sp>
        <p:nvSpPr>
          <p:cNvPr id="8" name="Rectangle 7"/>
          <p:cNvSpPr/>
          <p:nvPr/>
        </p:nvSpPr>
        <p:spPr>
          <a:xfrm>
            <a:off x="448477" y="1896446"/>
            <a:ext cx="8208912" cy="423664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Global Variables</a:t>
            </a:r>
            <a:endParaRPr lang="en-MY" sz="2000" dirty="0"/>
          </a:p>
        </p:txBody>
      </p:sp>
      <p:sp>
        <p:nvSpPr>
          <p:cNvPr id="9" name="Rectangle 8"/>
          <p:cNvSpPr/>
          <p:nvPr/>
        </p:nvSpPr>
        <p:spPr>
          <a:xfrm>
            <a:off x="448477" y="2452124"/>
            <a:ext cx="8208912" cy="423664"/>
          </a:xfrm>
          <a:prstGeom prst="rect">
            <a:avLst/>
          </a:prstGeom>
          <a:solidFill>
            <a:srgbClr val="009F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Function Prototypes</a:t>
            </a:r>
            <a:endParaRPr lang="en-MY" sz="2000" dirty="0"/>
          </a:p>
        </p:txBody>
      </p:sp>
      <p:sp>
        <p:nvSpPr>
          <p:cNvPr id="10" name="Rectangle 9"/>
          <p:cNvSpPr/>
          <p:nvPr/>
        </p:nvSpPr>
        <p:spPr>
          <a:xfrm>
            <a:off x="448477" y="3007802"/>
            <a:ext cx="8208912" cy="4236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WinMain</a:t>
            </a:r>
            <a:r>
              <a:rPr lang="en-US" sz="2000" dirty="0"/>
              <a:t> Function</a:t>
            </a:r>
            <a:endParaRPr lang="en-MY" sz="2000" dirty="0"/>
          </a:p>
        </p:txBody>
      </p:sp>
      <p:sp>
        <p:nvSpPr>
          <p:cNvPr id="11" name="Rectangle 10"/>
          <p:cNvSpPr/>
          <p:nvPr/>
        </p:nvSpPr>
        <p:spPr>
          <a:xfrm>
            <a:off x="448477" y="3563480"/>
            <a:ext cx="8208912" cy="4236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WndProc</a:t>
            </a:r>
            <a:r>
              <a:rPr lang="en-US" sz="2000" dirty="0"/>
              <a:t> Function</a:t>
            </a:r>
            <a:endParaRPr lang="en-MY" sz="2000" dirty="0"/>
          </a:p>
        </p:txBody>
      </p:sp>
      <p:sp>
        <p:nvSpPr>
          <p:cNvPr id="12" name="Rectangle 11"/>
          <p:cNvSpPr/>
          <p:nvPr/>
        </p:nvSpPr>
        <p:spPr>
          <a:xfrm>
            <a:off x="448477" y="4119158"/>
            <a:ext cx="8208912" cy="4236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InitWindow</a:t>
            </a:r>
            <a:r>
              <a:rPr lang="en-US" sz="2000" dirty="0"/>
              <a:t> Function</a:t>
            </a:r>
            <a:endParaRPr lang="en-MY" sz="2000" dirty="0"/>
          </a:p>
        </p:txBody>
      </p:sp>
      <p:sp>
        <p:nvSpPr>
          <p:cNvPr id="13" name="Rectangle 12"/>
          <p:cNvSpPr/>
          <p:nvPr/>
        </p:nvSpPr>
        <p:spPr>
          <a:xfrm>
            <a:off x="448477" y="4674836"/>
            <a:ext cx="8208912" cy="4236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InitDirectX</a:t>
            </a:r>
            <a:r>
              <a:rPr lang="en-US" sz="2000" dirty="0"/>
              <a:t> function</a:t>
            </a:r>
            <a:endParaRPr lang="en-MY" sz="2000" dirty="0"/>
          </a:p>
        </p:txBody>
      </p:sp>
      <p:sp>
        <p:nvSpPr>
          <p:cNvPr id="14" name="Rectangle 13"/>
          <p:cNvSpPr/>
          <p:nvPr/>
        </p:nvSpPr>
        <p:spPr>
          <a:xfrm>
            <a:off x="448477" y="5230514"/>
            <a:ext cx="8208912" cy="4236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Render Function</a:t>
            </a:r>
            <a:endParaRPr lang="en-MY" sz="2000" dirty="0"/>
          </a:p>
        </p:txBody>
      </p:sp>
      <p:sp>
        <p:nvSpPr>
          <p:cNvPr id="15" name="Rectangle 14"/>
          <p:cNvSpPr/>
          <p:nvPr/>
        </p:nvSpPr>
        <p:spPr>
          <a:xfrm>
            <a:off x="448477" y="5786194"/>
            <a:ext cx="8208912" cy="4236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CleanUp</a:t>
            </a:r>
            <a:r>
              <a:rPr lang="en-US" sz="2000" dirty="0"/>
              <a:t> Function</a:t>
            </a: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490241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Code update to </a:t>
            </a:r>
            <a:r>
              <a:rPr lang="en-US" dirty="0" err="1"/>
              <a:t>WinMain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int APIENTRY WinMain(HINSTANCE hInstance, HINSTANCE hPrevInstance, LPSTR lmCmdLine, int nShowCmd)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//Initialise Window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if(!initWindow(hInstance))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{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	return false;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}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//Initialise Direct3D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if(!initDirect3D())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{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	return false;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}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//Message loop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MSG msg;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ZeroMemory( &amp;msg, sizeof(msg));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while(msg.message != WM_QUIT)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{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	//Check the message from the Queue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	if(PeekMessage(&amp;msg,NULL,0U,0U,PM_REMOVE))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	{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		TranslateMessage(&amp;msg);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		DispatchMessage(&amp;msg);</a:t>
            </a:r>
          </a:p>
          <a:p>
            <a:pPr>
              <a:lnSpc>
                <a:spcPct val="80000"/>
              </a:lnSpc>
              <a:buNone/>
            </a:pPr>
            <a:r>
              <a:rPr lang="en-MY" altLang="en-US" noProof="1">
                <a:latin typeface="Courier New" pitchFamily="49" charset="0"/>
              </a:rPr>
              <a:t>		}else</a:t>
            </a:r>
            <a:endParaRPr lang="en-US" altLang="en-US" dirty="0">
              <a:latin typeface="Courier New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dirty="0">
                <a:latin typeface="Courier New" pitchFamily="49" charset="0"/>
              </a:rPr>
              <a:t>		</a:t>
            </a:r>
            <a:r>
              <a:rPr lang="en-US" altLang="en-US" noProof="1">
                <a:latin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noProof="1">
                <a:latin typeface="Courier New" pitchFamily="49" charset="0"/>
              </a:rPr>
              <a:t>			Render();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noProof="1">
                <a:latin typeface="Courier New" pitchFamily="49" charset="0"/>
              </a:rPr>
              <a:t>		}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noProof="1">
                <a:latin typeface="Courier New" pitchFamily="49" charset="0"/>
              </a:rPr>
              <a:t>	}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noProof="1">
                <a:latin typeface="Courier New" pitchFamily="49" charset="0"/>
              </a:rPr>
              <a:t>	cleanUp();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noProof="1">
                <a:latin typeface="Courier New" pitchFamily="49" charset="0"/>
              </a:rPr>
              <a:t>	return (int) msg.wParam;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noProof="1">
                <a:latin typeface="Courier New" pitchFamily="49" charset="0"/>
              </a:rPr>
              <a:t>}</a:t>
            </a: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5723954" y="3872880"/>
            <a:ext cx="33845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dirty="0"/>
              <a:t>Instead of using </a:t>
            </a:r>
            <a:r>
              <a:rPr lang="en-GB" altLang="en-US" dirty="0" err="1"/>
              <a:t>GetMessage</a:t>
            </a:r>
            <a:r>
              <a:rPr lang="en-GB" altLang="en-US" dirty="0"/>
              <a:t>()</a:t>
            </a:r>
            <a:br>
              <a:rPr lang="en-GB" altLang="en-US" dirty="0"/>
            </a:br>
            <a:r>
              <a:rPr lang="en-GB" altLang="en-US" dirty="0"/>
              <a:t>use </a:t>
            </a:r>
            <a:r>
              <a:rPr lang="en-GB" altLang="en-US" dirty="0" err="1"/>
              <a:t>PeekMessage</a:t>
            </a:r>
            <a:r>
              <a:rPr lang="en-GB" altLang="en-US" dirty="0"/>
              <a:t> to obtain the</a:t>
            </a:r>
            <a:br>
              <a:rPr lang="en-GB" altLang="en-US" dirty="0"/>
            </a:br>
            <a:r>
              <a:rPr lang="en-GB" altLang="en-US" dirty="0"/>
              <a:t>message from the Queue</a:t>
            </a:r>
          </a:p>
        </p:txBody>
      </p:sp>
      <p:sp>
        <p:nvSpPr>
          <p:cNvPr id="23" name="AutoShape 5"/>
          <p:cNvSpPr>
            <a:spLocks/>
          </p:cNvSpPr>
          <p:nvPr/>
        </p:nvSpPr>
        <p:spPr bwMode="auto">
          <a:xfrm>
            <a:off x="5571728" y="3949080"/>
            <a:ext cx="152400" cy="838200"/>
          </a:xfrm>
          <a:prstGeom prst="rightBrace">
            <a:avLst>
              <a:gd name="adj1" fmla="val 45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24" name="Line 6"/>
          <p:cNvSpPr>
            <a:spLocks noChangeShapeType="1"/>
          </p:cNvSpPr>
          <p:nvPr/>
        </p:nvSpPr>
        <p:spPr bwMode="auto">
          <a:xfrm flipH="1" flipV="1">
            <a:off x="3707829" y="524448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5368354" y="5052393"/>
            <a:ext cx="3397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/>
              <a:t>Render function is invoked here</a:t>
            </a:r>
          </a:p>
        </p:txBody>
      </p:sp>
      <p:sp>
        <p:nvSpPr>
          <p:cNvPr id="26" name="Line 8"/>
          <p:cNvSpPr>
            <a:spLocks noChangeShapeType="1"/>
          </p:cNvSpPr>
          <p:nvPr/>
        </p:nvSpPr>
        <p:spPr bwMode="auto">
          <a:xfrm flipH="1" flipV="1">
            <a:off x="2260029" y="577788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5368354" y="5585793"/>
            <a:ext cx="3740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/>
              <a:t>Clean up before closing application</a:t>
            </a: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3779912" y="2630239"/>
            <a:ext cx="467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dirty="0"/>
              <a:t>Exit the program if Direct3D cannot be setup</a:t>
            </a:r>
          </a:p>
        </p:txBody>
      </p:sp>
      <p:sp>
        <p:nvSpPr>
          <p:cNvPr id="29" name="AutoShape 11"/>
          <p:cNvSpPr>
            <a:spLocks/>
          </p:cNvSpPr>
          <p:nvPr/>
        </p:nvSpPr>
        <p:spPr bwMode="auto">
          <a:xfrm>
            <a:off x="3326829" y="2455168"/>
            <a:ext cx="152400" cy="685800"/>
          </a:xfrm>
          <a:prstGeom prst="rightBrace">
            <a:avLst>
              <a:gd name="adj1" fmla="val 37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MY" altLang="en-US"/>
          </a:p>
        </p:txBody>
      </p:sp>
    </p:spTree>
    <p:extLst>
      <p:ext uri="{BB962C8B-B14F-4D97-AF65-F5344CB8AC3E}">
        <p14:creationId xmlns:p14="http://schemas.microsoft.com/office/powerpoint/2010/main" val="1320385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code for Cleaning Up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altLang="en-US" sz="1600" dirty="0">
                <a:latin typeface="Courier New" pitchFamily="49" charset="0"/>
              </a:rPr>
              <a:t>void </a:t>
            </a:r>
            <a:r>
              <a:rPr lang="en-GB" altLang="en-US" sz="1600" dirty="0" err="1">
                <a:latin typeface="Courier New" pitchFamily="49" charset="0"/>
              </a:rPr>
              <a:t>CleanUp</a:t>
            </a:r>
            <a:r>
              <a:rPr lang="en-GB" altLang="en-US" sz="1600" dirty="0">
                <a:latin typeface="Courier New" pitchFamily="49" charset="0"/>
              </a:rPr>
              <a:t> (void)</a:t>
            </a:r>
          </a:p>
          <a:p>
            <a:pPr>
              <a:buNone/>
            </a:pPr>
            <a:r>
              <a:rPr lang="en-GB" altLang="en-US" sz="1600" dirty="0">
                <a:latin typeface="Courier New" pitchFamily="49" charset="0"/>
              </a:rPr>
              <a:t>{</a:t>
            </a:r>
          </a:p>
          <a:p>
            <a:pPr lvl="1">
              <a:buNone/>
            </a:pPr>
            <a:r>
              <a:rPr lang="en-GB" altLang="en-US" sz="1600" dirty="0">
                <a:latin typeface="Courier New" pitchFamily="49" charset="0"/>
              </a:rPr>
              <a:t>// Release the device and the Direct3D object</a:t>
            </a:r>
          </a:p>
          <a:p>
            <a:pPr lvl="1">
              <a:buNone/>
            </a:pPr>
            <a:r>
              <a:rPr lang="en-GB" altLang="en-US" sz="1600" dirty="0">
                <a:latin typeface="Courier New" pitchFamily="49" charset="0"/>
              </a:rPr>
              <a:t>if( pd3dDevice != NULL )</a:t>
            </a:r>
          </a:p>
          <a:p>
            <a:pPr lvl="2">
              <a:buNone/>
            </a:pPr>
            <a:r>
              <a:rPr lang="en-GB" altLang="en-US" sz="1600" dirty="0">
                <a:latin typeface="Courier New" pitchFamily="49" charset="0"/>
              </a:rPr>
              <a:t>pd3dDevice-&gt;Release( );</a:t>
            </a:r>
          </a:p>
          <a:p>
            <a:pPr lvl="2">
              <a:buNone/>
            </a:pPr>
            <a:endParaRPr lang="en-GB" altLang="en-US" sz="1600" dirty="0">
              <a:latin typeface="Courier New" pitchFamily="49" charset="0"/>
            </a:endParaRPr>
          </a:p>
          <a:p>
            <a:pPr lvl="1">
              <a:buNone/>
            </a:pPr>
            <a:r>
              <a:rPr lang="en-GB" altLang="en-US" sz="1600" dirty="0">
                <a:latin typeface="Courier New" pitchFamily="49" charset="0"/>
              </a:rPr>
              <a:t>if( pD3D != NULL )</a:t>
            </a:r>
          </a:p>
          <a:p>
            <a:pPr lvl="2">
              <a:buNone/>
            </a:pPr>
            <a:r>
              <a:rPr lang="en-GB" altLang="en-US" sz="1600" dirty="0">
                <a:latin typeface="Courier New" pitchFamily="49" charset="0"/>
              </a:rPr>
              <a:t>pD3D-&gt;Release( );</a:t>
            </a:r>
          </a:p>
          <a:p>
            <a:pPr>
              <a:buNone/>
            </a:pPr>
            <a:r>
              <a:rPr lang="en-GB" altLang="en-US" sz="1600" dirty="0">
                <a:latin typeface="Courier New" pitchFamily="49" charset="0"/>
              </a:rPr>
              <a:t>}</a:t>
            </a:r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964198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things to note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DirectX can be used with Visual Studio, Visual Studio needs to be told where to find the libraries</a:t>
            </a:r>
          </a:p>
          <a:p>
            <a:r>
              <a:rPr lang="en-US" dirty="0"/>
              <a:t>Please refer to the steps found in your </a:t>
            </a:r>
            <a:r>
              <a:rPr lang="en-US" dirty="0" err="1"/>
              <a:t>practicals</a:t>
            </a:r>
            <a:r>
              <a:rPr lang="en-US" dirty="0"/>
              <a:t>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872317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Sprites</a:t>
            </a:r>
            <a:endParaRPr lang="en-MY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356225" y="1331913"/>
            <a:ext cx="2584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/>
              <a:t>Image strip of an avatar</a:t>
            </a:r>
          </a:p>
        </p:txBody>
      </p:sp>
      <p:sp>
        <p:nvSpPr>
          <p:cNvPr id="5" name="Rectangle 6"/>
          <p:cNvSpPr txBox="1">
            <a:spLocks noChangeArrowheads="1"/>
          </p:cNvSpPr>
          <p:nvPr/>
        </p:nvSpPr>
        <p:spPr>
          <a:xfrm>
            <a:off x="457200" y="1219200"/>
            <a:ext cx="4038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2000"/>
              <a:t>2D games uses a series of bitmap graphics to create an animating object in 2D environment.</a:t>
            </a:r>
          </a:p>
          <a:p>
            <a:pPr lvl="1"/>
            <a:r>
              <a:rPr lang="en-US" altLang="en-US" sz="2000"/>
              <a:t>The prepared bitmap graphics is then controlled by a timer to show the appropriate picture one at a time in a loop and according to the interaction triggered.</a:t>
            </a:r>
          </a:p>
          <a:p>
            <a:pPr lvl="1"/>
            <a:r>
              <a:rPr lang="en-US" altLang="en-US" sz="2000"/>
              <a:t>Besides sprites is also used as background image to create a tiled world by reusing graphic.</a:t>
            </a:r>
            <a:endParaRPr lang="en-GB" altLang="en-US" sz="2000" dirty="0"/>
          </a:p>
        </p:txBody>
      </p:sp>
      <p:pic>
        <p:nvPicPr>
          <p:cNvPr id="6" name="Picture 9" descr="BT-Bomberm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3"/>
          <a:stretch>
            <a:fillRect/>
          </a:stretch>
        </p:blipFill>
        <p:spPr bwMode="auto">
          <a:xfrm>
            <a:off x="5448300" y="1752600"/>
            <a:ext cx="25527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0" descr="BT-Bomberm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475" b="90611"/>
          <a:stretch>
            <a:fillRect/>
          </a:stretch>
        </p:blipFill>
        <p:spPr bwMode="auto">
          <a:xfrm>
            <a:off x="4876800" y="4800600"/>
            <a:ext cx="3962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076825" y="4800600"/>
            <a:ext cx="457200" cy="6858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 flipH="1" flipV="1">
            <a:off x="5334000" y="55626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5927725" y="5683250"/>
            <a:ext cx="2000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dirty="0"/>
              <a:t>Window of image </a:t>
            </a:r>
            <a:br>
              <a:rPr lang="en-GB" altLang="en-US" dirty="0"/>
            </a:br>
            <a:r>
              <a:rPr lang="en-GB" altLang="en-US" dirty="0"/>
              <a:t>being displayed</a:t>
            </a: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5530850" y="4800600"/>
            <a:ext cx="457200" cy="6858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6046788" y="4800600"/>
            <a:ext cx="457200" cy="6858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6500813" y="4800600"/>
            <a:ext cx="457200" cy="6858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6950075" y="4800600"/>
            <a:ext cx="457200" cy="6858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MY" altLang="en-US"/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5105400" y="4419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/>
              <a:t>[0]</a:t>
            </a:r>
          </a:p>
        </p:txBody>
      </p: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5562600" y="4419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/>
              <a:t>[1]</a:t>
            </a:r>
          </a:p>
        </p:txBody>
      </p: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6096000" y="4419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/>
              <a:t>[2]</a:t>
            </a:r>
          </a:p>
        </p:txBody>
      </p:sp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6553200" y="4419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/>
              <a:t>[3]</a:t>
            </a:r>
          </a:p>
        </p:txBody>
      </p:sp>
      <p:sp>
        <p:nvSpPr>
          <p:cNvPr id="19" name="Text Box 23"/>
          <p:cNvSpPr txBox="1">
            <a:spLocks noChangeArrowheads="1"/>
          </p:cNvSpPr>
          <p:nvPr/>
        </p:nvSpPr>
        <p:spPr bwMode="auto">
          <a:xfrm>
            <a:off x="6934200" y="4419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/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3989538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Sprites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Drawing sprites can be achieved in a few ways:</a:t>
            </a:r>
          </a:p>
          <a:p>
            <a:pPr lvl="1"/>
            <a:r>
              <a:rPr lang="en-US" dirty="0"/>
              <a:t>Surfaces approach</a:t>
            </a:r>
          </a:p>
          <a:p>
            <a:pPr lvl="1"/>
            <a:r>
              <a:rPr lang="en-US" dirty="0"/>
              <a:t>D3DXSprite approach</a:t>
            </a:r>
          </a:p>
          <a:p>
            <a:pPr lvl="1"/>
            <a:r>
              <a:rPr lang="en-US" dirty="0"/>
              <a:t>Texturing a polygon approach</a:t>
            </a:r>
          </a:p>
        </p:txBody>
      </p:sp>
    </p:spTree>
    <p:extLst>
      <p:ext uri="{BB962C8B-B14F-4D97-AF65-F5344CB8AC3E}">
        <p14:creationId xmlns:p14="http://schemas.microsoft.com/office/powerpoint/2010/main" val="12848567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Sprites - Surfaces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3400" indent="-533400"/>
            <a:r>
              <a:rPr lang="en-GB" altLang="en-US" dirty="0"/>
              <a:t>To draw a sprite on the window using Surfaces in Direct3D, it involves 4 steps;</a:t>
            </a:r>
          </a:p>
          <a:p>
            <a:pPr marL="533400" indent="-533400"/>
            <a:endParaRPr lang="en-GB" altLang="en-US" dirty="0"/>
          </a:p>
          <a:p>
            <a:pPr marL="914400" lvl="1" indent="-457200">
              <a:buFontTx/>
              <a:buAutoNum type="arabicPeriod"/>
            </a:pPr>
            <a:r>
              <a:rPr lang="en-GB" altLang="en-US" dirty="0"/>
              <a:t>Create an </a:t>
            </a:r>
            <a:r>
              <a:rPr lang="en-GB" altLang="en-US" dirty="0" err="1"/>
              <a:t>offscreen</a:t>
            </a:r>
            <a:r>
              <a:rPr lang="en-GB" altLang="en-US" dirty="0"/>
              <a:t> surface</a:t>
            </a:r>
          </a:p>
          <a:p>
            <a:pPr marL="914400" lvl="1" indent="-457200">
              <a:buFontTx/>
              <a:buAutoNum type="arabicPeriod"/>
            </a:pPr>
            <a:r>
              <a:rPr lang="en-GB" altLang="en-US" dirty="0"/>
              <a:t>Load the bitmap to the </a:t>
            </a:r>
            <a:r>
              <a:rPr lang="en-GB" altLang="en-US" dirty="0" err="1"/>
              <a:t>offscreen</a:t>
            </a:r>
            <a:r>
              <a:rPr lang="en-GB" altLang="en-US" dirty="0"/>
              <a:t> surface</a:t>
            </a:r>
          </a:p>
          <a:p>
            <a:pPr marL="914400" lvl="1" indent="-457200">
              <a:buFontTx/>
              <a:buAutoNum type="arabicPeriod"/>
            </a:pPr>
            <a:r>
              <a:rPr lang="en-GB" altLang="en-US" dirty="0"/>
              <a:t>Render the bitmap using DirectX</a:t>
            </a:r>
          </a:p>
          <a:p>
            <a:pPr marL="914400" lvl="1" indent="-457200">
              <a:buFontTx/>
              <a:buAutoNum type="arabicPeriod"/>
            </a:pPr>
            <a:endParaRPr lang="en-GB" altLang="en-US" dirty="0">
              <a:solidFill>
                <a:srgbClr val="FF0000"/>
              </a:solidFill>
            </a:endParaRPr>
          </a:p>
          <a:p>
            <a:pPr marL="533400" indent="-533400"/>
            <a:r>
              <a:rPr lang="en-GB" altLang="en-US" dirty="0" err="1"/>
              <a:t>Offscreen</a:t>
            </a:r>
            <a:r>
              <a:rPr lang="en-GB" altLang="en-US" dirty="0"/>
              <a:t> surfaces are areas of video or system memory that hold the graphics that your game needs.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706850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Sprites – D3DXSprite Object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3400" indent="-533400"/>
            <a:r>
              <a:rPr lang="en-GB" altLang="en-US" dirty="0"/>
              <a:t>The following steps are taken to draw a sprite:</a:t>
            </a:r>
          </a:p>
          <a:p>
            <a:pPr marL="533400" indent="-533400"/>
            <a:endParaRPr lang="en-GB" altLang="en-US" dirty="0"/>
          </a:p>
          <a:p>
            <a:pPr marL="914400" lvl="1" indent="-457200">
              <a:buFontTx/>
              <a:buAutoNum type="arabicPeriod"/>
            </a:pPr>
            <a:r>
              <a:rPr lang="en-GB" altLang="en-US" dirty="0"/>
              <a:t>Initializing the D3DXSprite Interface</a:t>
            </a:r>
          </a:p>
          <a:p>
            <a:pPr marL="914400" lvl="1" indent="-457200">
              <a:buFontTx/>
              <a:buAutoNum type="arabicPeriod"/>
            </a:pPr>
            <a:r>
              <a:rPr lang="en-GB" altLang="en-US" dirty="0"/>
              <a:t>Loading a Texture</a:t>
            </a:r>
          </a:p>
          <a:p>
            <a:pPr marL="914400" lvl="1" indent="-457200">
              <a:buFontTx/>
              <a:buAutoNum type="arabicPeriod"/>
            </a:pPr>
            <a:r>
              <a:rPr lang="en-GB" altLang="en-US" dirty="0"/>
              <a:t>Drawing the Texture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062694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altLang="en-US" sz="3200" dirty="0"/>
              <a:t>STEP 1: Initializing the D3DXSprite Interface</a:t>
            </a:r>
            <a:endParaRPr lang="en-MY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2400" dirty="0"/>
              <a:t>Initialization of D3DXSprite Interface can be done using the D3DXCreateSprite statement;</a:t>
            </a:r>
          </a:p>
          <a:p>
            <a:endParaRPr lang="en-GB" altLang="en-US" sz="2400" dirty="0"/>
          </a:p>
          <a:p>
            <a:pPr lvl="1">
              <a:buNone/>
            </a:pPr>
            <a:r>
              <a:rPr lang="en-GB" altLang="en-US" sz="1400" dirty="0">
                <a:latin typeface="Courier New" pitchFamily="49" charset="0"/>
              </a:rPr>
              <a:t>HRESULT D3DXCreateSprite(LPDIRECT3DDEVICE9 </a:t>
            </a:r>
            <a:r>
              <a:rPr lang="en-GB" altLang="en-US" sz="1400" dirty="0" err="1">
                <a:latin typeface="Courier New" pitchFamily="49" charset="0"/>
              </a:rPr>
              <a:t>pDevice</a:t>
            </a:r>
            <a:r>
              <a:rPr lang="en-GB" altLang="en-US" sz="1400" dirty="0">
                <a:latin typeface="Courier New" pitchFamily="49" charset="0"/>
              </a:rPr>
              <a:t>, LPD3DXSPRITE *</a:t>
            </a:r>
            <a:r>
              <a:rPr lang="en-GB" altLang="en-US" sz="1400" dirty="0" err="1">
                <a:latin typeface="Courier New" pitchFamily="49" charset="0"/>
              </a:rPr>
              <a:t>ppSprite</a:t>
            </a:r>
            <a:r>
              <a:rPr lang="en-GB" altLang="en-US" sz="1400" dirty="0">
                <a:latin typeface="Courier New" pitchFamily="49" charset="0"/>
              </a:rPr>
              <a:t>); </a:t>
            </a:r>
          </a:p>
          <a:p>
            <a:endParaRPr lang="en-GB" altLang="en-US" sz="1400" dirty="0">
              <a:latin typeface="Courier New" pitchFamily="49" charset="0"/>
            </a:endParaRPr>
          </a:p>
          <a:p>
            <a:r>
              <a:rPr lang="en-GB" altLang="en-US" sz="2400" dirty="0"/>
              <a:t>D3DXCreateSprite statement has 2 parameters</a:t>
            </a:r>
          </a:p>
          <a:p>
            <a:pPr lvl="1"/>
            <a:r>
              <a:rPr lang="en-GB" altLang="en-US" sz="2000" dirty="0" err="1"/>
              <a:t>pDevice</a:t>
            </a:r>
            <a:r>
              <a:rPr lang="en-GB" altLang="en-US" sz="2000" dirty="0"/>
              <a:t> - device pointer</a:t>
            </a:r>
          </a:p>
          <a:p>
            <a:pPr lvl="1"/>
            <a:r>
              <a:rPr lang="en-GB" altLang="en-US" sz="2000" dirty="0" err="1"/>
              <a:t>ppSprite</a:t>
            </a:r>
            <a:r>
              <a:rPr lang="en-GB" altLang="en-US" sz="2000" dirty="0"/>
              <a:t> - the address of our sprite pointer</a:t>
            </a:r>
          </a:p>
          <a:p>
            <a:r>
              <a:rPr lang="en-GB" altLang="en-US" sz="2400" dirty="0"/>
              <a:t>Example:</a:t>
            </a:r>
            <a:br>
              <a:rPr lang="en-GB" altLang="en-US" sz="2400" dirty="0"/>
            </a:br>
            <a:r>
              <a:rPr lang="en-GB" altLang="en-US" sz="1600" dirty="0">
                <a:latin typeface="Courier New" pitchFamily="49" charset="0"/>
              </a:rPr>
              <a:t>// the pointer to our Direct3D Sprite interface</a:t>
            </a:r>
          </a:p>
          <a:p>
            <a:pPr>
              <a:buNone/>
            </a:pPr>
            <a:r>
              <a:rPr lang="en-GB" altLang="en-US" sz="1600" dirty="0">
                <a:latin typeface="Courier New" pitchFamily="49" charset="0"/>
              </a:rPr>
              <a:t>	LPD3DXSPRITE d3dspt;    </a:t>
            </a:r>
            <a:br>
              <a:rPr lang="en-GB" altLang="en-US" sz="1600" dirty="0">
                <a:latin typeface="Courier New" pitchFamily="49" charset="0"/>
              </a:rPr>
            </a:br>
            <a:br>
              <a:rPr lang="en-GB" altLang="en-US" sz="1600" dirty="0">
                <a:latin typeface="Courier New" pitchFamily="49" charset="0"/>
              </a:rPr>
            </a:br>
            <a:r>
              <a:rPr lang="en-GB" altLang="en-US" sz="1600" dirty="0">
                <a:latin typeface="Courier New" pitchFamily="49" charset="0"/>
              </a:rPr>
              <a:t>// create the Direct3D Sprite object </a:t>
            </a:r>
            <a:br>
              <a:rPr lang="en-GB" altLang="en-US" sz="1600" dirty="0">
                <a:latin typeface="Courier New" pitchFamily="49" charset="0"/>
              </a:rPr>
            </a:br>
            <a:r>
              <a:rPr lang="en-GB" altLang="en-US" sz="1600" dirty="0">
                <a:latin typeface="Courier New" pitchFamily="49" charset="0"/>
              </a:rPr>
              <a:t>D3DXCreateSprite(</a:t>
            </a:r>
            <a:r>
              <a:rPr lang="en-GB" altLang="en-US" sz="1600" noProof="1">
                <a:latin typeface="Courier New" pitchFamily="49" charset="0"/>
              </a:rPr>
              <a:t>pd3dDevice</a:t>
            </a:r>
            <a:r>
              <a:rPr lang="en-GB" altLang="en-US" sz="1600" dirty="0">
                <a:latin typeface="Courier New" pitchFamily="49" charset="0"/>
              </a:rPr>
              <a:t>, &amp;d3dspt);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83536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altLang="en-US" sz="3200" dirty="0"/>
              <a:t>STEP 1: Initializing the D3DXSprite Interface</a:t>
            </a:r>
            <a:endParaRPr lang="en-MY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sz="2000" dirty="0"/>
              <a:t>A better Example:</a:t>
            </a:r>
            <a:br>
              <a:rPr lang="en-GB" altLang="en-US" sz="2000" dirty="0"/>
            </a:br>
            <a:r>
              <a:rPr lang="en-GB" altLang="en-US" sz="2000" dirty="0">
                <a:latin typeface="Courier New" pitchFamily="49" charset="0"/>
              </a:rPr>
              <a:t>// the pointer to our Direct3D Sprite interface</a:t>
            </a:r>
          </a:p>
          <a:p>
            <a:pPr>
              <a:buNone/>
            </a:pPr>
            <a:r>
              <a:rPr lang="en-GB" altLang="en-US" sz="2000" dirty="0">
                <a:latin typeface="Courier New" pitchFamily="49" charset="0"/>
              </a:rPr>
              <a:t>	LPD3DXSPRITE sprite;    </a:t>
            </a:r>
            <a:br>
              <a:rPr lang="en-GB" altLang="en-US" sz="2000" dirty="0">
                <a:latin typeface="Courier New" pitchFamily="49" charset="0"/>
              </a:rPr>
            </a:br>
            <a:br>
              <a:rPr lang="en-GB" altLang="en-US" sz="2000" dirty="0">
                <a:latin typeface="Courier New" pitchFamily="49" charset="0"/>
              </a:rPr>
            </a:br>
            <a:r>
              <a:rPr lang="en-GB" altLang="en-US" sz="2000" dirty="0">
                <a:latin typeface="Courier New" pitchFamily="49" charset="0"/>
              </a:rPr>
              <a:t>// create the Direct3D Sprite object </a:t>
            </a:r>
            <a:br>
              <a:rPr lang="en-GB" altLang="en-US" sz="2000" dirty="0">
                <a:latin typeface="Courier New" pitchFamily="49" charset="0"/>
              </a:rPr>
            </a:br>
            <a:r>
              <a:rPr lang="en-GB" altLang="en-US" sz="2000" dirty="0" err="1">
                <a:latin typeface="Courier New" pitchFamily="49" charset="0"/>
              </a:rPr>
              <a:t>hResult</a:t>
            </a:r>
            <a:r>
              <a:rPr lang="en-GB" altLang="en-US" sz="2000" dirty="0">
                <a:latin typeface="Courier New" pitchFamily="49" charset="0"/>
              </a:rPr>
              <a:t> = D3DXCreateSprite(</a:t>
            </a:r>
            <a:r>
              <a:rPr lang="en-GB" altLang="en-US" sz="2000" noProof="1">
                <a:latin typeface="Courier New" pitchFamily="49" charset="0"/>
              </a:rPr>
              <a:t>pd3dDevice</a:t>
            </a:r>
            <a:r>
              <a:rPr lang="en-GB" altLang="en-US" sz="2000" dirty="0">
                <a:latin typeface="Courier New" pitchFamily="49" charset="0"/>
              </a:rPr>
              <a:t>, &amp;sprite); </a:t>
            </a:r>
          </a:p>
          <a:p>
            <a:pPr>
              <a:buNone/>
            </a:pPr>
            <a:r>
              <a:rPr lang="en-GB" altLang="en-US" sz="2000" dirty="0">
                <a:latin typeface="Courier New" pitchFamily="49" charset="0"/>
              </a:rPr>
              <a:t>	</a:t>
            </a:r>
          </a:p>
          <a:p>
            <a:pPr>
              <a:buNone/>
            </a:pPr>
            <a:r>
              <a:rPr lang="en-GB" altLang="en-US" sz="2000" dirty="0">
                <a:latin typeface="Courier New" pitchFamily="49" charset="0"/>
              </a:rPr>
              <a:t>	//Pop up error message if error</a:t>
            </a:r>
          </a:p>
          <a:p>
            <a:pPr>
              <a:buNone/>
            </a:pPr>
            <a:r>
              <a:rPr lang="en-GB" altLang="en-US" sz="2000" dirty="0">
                <a:latin typeface="Courier New" pitchFamily="49" charset="0"/>
              </a:rPr>
              <a:t>	if(FAILED(</a:t>
            </a:r>
            <a:r>
              <a:rPr lang="en-GB" altLang="en-US" sz="2000" dirty="0" err="1">
                <a:latin typeface="Courier New" pitchFamily="49" charset="0"/>
              </a:rPr>
              <a:t>hResult</a:t>
            </a:r>
            <a:r>
              <a:rPr lang="en-GB" altLang="en-US" sz="2000" dirty="0">
                <a:latin typeface="Courier New" pitchFamily="49" charset="0"/>
              </a:rPr>
              <a:t>)){</a:t>
            </a:r>
          </a:p>
          <a:p>
            <a:pPr>
              <a:buNone/>
            </a:pPr>
            <a:r>
              <a:rPr lang="en-GB" altLang="en-US" sz="2000" dirty="0">
                <a:latin typeface="Courier New" pitchFamily="49" charset="0"/>
              </a:rPr>
              <a:t>		</a:t>
            </a:r>
            <a:r>
              <a:rPr lang="en-GB" altLang="en-US" sz="2000" noProof="1">
                <a:latin typeface="Courier New" pitchFamily="49" charset="0"/>
              </a:rPr>
              <a:t>MessageBox(NULL, 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</a:rPr>
              <a:t>		L"</a:t>
            </a:r>
            <a:r>
              <a:rPr lang="en-US" altLang="en-US" sz="2000" noProof="1">
                <a:latin typeface="Courier New" pitchFamily="49" charset="0"/>
              </a:rPr>
              <a:t>Error creating bitmap surface.", 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</a:rPr>
              <a:t>		</a:t>
            </a:r>
            <a:r>
              <a:rPr lang="en-US" altLang="en-US" sz="2000" noProof="1">
                <a:latin typeface="Courier New" pitchFamily="49" charset="0"/>
              </a:rPr>
              <a:t>L"Error", 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</a:rPr>
              <a:t>		</a:t>
            </a:r>
            <a:r>
              <a:rPr lang="en-US" altLang="en-US" sz="2000" noProof="1">
                <a:latin typeface="Courier New" pitchFamily="49" charset="0"/>
              </a:rPr>
              <a:t>MB_OK);</a:t>
            </a:r>
            <a:endParaRPr lang="en-US" altLang="en-US" sz="2000" dirty="0">
              <a:latin typeface="Courier New" pitchFamily="49" charset="0"/>
            </a:endParaRPr>
          </a:p>
          <a:p>
            <a:pPr>
              <a:buNone/>
            </a:pPr>
            <a:r>
              <a:rPr lang="en-GB" altLang="en-US" sz="2000" dirty="0">
                <a:latin typeface="Courier New" pitchFamily="49" charset="0"/>
              </a:rPr>
              <a:t>	}</a:t>
            </a: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1968910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STEP 2: Loading Texture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GB" altLang="en-US" sz="2000" dirty="0"/>
              <a:t>Texture can be loaded using the D3DXCreateTextureFromFile statement.</a:t>
            </a:r>
          </a:p>
          <a:p>
            <a:pPr>
              <a:lnSpc>
                <a:spcPct val="80000"/>
              </a:lnSpc>
            </a:pPr>
            <a:r>
              <a:rPr lang="en-GB" altLang="en-US" sz="2000" dirty="0"/>
              <a:t>You can also use the extended version (</a:t>
            </a:r>
            <a:r>
              <a:rPr lang="en-GB" altLang="en-US" sz="2000" dirty="0">
                <a:latin typeface="Courier New" pitchFamily="49" charset="0"/>
                <a:hlinkClick r:id="rId2"/>
              </a:rPr>
              <a:t>D3DXCreateTextureFromFileEx</a:t>
            </a:r>
            <a:r>
              <a:rPr lang="en-GB" altLang="en-US" sz="2000" dirty="0">
                <a:latin typeface="Courier New" pitchFamily="49" charset="0"/>
              </a:rPr>
              <a:t>()</a:t>
            </a:r>
            <a:r>
              <a:rPr lang="en-GB" altLang="en-US" sz="2000" dirty="0"/>
              <a:t>)</a:t>
            </a:r>
          </a:p>
          <a:p>
            <a:pPr marL="0" indent="0">
              <a:lnSpc>
                <a:spcPct val="80000"/>
              </a:lnSpc>
              <a:buNone/>
            </a:pPr>
            <a:endParaRPr lang="en-GB" altLang="en-US" sz="2000" dirty="0"/>
          </a:p>
          <a:p>
            <a:pPr>
              <a:lnSpc>
                <a:spcPct val="80000"/>
              </a:lnSpc>
              <a:buNone/>
            </a:pPr>
            <a:r>
              <a:rPr lang="en-GB" altLang="en-US" sz="1800" dirty="0">
                <a:latin typeface="Courier New" pitchFamily="49" charset="0"/>
              </a:rPr>
              <a:t>	HRESULT D3DXCreateTextureFromFile( LPDIRECT3DDEVICE9 </a:t>
            </a:r>
            <a:r>
              <a:rPr lang="en-GB" altLang="en-US" sz="1800" i="1" dirty="0" err="1">
                <a:latin typeface="Courier New" pitchFamily="49" charset="0"/>
              </a:rPr>
              <a:t>pDevice</a:t>
            </a:r>
            <a:r>
              <a:rPr lang="en-GB" altLang="en-US" sz="1800" dirty="0">
                <a:latin typeface="Courier New" pitchFamily="49" charset="0"/>
              </a:rPr>
              <a:t>, </a:t>
            </a:r>
            <a:br>
              <a:rPr lang="en-GB" altLang="en-US" sz="1800" dirty="0">
                <a:latin typeface="Courier New" pitchFamily="49" charset="0"/>
              </a:rPr>
            </a:br>
            <a:r>
              <a:rPr lang="en-GB" altLang="en-US" sz="1800" dirty="0">
                <a:latin typeface="Courier New" pitchFamily="49" charset="0"/>
              </a:rPr>
              <a:t>LPCTSTR </a:t>
            </a:r>
            <a:r>
              <a:rPr lang="en-GB" altLang="en-US" sz="1800" i="1" dirty="0" err="1">
                <a:latin typeface="Courier New" pitchFamily="49" charset="0"/>
              </a:rPr>
              <a:t>pSrcFile</a:t>
            </a:r>
            <a:r>
              <a:rPr lang="en-GB" altLang="en-US" sz="1800" dirty="0">
                <a:latin typeface="Courier New" pitchFamily="49" charset="0"/>
              </a:rPr>
              <a:t>, </a:t>
            </a:r>
            <a:br>
              <a:rPr lang="en-GB" altLang="en-US" sz="1800" dirty="0">
                <a:latin typeface="Courier New" pitchFamily="49" charset="0"/>
              </a:rPr>
            </a:br>
            <a:r>
              <a:rPr lang="en-GB" altLang="en-US" sz="1800" dirty="0">
                <a:latin typeface="Courier New" pitchFamily="49" charset="0"/>
              </a:rPr>
              <a:t>LPDIRECT3DTEXTURE9 * </a:t>
            </a:r>
            <a:r>
              <a:rPr lang="en-GB" altLang="en-US" sz="1800" i="1" dirty="0" err="1">
                <a:latin typeface="Courier New" pitchFamily="49" charset="0"/>
              </a:rPr>
              <a:t>ppTexture</a:t>
            </a:r>
            <a:r>
              <a:rPr lang="en-GB" altLang="en-US" sz="1800" dirty="0">
                <a:latin typeface="Courier New" pitchFamily="49" charset="0"/>
              </a:rPr>
              <a:t> );</a:t>
            </a:r>
            <a:r>
              <a:rPr lang="en-GB" altLang="en-US" sz="1400" dirty="0">
                <a:latin typeface="Courier New" pitchFamily="49" charset="0"/>
              </a:rPr>
              <a:t> </a:t>
            </a:r>
          </a:p>
          <a:p>
            <a:pPr>
              <a:lnSpc>
                <a:spcPct val="80000"/>
              </a:lnSpc>
            </a:pPr>
            <a:endParaRPr lang="en-GB" altLang="en-US" sz="14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en-GB" altLang="en-US" sz="2000" dirty="0"/>
              <a:t>D3DXCreateTexture from file statement has 3 parameters</a:t>
            </a:r>
          </a:p>
          <a:p>
            <a:pPr lvl="1">
              <a:lnSpc>
                <a:spcPct val="80000"/>
              </a:lnSpc>
            </a:pPr>
            <a:r>
              <a:rPr lang="en-GB" altLang="en-US" sz="1800" b="1" i="1" dirty="0" err="1"/>
              <a:t>pDevice</a:t>
            </a:r>
            <a:r>
              <a:rPr lang="en-GB" altLang="en-US" sz="1800" i="1" dirty="0"/>
              <a:t> </a:t>
            </a:r>
            <a:r>
              <a:rPr lang="en-GB" altLang="en-US" sz="1800" dirty="0"/>
              <a:t>- Pointer to an IDirect3DDevice9 interface, representing the device to be associated with the texture.</a:t>
            </a:r>
          </a:p>
          <a:p>
            <a:pPr lvl="1">
              <a:lnSpc>
                <a:spcPct val="80000"/>
              </a:lnSpc>
            </a:pPr>
            <a:r>
              <a:rPr lang="en-GB" altLang="en-US" sz="1800" b="1" i="1" dirty="0" err="1"/>
              <a:t>pSrcFile</a:t>
            </a:r>
            <a:r>
              <a:rPr lang="en-GB" altLang="en-US" sz="1800" b="1" i="1" dirty="0"/>
              <a:t> </a:t>
            </a:r>
            <a:r>
              <a:rPr lang="en-GB" altLang="en-US" sz="1800" dirty="0"/>
              <a:t>- Pointer to a string that specifies the filename. If the compiler settings require Unicode, the data type LPCTSTR resolves to LPCWSTR. Otherwise, the string data type resolves to LPCSTR. See Remarks.</a:t>
            </a:r>
          </a:p>
          <a:p>
            <a:pPr lvl="1">
              <a:lnSpc>
                <a:spcPct val="80000"/>
              </a:lnSpc>
            </a:pPr>
            <a:r>
              <a:rPr lang="en-GB" altLang="en-US" sz="1800" b="1" i="1" dirty="0" err="1"/>
              <a:t>ppTextur</a:t>
            </a:r>
            <a:r>
              <a:rPr lang="en-GB" altLang="en-US" sz="1800" i="1" dirty="0" err="1"/>
              <a:t>e</a:t>
            </a:r>
            <a:r>
              <a:rPr lang="en-GB" altLang="en-US" sz="1800" i="1" dirty="0"/>
              <a:t> - </a:t>
            </a:r>
            <a:r>
              <a:rPr lang="en-GB" altLang="en-US" sz="1800" dirty="0"/>
              <a:t>Address of a pointer to an IDirect3DTexture9 interface, representing the created texture object.</a:t>
            </a:r>
          </a:p>
          <a:p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3119949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STEP 2: Loading Texture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Example: loading a texture named “graphic.bmp”</a:t>
            </a:r>
          </a:p>
          <a:p>
            <a:endParaRPr lang="en-GB" altLang="en-US" dirty="0"/>
          </a:p>
          <a:p>
            <a:pPr>
              <a:buNone/>
            </a:pPr>
            <a:r>
              <a:rPr lang="en-GB" altLang="en-US" sz="1800" dirty="0">
                <a:latin typeface="Courier New" pitchFamily="49" charset="0"/>
              </a:rPr>
              <a:t>	// the pointer to the sprite </a:t>
            </a:r>
            <a:br>
              <a:rPr lang="en-GB" altLang="en-US" sz="1800" dirty="0">
                <a:latin typeface="Courier New" pitchFamily="49" charset="0"/>
              </a:rPr>
            </a:br>
            <a:r>
              <a:rPr lang="en-GB" altLang="en-US" sz="1800" dirty="0">
                <a:latin typeface="Courier New" pitchFamily="49" charset="0"/>
              </a:rPr>
              <a:t>LPDIRECT3DTEXTURE9 texture;    </a:t>
            </a:r>
            <a:br>
              <a:rPr lang="en-GB" altLang="en-US" sz="1800" dirty="0">
                <a:latin typeface="Courier New" pitchFamily="49" charset="0"/>
              </a:rPr>
            </a:br>
            <a:br>
              <a:rPr lang="en-GB" altLang="en-US" sz="1800" dirty="0">
                <a:latin typeface="Courier New" pitchFamily="49" charset="0"/>
              </a:rPr>
            </a:br>
            <a:r>
              <a:rPr lang="en-GB" altLang="en-US" sz="1800" dirty="0">
                <a:latin typeface="Courier New" pitchFamily="49" charset="0"/>
              </a:rPr>
              <a:t>D3DXCreateTextureFromFile(pd3dDev, </a:t>
            </a:r>
            <a:br>
              <a:rPr lang="en-GB" altLang="en-US" sz="1800" dirty="0">
                <a:latin typeface="Courier New" pitchFamily="49" charset="0"/>
              </a:rPr>
            </a:br>
            <a:r>
              <a:rPr lang="en-GB" altLang="en-US" sz="1800" dirty="0" err="1">
                <a:latin typeface="Courier New" pitchFamily="49" charset="0"/>
              </a:rPr>
              <a:t>L"graphic.bmp</a:t>
            </a:r>
            <a:r>
              <a:rPr lang="en-GB" altLang="en-US" sz="1800" dirty="0">
                <a:latin typeface="Courier New" pitchFamily="49" charset="0"/>
              </a:rPr>
              <a:t>", </a:t>
            </a:r>
            <a:br>
              <a:rPr lang="en-GB" altLang="en-US" sz="1800" dirty="0">
                <a:latin typeface="Courier New" pitchFamily="49" charset="0"/>
              </a:rPr>
            </a:br>
            <a:r>
              <a:rPr lang="en-GB" altLang="en-US" sz="1800" dirty="0">
                <a:latin typeface="Courier New" pitchFamily="49" charset="0"/>
              </a:rPr>
              <a:t>&amp;texture);</a:t>
            </a:r>
            <a:endParaRPr lang="en-GB" altLang="en-US" dirty="0"/>
          </a:p>
          <a:p>
            <a:endParaRPr lang="en-GB" altLang="en-US" dirty="0">
              <a:solidFill>
                <a:srgbClr val="A50021"/>
              </a:solidFill>
            </a:endParaRPr>
          </a:p>
          <a:p>
            <a:r>
              <a:rPr lang="en-GB" altLang="en-US" dirty="0"/>
              <a:t>Similar with previous step, you can rewrite it to check if the D3DXCreateTextureFromFile statement did not fail.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838437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STEP 3: Drawing the texture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render our sprite, a number of steps must be done in sequence:</a:t>
            </a:r>
          </a:p>
          <a:p>
            <a:pPr lvl="1"/>
            <a:r>
              <a:rPr lang="en-US" dirty="0">
                <a:hlinkClick r:id="rId2"/>
              </a:rPr>
              <a:t>Clear the previous buffer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Prepare the scene</a:t>
            </a:r>
            <a:endParaRPr lang="en-US" dirty="0"/>
          </a:p>
          <a:p>
            <a:pPr lvl="2"/>
            <a:r>
              <a:rPr lang="en-US" dirty="0">
                <a:hlinkClick r:id="rId4"/>
              </a:rPr>
              <a:t>Prepare the device to draw the sprite</a:t>
            </a:r>
            <a:endParaRPr lang="en-US" dirty="0"/>
          </a:p>
          <a:p>
            <a:pPr lvl="2"/>
            <a:r>
              <a:rPr lang="en-US" dirty="0">
                <a:hlinkClick r:id="rId5"/>
              </a:rPr>
              <a:t>Draw sprites</a:t>
            </a:r>
            <a:endParaRPr lang="en-US" dirty="0"/>
          </a:p>
          <a:p>
            <a:pPr lvl="2"/>
            <a:r>
              <a:rPr lang="en-US" dirty="0">
                <a:hlinkClick r:id="rId6"/>
              </a:rPr>
              <a:t>End sprite drawing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End Scene</a:t>
            </a:r>
            <a:endParaRPr lang="en-US" dirty="0"/>
          </a:p>
          <a:p>
            <a:pPr lvl="1"/>
            <a:r>
              <a:rPr lang="en-US" dirty="0">
                <a:hlinkClick r:id="rId7"/>
              </a:rPr>
              <a:t>Swap buffer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2988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STEP 3: Drawing the texture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 dirty="0"/>
              <a:t>To render our sprite we must draw it in our render loop between the scene begin and end calls. To display the sprite we call the following three sprite interfaces:</a:t>
            </a:r>
          </a:p>
          <a:p>
            <a:pPr>
              <a:lnSpc>
                <a:spcPct val="90000"/>
              </a:lnSpc>
              <a:buNone/>
            </a:pPr>
            <a:r>
              <a:rPr lang="en-GB" altLang="en-US" sz="2400" dirty="0">
                <a:latin typeface="Courier New" pitchFamily="49" charset="0"/>
              </a:rPr>
              <a:t>	</a:t>
            </a:r>
            <a:r>
              <a:rPr lang="en-GB" altLang="en-US" sz="1800" dirty="0">
                <a:latin typeface="Courier New" pitchFamily="49" charset="0"/>
              </a:rPr>
              <a:t>sprite-&gt;Begin(...)</a:t>
            </a:r>
            <a:br>
              <a:rPr lang="en-GB" altLang="en-US" sz="1800" dirty="0">
                <a:latin typeface="Courier New" pitchFamily="49" charset="0"/>
              </a:rPr>
            </a:br>
            <a:r>
              <a:rPr lang="en-GB" altLang="en-US" sz="1800" dirty="0">
                <a:latin typeface="Courier New" pitchFamily="49" charset="0"/>
              </a:rPr>
              <a:t>sprite-&gt;Draw(...)</a:t>
            </a:r>
            <a:br>
              <a:rPr lang="en-GB" altLang="en-US" sz="1800" dirty="0">
                <a:latin typeface="Courier New" pitchFamily="49" charset="0"/>
              </a:rPr>
            </a:br>
            <a:r>
              <a:rPr lang="en-GB" altLang="en-US" sz="1800" dirty="0">
                <a:latin typeface="Courier New" pitchFamily="49" charset="0"/>
              </a:rPr>
              <a:t>sprite-&gt;End()</a:t>
            </a:r>
          </a:p>
          <a:p>
            <a:pPr>
              <a:lnSpc>
                <a:spcPct val="90000"/>
              </a:lnSpc>
            </a:pPr>
            <a:r>
              <a:rPr lang="en-GB" altLang="en-US" sz="2400" dirty="0"/>
              <a:t>Begin(…)</a:t>
            </a:r>
          </a:p>
          <a:p>
            <a:pPr lvl="1">
              <a:lnSpc>
                <a:spcPct val="90000"/>
              </a:lnSpc>
            </a:pPr>
            <a:r>
              <a:rPr lang="en-GB" altLang="en-US" sz="1800" dirty="0">
                <a:latin typeface="Courier New" pitchFamily="49" charset="0"/>
              </a:rPr>
              <a:t>HRESULT Begin(DWORD flags)</a:t>
            </a:r>
          </a:p>
          <a:p>
            <a:pPr lvl="1">
              <a:lnSpc>
                <a:spcPct val="90000"/>
              </a:lnSpc>
            </a:pPr>
            <a:r>
              <a:rPr lang="en-GB" altLang="en-US" sz="2000" dirty="0"/>
              <a:t>flags - we can specify flags that determine how subsequent sprites will be rendered. A common flag here is to say that our sprites are going to be rendered with alpha blending available D3DXSPRITE_ALPHABLEND. There are other flags available, please check the DirectX help for a full list.</a:t>
            </a:r>
          </a:p>
          <a:p>
            <a:pPr lvl="1">
              <a:lnSpc>
                <a:spcPct val="90000"/>
              </a:lnSpc>
            </a:pPr>
            <a:r>
              <a:rPr lang="en-GB" altLang="en-US" sz="2000" dirty="0"/>
              <a:t>Example:</a:t>
            </a:r>
          </a:p>
          <a:p>
            <a:pPr lvl="1">
              <a:lnSpc>
                <a:spcPct val="90000"/>
              </a:lnSpc>
              <a:buNone/>
            </a:pPr>
            <a:r>
              <a:rPr lang="en-GB" altLang="en-US" sz="2000" dirty="0">
                <a:latin typeface="Courier New" pitchFamily="49" charset="0"/>
              </a:rPr>
              <a:t>sprite-&gt;Begin(D3DXSPRITE_ALPHABLEND);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1442883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STEP 3: Drawing the texture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 dirty="0"/>
              <a:t>Draw(…)</a:t>
            </a:r>
          </a:p>
          <a:p>
            <a:pPr lvl="1">
              <a:lnSpc>
                <a:spcPct val="90000"/>
              </a:lnSpc>
              <a:buNone/>
            </a:pPr>
            <a:r>
              <a:rPr lang="en-GB" altLang="en-US" sz="1800" dirty="0">
                <a:latin typeface="Courier New" pitchFamily="49" charset="0"/>
              </a:rPr>
              <a:t>	HRESULT Draw(LPDIRECT3DTEXTURE9 </a:t>
            </a:r>
            <a:r>
              <a:rPr lang="en-GB" altLang="en-US" sz="1800" dirty="0" err="1">
                <a:latin typeface="Courier New" pitchFamily="49" charset="0"/>
              </a:rPr>
              <a:t>pSrcTexture</a:t>
            </a:r>
            <a:r>
              <a:rPr lang="en-GB" altLang="en-US" sz="1800" dirty="0">
                <a:latin typeface="Courier New" pitchFamily="49" charset="0"/>
              </a:rPr>
              <a:t>, CONST RECT *</a:t>
            </a:r>
            <a:r>
              <a:rPr lang="en-GB" altLang="en-US" sz="1800" dirty="0" err="1">
                <a:latin typeface="Courier New" pitchFamily="49" charset="0"/>
              </a:rPr>
              <a:t>pSrcRect</a:t>
            </a:r>
            <a:r>
              <a:rPr lang="en-GB" altLang="en-US" sz="1800" dirty="0">
                <a:latin typeface="Courier New" pitchFamily="49" charset="0"/>
              </a:rPr>
              <a:t>, D3DXVECTOR3 *</a:t>
            </a:r>
            <a:r>
              <a:rPr lang="en-GB" altLang="en-US" sz="1800" dirty="0" err="1">
                <a:latin typeface="Courier New" pitchFamily="49" charset="0"/>
              </a:rPr>
              <a:t>center</a:t>
            </a:r>
            <a:r>
              <a:rPr lang="en-GB" altLang="en-US" sz="1800" dirty="0">
                <a:latin typeface="Courier New" pitchFamily="49" charset="0"/>
              </a:rPr>
              <a:t>, CONST D3DVECTOR3 *</a:t>
            </a:r>
            <a:r>
              <a:rPr lang="en-GB" altLang="en-US" sz="1800" dirty="0" err="1">
                <a:latin typeface="Courier New" pitchFamily="49" charset="0"/>
              </a:rPr>
              <a:t>pTranslation</a:t>
            </a:r>
            <a:r>
              <a:rPr lang="en-GB" altLang="en-US" sz="1800" dirty="0">
                <a:latin typeface="Courier New" pitchFamily="49" charset="0"/>
              </a:rPr>
              <a:t>,  D3DCOLOR </a:t>
            </a:r>
            <a:r>
              <a:rPr lang="en-GB" altLang="en-US" sz="1800" dirty="0" err="1">
                <a:latin typeface="Courier New" pitchFamily="49" charset="0"/>
              </a:rPr>
              <a:t>Color</a:t>
            </a:r>
            <a:r>
              <a:rPr lang="en-GB" altLang="en-US" sz="1800" dirty="0">
                <a:latin typeface="Courier New" pitchFamily="49" charset="0"/>
              </a:rPr>
              <a:t> ); </a:t>
            </a:r>
          </a:p>
          <a:p>
            <a:pPr lvl="1">
              <a:lnSpc>
                <a:spcPct val="90000"/>
              </a:lnSpc>
            </a:pPr>
            <a:r>
              <a:rPr lang="en-GB" altLang="en-US" sz="2000" b="1" i="1" dirty="0" err="1"/>
              <a:t>pSrcTexture</a:t>
            </a:r>
            <a:r>
              <a:rPr lang="en-GB" altLang="en-US" sz="2000" dirty="0"/>
              <a:t> - a pointer to the texture to be used</a:t>
            </a:r>
          </a:p>
          <a:p>
            <a:pPr lvl="1">
              <a:lnSpc>
                <a:spcPct val="90000"/>
              </a:lnSpc>
            </a:pPr>
            <a:r>
              <a:rPr lang="en-GB" altLang="en-US" sz="2000" b="1" i="1" dirty="0" err="1"/>
              <a:t>pSrcRect</a:t>
            </a:r>
            <a:r>
              <a:rPr lang="en-GB" altLang="en-US" sz="2000" dirty="0"/>
              <a:t> - pointer to a rectangle defining the area of the texture to use or NULL for the whole texture</a:t>
            </a:r>
          </a:p>
          <a:p>
            <a:pPr lvl="1">
              <a:lnSpc>
                <a:spcPct val="90000"/>
              </a:lnSpc>
            </a:pPr>
            <a:r>
              <a:rPr lang="en-GB" altLang="en-US" sz="2000" b="1" i="1" dirty="0" err="1"/>
              <a:t>pCenter</a:t>
            </a:r>
            <a:r>
              <a:rPr lang="en-GB" altLang="en-US" sz="2000" b="1" i="1" dirty="0"/>
              <a:t>-</a:t>
            </a:r>
            <a:r>
              <a:rPr lang="en-GB" altLang="en-US" sz="2000" dirty="0"/>
              <a:t> pointer to a 3D vector specifying the position in the sprite around which it can be rotated or NULL for top left</a:t>
            </a:r>
          </a:p>
          <a:p>
            <a:pPr lvl="1">
              <a:lnSpc>
                <a:spcPct val="90000"/>
              </a:lnSpc>
            </a:pPr>
            <a:r>
              <a:rPr lang="en-GB" altLang="en-US" sz="2000" b="1" i="1" dirty="0" err="1"/>
              <a:t>pTranslation</a:t>
            </a:r>
            <a:r>
              <a:rPr lang="en-GB" altLang="en-US" sz="2000" dirty="0"/>
              <a:t> - pointer to a 3D vector defining the screen position of the sprite. </a:t>
            </a:r>
            <a:r>
              <a:rPr lang="en-GB" altLang="en-US" sz="2000" i="1" dirty="0"/>
              <a:t>Note: </a:t>
            </a:r>
            <a:r>
              <a:rPr lang="en-GB" altLang="en-US" sz="2000" dirty="0"/>
              <a:t>in Direct3D 0,0 is the top left of the screen.</a:t>
            </a:r>
          </a:p>
          <a:p>
            <a:pPr lvl="1">
              <a:lnSpc>
                <a:spcPct val="90000"/>
              </a:lnSpc>
            </a:pPr>
            <a:r>
              <a:rPr lang="en-GB" altLang="en-US" sz="2000" b="1" i="1" dirty="0" err="1"/>
              <a:t>Color</a:t>
            </a:r>
            <a:r>
              <a:rPr lang="en-GB" altLang="en-US" sz="2000" dirty="0"/>
              <a:t> - colour value that can be used to modulate the texture colours. A value of 0xFFFFFFFF maintains the colour from the texture. </a:t>
            </a:r>
            <a:r>
              <a:rPr lang="en-GB" altLang="en-US" sz="2000" i="1" dirty="0"/>
              <a:t>Note:</a:t>
            </a:r>
            <a:r>
              <a:rPr lang="en-GB" altLang="en-US" sz="2000" dirty="0"/>
              <a:t> you can use the D3DCOLOR_COLORVALUE macro to create a D3DCOLOR from RGB values.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16697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STEP 3: Drawing the texture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</a:pPr>
            <a:r>
              <a:rPr lang="en-GB" altLang="en-US" dirty="0"/>
              <a:t>Example:</a:t>
            </a:r>
            <a:endParaRPr lang="en-GB" altLang="en-US" dirty="0">
              <a:latin typeface="Courier New" pitchFamily="49" charset="0"/>
            </a:endParaRPr>
          </a:p>
          <a:p>
            <a:pPr lvl="1">
              <a:buNone/>
            </a:pPr>
            <a:r>
              <a:rPr lang="en-GB" altLang="en-US" sz="1600" dirty="0">
                <a:latin typeface="Courier New" pitchFamily="49" charset="0"/>
              </a:rPr>
              <a:t>// begin the scene</a:t>
            </a:r>
          </a:p>
          <a:p>
            <a:pPr lvl="1">
              <a:buNone/>
            </a:pPr>
            <a:r>
              <a:rPr lang="en-GB" altLang="en-US" sz="1600" dirty="0">
                <a:latin typeface="Courier New" pitchFamily="49" charset="0"/>
              </a:rPr>
              <a:t>  	// begin sprite drawing</a:t>
            </a:r>
            <a:r>
              <a:rPr lang="en-GB" altLang="en-US" dirty="0"/>
              <a:t> </a:t>
            </a:r>
            <a:br>
              <a:rPr lang="en-GB" altLang="en-US" dirty="0"/>
            </a:br>
            <a:r>
              <a:rPr lang="en-GB" altLang="en-US" sz="1600" dirty="0">
                <a:latin typeface="Courier New" pitchFamily="49" charset="0"/>
              </a:rPr>
              <a:t>sprite-&gt;Begin(NULL);    </a:t>
            </a:r>
            <a:br>
              <a:rPr lang="en-GB" altLang="en-US" sz="1600" dirty="0">
                <a:latin typeface="Courier New" pitchFamily="49" charset="0"/>
              </a:rPr>
            </a:br>
            <a:br>
              <a:rPr lang="en-GB" altLang="en-US" sz="1600" dirty="0">
                <a:latin typeface="Courier New" pitchFamily="49" charset="0"/>
              </a:rPr>
            </a:br>
            <a:r>
              <a:rPr lang="en-GB" altLang="en-US" sz="1600" dirty="0">
                <a:latin typeface="Courier New" pitchFamily="49" charset="0"/>
              </a:rPr>
              <a:t>// </a:t>
            </a:r>
            <a:r>
              <a:rPr lang="en-GB" altLang="en-US" sz="1600" dirty="0" err="1">
                <a:latin typeface="Courier New" pitchFamily="49" charset="0"/>
              </a:rPr>
              <a:t>center</a:t>
            </a:r>
            <a:r>
              <a:rPr lang="en-GB" altLang="en-US" sz="1600" dirty="0">
                <a:latin typeface="Courier New" pitchFamily="49" charset="0"/>
              </a:rPr>
              <a:t> at the upper-left corner </a:t>
            </a:r>
            <a:br>
              <a:rPr lang="en-GB" altLang="en-US" sz="1600" dirty="0">
                <a:latin typeface="Courier New" pitchFamily="49" charset="0"/>
              </a:rPr>
            </a:br>
            <a:r>
              <a:rPr lang="en-GB" altLang="en-US" sz="1600" dirty="0">
                <a:latin typeface="Courier New" pitchFamily="49" charset="0"/>
              </a:rPr>
              <a:t>D3DXVECTOR3 </a:t>
            </a:r>
            <a:r>
              <a:rPr lang="en-GB" altLang="en-US" sz="1600" dirty="0" err="1">
                <a:latin typeface="Courier New" pitchFamily="49" charset="0"/>
              </a:rPr>
              <a:t>center</a:t>
            </a:r>
            <a:r>
              <a:rPr lang="en-GB" altLang="en-US" sz="1600" dirty="0">
                <a:latin typeface="Courier New" pitchFamily="49" charset="0"/>
              </a:rPr>
              <a:t>(0.0f, 0.0f, 0.0f);    </a:t>
            </a:r>
            <a:br>
              <a:rPr lang="en-GB" altLang="en-US" sz="1600" dirty="0">
                <a:latin typeface="Courier New" pitchFamily="49" charset="0"/>
              </a:rPr>
            </a:br>
            <a:r>
              <a:rPr lang="en-GB" altLang="en-US" sz="1600" dirty="0">
                <a:latin typeface="Courier New" pitchFamily="49" charset="0"/>
              </a:rPr>
              <a:t>// position at 50, 50 with no depth </a:t>
            </a:r>
            <a:br>
              <a:rPr lang="en-GB" altLang="en-US" sz="1600" dirty="0">
                <a:latin typeface="Courier New" pitchFamily="49" charset="0"/>
              </a:rPr>
            </a:br>
            <a:r>
              <a:rPr lang="en-GB" altLang="en-US" sz="1600" dirty="0">
                <a:latin typeface="Courier New" pitchFamily="49" charset="0"/>
              </a:rPr>
              <a:t>D3DXVECTOR3 position(50.0f, 50.0f, 0.0f);    </a:t>
            </a:r>
            <a:br>
              <a:rPr lang="en-GB" altLang="en-US" sz="1600" dirty="0">
                <a:latin typeface="Courier New" pitchFamily="49" charset="0"/>
              </a:rPr>
            </a:br>
            <a:br>
              <a:rPr lang="en-GB" altLang="en-US" sz="1600" dirty="0">
                <a:latin typeface="Courier New" pitchFamily="49" charset="0"/>
              </a:rPr>
            </a:br>
            <a:r>
              <a:rPr lang="en-GB" altLang="en-US" sz="1600" dirty="0">
                <a:latin typeface="Courier New" pitchFamily="49" charset="0"/>
              </a:rPr>
              <a:t>// draw it! </a:t>
            </a:r>
            <a:br>
              <a:rPr lang="en-GB" altLang="en-US" sz="1600" dirty="0">
                <a:latin typeface="Courier New" pitchFamily="49" charset="0"/>
              </a:rPr>
            </a:br>
            <a:r>
              <a:rPr lang="en-GB" altLang="en-US" sz="1600" dirty="0">
                <a:latin typeface="Courier New" pitchFamily="49" charset="0"/>
              </a:rPr>
              <a:t>sprite-&gt;Draw(texture, NULL, &amp;</a:t>
            </a:r>
            <a:r>
              <a:rPr lang="en-GB" altLang="en-US" sz="1600" dirty="0" err="1">
                <a:latin typeface="Courier New" pitchFamily="49" charset="0"/>
              </a:rPr>
              <a:t>center</a:t>
            </a:r>
            <a:r>
              <a:rPr lang="en-GB" altLang="en-US" sz="1600" dirty="0">
                <a:latin typeface="Courier New" pitchFamily="49" charset="0"/>
              </a:rPr>
              <a:t>, &amp;position, D3DCOLOR_XRGB(255, 255, 255));  </a:t>
            </a:r>
            <a:br>
              <a:rPr lang="en-GB" altLang="en-US" sz="1600" dirty="0">
                <a:latin typeface="Courier New" pitchFamily="49" charset="0"/>
              </a:rPr>
            </a:br>
            <a:br>
              <a:rPr lang="en-GB" altLang="en-US" sz="1600" dirty="0">
                <a:latin typeface="Courier New" pitchFamily="49" charset="0"/>
              </a:rPr>
            </a:br>
            <a:r>
              <a:rPr lang="en-GB" altLang="en-US" sz="1600" dirty="0">
                <a:latin typeface="Courier New" pitchFamily="49" charset="0"/>
              </a:rPr>
              <a:t>// end sprite drawing </a:t>
            </a:r>
            <a:br>
              <a:rPr lang="en-GB" altLang="en-US" sz="1600" dirty="0">
                <a:latin typeface="Courier New" pitchFamily="49" charset="0"/>
              </a:rPr>
            </a:br>
            <a:r>
              <a:rPr lang="en-GB" altLang="en-US" sz="1600" dirty="0">
                <a:latin typeface="Courier New" pitchFamily="49" charset="0"/>
              </a:rPr>
              <a:t>sprite-&gt;End(); </a:t>
            </a:r>
          </a:p>
          <a:p>
            <a:pPr lvl="1">
              <a:buNone/>
            </a:pPr>
            <a:r>
              <a:rPr lang="en-GB" altLang="en-US" sz="1600" dirty="0">
                <a:latin typeface="Courier New" pitchFamily="49" charset="0"/>
              </a:rPr>
              <a:t> </a:t>
            </a:r>
          </a:p>
          <a:p>
            <a:pPr lvl="1">
              <a:buNone/>
            </a:pPr>
            <a:r>
              <a:rPr lang="en-GB" altLang="en-US" sz="1600" dirty="0">
                <a:latin typeface="Courier New" pitchFamily="49" charset="0"/>
              </a:rPr>
              <a:t>//end the scene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174806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STEP 3: Drawing the texture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may also want to specify rotation, scaling </a:t>
            </a:r>
            <a:r>
              <a:rPr lang="en-US" dirty="0" err="1"/>
              <a:t>etc</a:t>
            </a:r>
            <a:r>
              <a:rPr lang="en-US" dirty="0"/>
              <a:t> by using the </a:t>
            </a:r>
            <a:r>
              <a:rPr lang="en-US" dirty="0">
                <a:hlinkClick r:id="rId2"/>
              </a:rPr>
              <a:t>SetTransform</a:t>
            </a:r>
            <a:r>
              <a:rPr lang="en-US" dirty="0"/>
              <a:t> method. </a:t>
            </a:r>
          </a:p>
          <a:p>
            <a:r>
              <a:rPr lang="en-US" dirty="0"/>
              <a:t>This method requires a transformation matrix to be prepared before hand as a transformation parameter.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5396711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STEP 3: Drawing the texture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sz="1200" dirty="0"/>
              <a:t>Code Snippet: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sprite-&gt;Begin(D3DXSPRITE_ALPHABLEND);</a:t>
            </a:r>
          </a:p>
          <a:p>
            <a:pPr lvl="1">
              <a:lnSpc>
                <a:spcPct val="80000"/>
              </a:lnSpc>
              <a:buNone/>
              <a:defRPr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// Texture being used is 64 by 64: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D3DXVECTOR2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spriteCentre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=D3DXVECTOR2(32.0f,32.0f);</a:t>
            </a:r>
          </a:p>
          <a:p>
            <a:pPr lvl="1">
              <a:lnSpc>
                <a:spcPct val="80000"/>
              </a:lnSpc>
              <a:buNone/>
              <a:defRPr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// Screen position of the sprite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D3DXVECTOR2 trans=D3DXVECTOR2(50.0f,80.0f);</a:t>
            </a:r>
          </a:p>
          <a:p>
            <a:pPr lvl="1">
              <a:lnSpc>
                <a:spcPct val="80000"/>
              </a:lnSpc>
              <a:buNone/>
              <a:defRPr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// Rotate based on the time passed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float rotation=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timeGetTime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()/500.0f;</a:t>
            </a:r>
          </a:p>
          <a:p>
            <a:pPr lvl="1">
              <a:lnSpc>
                <a:spcPct val="80000"/>
              </a:lnSpc>
              <a:buNone/>
              <a:defRPr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// Build our matrix to rotate, scale and position our sprite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D3DXMATRIX mat;</a:t>
            </a:r>
          </a:p>
          <a:p>
            <a:pPr lvl="1">
              <a:lnSpc>
                <a:spcPct val="80000"/>
              </a:lnSpc>
              <a:buNone/>
              <a:defRPr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D3DXVECTOR2 scaling(2.0f,2.0f);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// out, scaling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centre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scaling rotation, scaling, rotation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centre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rotation, translation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D3DXMatrixTransformation2D(&amp;mat,NULL,0.0,&amp;scaling,&amp;spriteCentre,rotation,&amp;trans);</a:t>
            </a:r>
          </a:p>
          <a:p>
            <a:pPr lvl="1">
              <a:lnSpc>
                <a:spcPct val="80000"/>
              </a:lnSpc>
              <a:buNone/>
              <a:defRPr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// Tell the sprite about the matrix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sprite-&gt;SetTransform(&amp;mat);</a:t>
            </a:r>
          </a:p>
          <a:p>
            <a:pPr lvl="1">
              <a:lnSpc>
                <a:spcPct val="80000"/>
              </a:lnSpc>
              <a:buNone/>
              <a:defRPr/>
            </a:pP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// Draw the sprite 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sprite-&gt;Draw(texture,NULL,NULL,NULL,0xFFFFFFFF));</a:t>
            </a:r>
          </a:p>
          <a:p>
            <a:pPr lvl="1">
              <a:lnSpc>
                <a:spcPct val="80000"/>
              </a:lnSpc>
              <a:buNone/>
              <a:defRPr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Thats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it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sprite-&gt;End();</a:t>
            </a:r>
          </a:p>
          <a:p>
            <a:pPr>
              <a:lnSpc>
                <a:spcPct val="80000"/>
              </a:lnSpc>
              <a:buNone/>
              <a:defRPr/>
            </a:pPr>
            <a:endParaRPr lang="en-US" sz="1200" dirty="0"/>
          </a:p>
          <a:p>
            <a:endParaRPr lang="en-MY" dirty="0"/>
          </a:p>
        </p:txBody>
      </p:sp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5715000" y="5013176"/>
            <a:ext cx="33718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No longer need to set the position</a:t>
            </a:r>
            <a:br>
              <a:rPr lang="en-US" altLang="en-US">
                <a:latin typeface="Calibri" pitchFamily="34" charset="0"/>
              </a:rPr>
            </a:br>
            <a:r>
              <a:rPr lang="en-US" altLang="en-US">
                <a:latin typeface="Calibri" pitchFamily="34" charset="0"/>
              </a:rPr>
              <a:t>since it is set using the </a:t>
            </a:r>
            <a:br>
              <a:rPr lang="en-US" altLang="en-US">
                <a:latin typeface="Calibri" pitchFamily="34" charset="0"/>
              </a:rPr>
            </a:br>
            <a:r>
              <a:rPr lang="en-US" altLang="en-US">
                <a:latin typeface="Calibri" pitchFamily="34" charset="0"/>
              </a:rPr>
              <a:t>sprite-&gt;setTransform() method.</a:t>
            </a:r>
          </a:p>
        </p:txBody>
      </p:sp>
      <p:sp>
        <p:nvSpPr>
          <p:cNvPr id="5" name="Line 6"/>
          <p:cNvSpPr>
            <a:spLocks noChangeShapeType="1"/>
          </p:cNvSpPr>
          <p:nvPr/>
        </p:nvSpPr>
        <p:spPr bwMode="auto">
          <a:xfrm flipH="1">
            <a:off x="3635895" y="5165576"/>
            <a:ext cx="2048941" cy="4956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534863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STEP 3: Drawing the texture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</a:pPr>
            <a:r>
              <a:rPr lang="en-US" altLang="en-US" sz="2200" b="1" dirty="0">
                <a:latin typeface="Courier New" pitchFamily="49" charset="0"/>
                <a:cs typeface="Courier New" pitchFamily="49" charset="0"/>
              </a:rPr>
              <a:t>D3DXMatrixTransformation2D(</a:t>
            </a:r>
          </a:p>
          <a:p>
            <a:pPr lvl="1">
              <a:buNone/>
            </a:pPr>
            <a:r>
              <a:rPr lang="en-US" altLang="en-US" sz="2200" b="1" dirty="0">
                <a:latin typeface="Courier New" pitchFamily="49" charset="0"/>
                <a:cs typeface="Courier New" pitchFamily="49" charset="0"/>
              </a:rPr>
              <a:t>&amp;mat, 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//D3DXMatrix Structure</a:t>
            </a:r>
          </a:p>
          <a:p>
            <a:pPr lvl="1">
              <a:buNone/>
            </a:pPr>
            <a:r>
              <a:rPr lang="en-US" altLang="en-US" sz="2200" b="1" dirty="0">
                <a:latin typeface="Courier New" pitchFamily="49" charset="0"/>
                <a:cs typeface="Courier New" pitchFamily="49" charset="0"/>
              </a:rPr>
              <a:t>NULL, 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//Center point for scaling</a:t>
            </a:r>
          </a:p>
          <a:p>
            <a:pPr lvl="1">
              <a:buNone/>
            </a:pPr>
            <a:r>
              <a:rPr lang="en-US" altLang="en-US" sz="2200" b="1" dirty="0">
                <a:latin typeface="Courier New" pitchFamily="49" charset="0"/>
                <a:cs typeface="Courier New" pitchFamily="49" charset="0"/>
              </a:rPr>
              <a:t>0.0, 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//Scaling rotation factor</a:t>
            </a:r>
          </a:p>
          <a:p>
            <a:pPr lvl="1">
              <a:buNone/>
            </a:pPr>
            <a:r>
              <a:rPr lang="en-US" altLang="en-US" sz="2200" b="1" dirty="0">
                <a:latin typeface="Courier New" pitchFamily="49" charset="0"/>
                <a:cs typeface="Courier New" pitchFamily="49" charset="0"/>
              </a:rPr>
              <a:t>&amp;scaling, 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//Scaling on x and y axis</a:t>
            </a:r>
          </a:p>
          <a:p>
            <a:pPr lvl="1">
              <a:buNone/>
            </a:pPr>
            <a:r>
              <a:rPr lang="en-US" altLang="en-US" sz="2200" b="1" dirty="0"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altLang="en-US" sz="2200" b="1" dirty="0" err="1">
                <a:latin typeface="Courier New" pitchFamily="49" charset="0"/>
                <a:cs typeface="Courier New" pitchFamily="49" charset="0"/>
              </a:rPr>
              <a:t>spriteCentre</a:t>
            </a:r>
            <a:r>
              <a:rPr lang="en-US" altLang="en-US" sz="2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// Center for sprite rotation</a:t>
            </a:r>
          </a:p>
          <a:p>
            <a:pPr lvl="1">
              <a:buNone/>
            </a:pPr>
            <a:r>
              <a:rPr lang="en-US" altLang="en-US" sz="2200" b="1" dirty="0">
                <a:latin typeface="Courier New" pitchFamily="49" charset="0"/>
                <a:cs typeface="Courier New" pitchFamily="49" charset="0"/>
              </a:rPr>
              <a:t>rotation, 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// Rotation value for sprite</a:t>
            </a:r>
          </a:p>
          <a:p>
            <a:pPr lvl="1">
              <a:buNone/>
            </a:pPr>
            <a:r>
              <a:rPr lang="en-US" altLang="en-US" sz="2200" b="1" dirty="0">
                <a:latin typeface="Courier New" pitchFamily="49" charset="0"/>
                <a:cs typeface="Courier New" pitchFamily="49" charset="0"/>
              </a:rPr>
              <a:t>&amp;trans); </a:t>
            </a:r>
            <a:r>
              <a:rPr lang="en-US" altLang="en-US" sz="2200" dirty="0">
                <a:latin typeface="Courier New" pitchFamily="49" charset="0"/>
                <a:cs typeface="Courier New" pitchFamily="49" charset="0"/>
              </a:rPr>
              <a:t>// Translation value for sprite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5226820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STEP 3: Drawing the texture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Center point for scaling</a:t>
            </a:r>
            <a:endParaRPr lang="en-MY" dirty="0"/>
          </a:p>
        </p:txBody>
      </p:sp>
      <p:sp>
        <p:nvSpPr>
          <p:cNvPr id="4" name="Rectangle 3"/>
          <p:cNvSpPr/>
          <p:nvPr/>
        </p:nvSpPr>
        <p:spPr>
          <a:xfrm>
            <a:off x="838200" y="2209800"/>
            <a:ext cx="2819400" cy="2743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876800" y="2209800"/>
            <a:ext cx="2819400" cy="2743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905000" y="3200400"/>
            <a:ext cx="627063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TextBox 14"/>
          <p:cNvSpPr txBox="1">
            <a:spLocks noChangeArrowheads="1"/>
          </p:cNvSpPr>
          <p:nvPr/>
        </p:nvSpPr>
        <p:spPr bwMode="auto">
          <a:xfrm>
            <a:off x="2071688" y="3306763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+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rot="10800000">
            <a:off x="914400" y="2286000"/>
            <a:ext cx="9906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514600" y="2286000"/>
            <a:ext cx="10668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6200000" flipH="1">
            <a:off x="2514600" y="3810000"/>
            <a:ext cx="106680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>
            <a:off x="876300" y="3848100"/>
            <a:ext cx="10668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935538" y="2286000"/>
            <a:ext cx="627062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TextBox 27"/>
          <p:cNvSpPr txBox="1">
            <a:spLocks noChangeArrowheads="1"/>
          </p:cNvSpPr>
          <p:nvPr/>
        </p:nvSpPr>
        <p:spPr bwMode="auto">
          <a:xfrm>
            <a:off x="4804570" y="2102644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dirty="0">
                <a:latin typeface="Calibri" pitchFamily="34" charset="0"/>
              </a:rPr>
              <a:t>+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5562600" y="2286000"/>
            <a:ext cx="2133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5562600" y="2819400"/>
            <a:ext cx="2057400" cy="2057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5400000">
            <a:off x="3924301" y="3924300"/>
            <a:ext cx="2057400" cy="3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34"/>
          <p:cNvSpPr txBox="1">
            <a:spLocks noChangeArrowheads="1"/>
          </p:cNvSpPr>
          <p:nvPr/>
        </p:nvSpPr>
        <p:spPr bwMode="auto">
          <a:xfrm>
            <a:off x="762000" y="5257800"/>
            <a:ext cx="5403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Notice how the square scale to big in different direction</a:t>
            </a:r>
          </a:p>
        </p:txBody>
      </p:sp>
    </p:spTree>
    <p:extLst>
      <p:ext uri="{BB962C8B-B14F-4D97-AF65-F5344CB8AC3E}">
        <p14:creationId xmlns:p14="http://schemas.microsoft.com/office/powerpoint/2010/main" val="33419748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STEP 3: Drawing the texture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Center point for rotation</a:t>
            </a:r>
            <a:endParaRPr lang="en-MY" dirty="0"/>
          </a:p>
        </p:txBody>
      </p:sp>
      <p:sp>
        <p:nvSpPr>
          <p:cNvPr id="4" name="Rectangle 3"/>
          <p:cNvSpPr/>
          <p:nvPr/>
        </p:nvSpPr>
        <p:spPr>
          <a:xfrm>
            <a:off x="5045075" y="2268538"/>
            <a:ext cx="2819400" cy="2743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 rot="5946258">
            <a:off x="4784725" y="2524125"/>
            <a:ext cx="2819400" cy="2743200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2209800"/>
            <a:ext cx="2819400" cy="2743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 rot="2946157">
            <a:off x="838200" y="2209800"/>
            <a:ext cx="2819400" cy="2743200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2071688" y="3306763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+</a:t>
            </a:r>
          </a:p>
        </p:txBody>
      </p:sp>
      <p:sp>
        <p:nvSpPr>
          <p:cNvPr id="9" name="Circular Arrow 8"/>
          <p:cNvSpPr/>
          <p:nvPr/>
        </p:nvSpPr>
        <p:spPr>
          <a:xfrm rot="4615624">
            <a:off x="3389313" y="2311400"/>
            <a:ext cx="1219200" cy="104457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13"/>
          <p:cNvSpPr txBox="1">
            <a:spLocks noChangeArrowheads="1"/>
          </p:cNvSpPr>
          <p:nvPr/>
        </p:nvSpPr>
        <p:spPr bwMode="auto">
          <a:xfrm>
            <a:off x="4922838" y="2103438"/>
            <a:ext cx="300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+</a:t>
            </a:r>
          </a:p>
        </p:txBody>
      </p:sp>
      <p:sp>
        <p:nvSpPr>
          <p:cNvPr id="11" name="Circular Arrow 10"/>
          <p:cNvSpPr/>
          <p:nvPr/>
        </p:nvSpPr>
        <p:spPr>
          <a:xfrm rot="8497029">
            <a:off x="7126288" y="4837113"/>
            <a:ext cx="1219200" cy="104457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20"/>
          <p:cNvSpPr txBox="1">
            <a:spLocks noChangeArrowheads="1"/>
          </p:cNvSpPr>
          <p:nvPr/>
        </p:nvSpPr>
        <p:spPr bwMode="auto">
          <a:xfrm>
            <a:off x="762000" y="5867400"/>
            <a:ext cx="7131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latin typeface="Calibri" pitchFamily="34" charset="0"/>
              </a:rPr>
              <a:t>Notice how the square positioning affected by the center point of rotation</a:t>
            </a:r>
          </a:p>
        </p:txBody>
      </p:sp>
    </p:spTree>
    <p:extLst>
      <p:ext uri="{BB962C8B-B14F-4D97-AF65-F5344CB8AC3E}">
        <p14:creationId xmlns:p14="http://schemas.microsoft.com/office/powerpoint/2010/main" val="36858174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STEP 3: Drawing the texture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You will want to draw everything in the draw block, as it will improve efficiency. Try to maintain only one sprite begin and end block.</a:t>
            </a:r>
          </a:p>
          <a:p>
            <a:r>
              <a:rPr lang="en-US" sz="2400" dirty="0"/>
              <a:t>Final order to draw using D3DXSprite object:</a:t>
            </a:r>
          </a:p>
          <a:p>
            <a:pPr lvl="1"/>
            <a:r>
              <a:rPr lang="en-US" sz="2000" dirty="0"/>
              <a:t>Create necessary objects</a:t>
            </a:r>
          </a:p>
          <a:p>
            <a:pPr lvl="1"/>
            <a:r>
              <a:rPr lang="en-US" sz="2000" dirty="0"/>
              <a:t>In the loop:</a:t>
            </a:r>
          </a:p>
          <a:p>
            <a:pPr lvl="2"/>
            <a:r>
              <a:rPr lang="en-US" sz="1800" dirty="0"/>
              <a:t>Clear buffer</a:t>
            </a:r>
          </a:p>
          <a:p>
            <a:pPr lvl="2"/>
            <a:r>
              <a:rPr lang="en-US" sz="1800" dirty="0"/>
              <a:t>Device begin scene</a:t>
            </a:r>
          </a:p>
          <a:p>
            <a:pPr lvl="2"/>
            <a:r>
              <a:rPr lang="en-US" sz="1800" dirty="0"/>
              <a:t>Object begin draw</a:t>
            </a:r>
          </a:p>
          <a:p>
            <a:pPr lvl="2"/>
            <a:r>
              <a:rPr lang="en-US" sz="1800" dirty="0"/>
              <a:t>Specify transformations and draw</a:t>
            </a:r>
          </a:p>
          <a:p>
            <a:pPr lvl="2"/>
            <a:r>
              <a:rPr lang="en-US" sz="1800" dirty="0"/>
              <a:t>Object end draw</a:t>
            </a:r>
          </a:p>
          <a:p>
            <a:pPr lvl="2"/>
            <a:r>
              <a:rPr lang="en-US" sz="1800" dirty="0"/>
              <a:t>Device end scene</a:t>
            </a:r>
          </a:p>
          <a:p>
            <a:pPr lvl="2"/>
            <a:r>
              <a:rPr lang="en-US" sz="1800" dirty="0"/>
              <a:t>Present the buffer</a:t>
            </a:r>
          </a:p>
          <a:p>
            <a:pPr lvl="1"/>
            <a:r>
              <a:rPr lang="en-US" sz="2000" dirty="0"/>
              <a:t>Release all created objects</a:t>
            </a:r>
          </a:p>
          <a:p>
            <a:pPr lvl="1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1952367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Buffering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 we need double buffering?</a:t>
            </a:r>
          </a:p>
          <a:p>
            <a:pPr lvl="1"/>
            <a:r>
              <a:rPr lang="en-US" dirty="0"/>
              <a:t>Ensures there is a complete picture in memory ready to draw to the screen when it time for the monitor to refresh</a:t>
            </a:r>
          </a:p>
          <a:p>
            <a:pPr lvl="1"/>
            <a:r>
              <a:rPr lang="en-US" dirty="0"/>
              <a:t>If the picture is not complete when the monitor refreshes, screen tearing will occur</a:t>
            </a:r>
          </a:p>
          <a:p>
            <a:pPr lvl="1"/>
            <a:r>
              <a:rPr lang="en-US" dirty="0"/>
              <a:t>As long as the buffer has not been swapped, the monitor will draw what is in the primary/front buffer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7114830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Buffering</a:t>
            </a:r>
            <a:endParaRPr lang="en-MY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8760"/>
            <a:ext cx="6624736" cy="4981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91399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drawing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process of drawing lines in Direct3D9 is similar to drawing sprites.</a:t>
            </a:r>
          </a:p>
          <a:p>
            <a:r>
              <a:rPr lang="en-US" dirty="0"/>
              <a:t>The steps involved are: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Initialize the ID3DXLine interface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Prepare the device for drawing lines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Draw the lines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End the drawing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9329900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STEP1 : Initialize the ID3DXLine interface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may refer to the slide of initializing the sprite interface, as the general idea is the same</a:t>
            </a:r>
          </a:p>
          <a:p>
            <a:pPr lvl="1"/>
            <a:r>
              <a:rPr lang="en-US" dirty="0"/>
              <a:t>Create a pointer to the object</a:t>
            </a:r>
          </a:p>
          <a:p>
            <a:pPr lvl="1"/>
            <a:r>
              <a:rPr lang="en-US" dirty="0"/>
              <a:t>Create the line object</a:t>
            </a:r>
          </a:p>
          <a:p>
            <a:pPr lvl="1"/>
            <a:r>
              <a:rPr lang="en-US" dirty="0"/>
              <a:t>Test for failure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6640725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: Prepare a device 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section would be similar to “sprite-&gt;begin” of the sprite object in step 3 in the texture drawing section</a:t>
            </a:r>
          </a:p>
          <a:p>
            <a:r>
              <a:rPr lang="en-US" dirty="0"/>
              <a:t>This method should be used if more than one draw function will be called successively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640175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: Draw the lines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Similar to the draw call of the D3DXSprite object, except for the parameters</a:t>
            </a:r>
          </a:p>
          <a:p>
            <a:pPr marL="0" indent="0">
              <a:buNone/>
            </a:pPr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HRESULT Draw( [in]  </a:t>
            </a:r>
            <a:r>
              <a:rPr lang="en-MY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D3DXVECTOR2 	*</a:t>
            </a:r>
            <a:r>
              <a:rPr lang="en-MY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pVertexList</a:t>
            </a: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[in]  DWORD </a:t>
            </a:r>
            <a:r>
              <a:rPr lang="en-MY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dwVertexListCount</a:t>
            </a: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	[in]  D3DCOLOR </a:t>
            </a:r>
            <a:r>
              <a:rPr lang="en-MY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MY" i="1" dirty="0" err="1"/>
              <a:t>pVertexList</a:t>
            </a:r>
            <a:r>
              <a:rPr lang="en-MY" dirty="0"/>
              <a:t> [in]Type: </a:t>
            </a:r>
            <a:r>
              <a:rPr lang="en-MY" b="1" dirty="0" err="1"/>
              <a:t>const</a:t>
            </a:r>
            <a:r>
              <a:rPr lang="en-MY" b="1" dirty="0"/>
              <a:t> </a:t>
            </a:r>
            <a:r>
              <a:rPr lang="en-MY" b="1" dirty="0">
                <a:hlinkClick r:id="rId2"/>
              </a:rPr>
              <a:t>D3DXVECTOR2</a:t>
            </a:r>
            <a:r>
              <a:rPr lang="en-MY" b="1" dirty="0"/>
              <a:t>*</a:t>
            </a:r>
            <a:endParaRPr lang="en-MY" dirty="0"/>
          </a:p>
          <a:p>
            <a:pPr lvl="1"/>
            <a:r>
              <a:rPr lang="en-MY" sz="2000" dirty="0"/>
              <a:t>Array of vertices that make up the line. See </a:t>
            </a:r>
            <a:r>
              <a:rPr lang="en-MY" sz="2000" b="1" dirty="0">
                <a:hlinkClick r:id="rId2"/>
              </a:rPr>
              <a:t>D3DXVECTOR2</a:t>
            </a:r>
            <a:r>
              <a:rPr lang="en-MY" sz="2000" dirty="0"/>
              <a:t>.</a:t>
            </a:r>
          </a:p>
          <a:p>
            <a:r>
              <a:rPr lang="en-MY" i="1" dirty="0" err="1"/>
              <a:t>dwVertexListCount</a:t>
            </a:r>
            <a:r>
              <a:rPr lang="en-MY" dirty="0"/>
              <a:t> [in]Type: </a:t>
            </a:r>
            <a:r>
              <a:rPr lang="en-MY" b="1" dirty="0">
                <a:hlinkClick r:id="rId3"/>
              </a:rPr>
              <a:t>DWORD</a:t>
            </a:r>
            <a:endParaRPr lang="en-MY" dirty="0"/>
          </a:p>
          <a:p>
            <a:pPr lvl="1"/>
            <a:r>
              <a:rPr lang="en-MY" sz="2000" dirty="0"/>
              <a:t>Number of vertices in the vertex list.</a:t>
            </a:r>
          </a:p>
          <a:p>
            <a:r>
              <a:rPr lang="en-MY" i="1" dirty="0" err="1"/>
              <a:t>Color</a:t>
            </a:r>
            <a:r>
              <a:rPr lang="en-MY" dirty="0"/>
              <a:t> [in]Type: </a:t>
            </a:r>
            <a:r>
              <a:rPr lang="en-MY" b="1" dirty="0">
                <a:hlinkClick r:id="rId4"/>
              </a:rPr>
              <a:t>D3DCOLOR</a:t>
            </a:r>
            <a:endParaRPr lang="en-MY" dirty="0"/>
          </a:p>
          <a:p>
            <a:pPr lvl="1"/>
            <a:r>
              <a:rPr lang="en-MY" sz="2000" dirty="0" err="1"/>
              <a:t>Color</a:t>
            </a:r>
            <a:r>
              <a:rPr lang="en-MY" sz="2000" dirty="0"/>
              <a:t> of the line. See </a:t>
            </a:r>
            <a:r>
              <a:rPr lang="en-MY" sz="2000" b="1" dirty="0">
                <a:hlinkClick r:id="rId4"/>
              </a:rPr>
              <a:t>D3DCOLOR</a:t>
            </a:r>
            <a:r>
              <a:rPr lang="en-MY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678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End the drawing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the ending of the sprite object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2345548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Font/Text drawing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process of drawing fonts in Direct3D9 is similar to drawing sprites</a:t>
            </a:r>
          </a:p>
          <a:p>
            <a:r>
              <a:rPr lang="en-US" dirty="0"/>
              <a:t>A simple 2 step process: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hlinkClick r:id="rId2"/>
              </a:rPr>
              <a:t>Initialize the font interface</a:t>
            </a:r>
            <a:r>
              <a:rPr lang="en-US" dirty="0"/>
              <a:t> (Don’t forget the interface before the object)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hlinkClick r:id="rId3"/>
              </a:rPr>
              <a:t>Draw the text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464240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 : Initialize the font interface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 now you should be familiar with the steps and convolutions of the way DX creates its objects</a:t>
            </a:r>
          </a:p>
          <a:p>
            <a:r>
              <a:rPr lang="en-US" dirty="0"/>
              <a:t>Creating a font has many parameters:</a:t>
            </a:r>
          </a:p>
          <a:p>
            <a:pPr marL="800100" lvl="2" indent="0">
              <a:buNone/>
            </a:pP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HRESULT WINAPI D3DXCreateFont( </a:t>
            </a:r>
          </a:p>
          <a:p>
            <a:pPr marL="800100" lvl="2" indent="0">
              <a:buNone/>
            </a:pP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LPDIRECT3DDEVICE9 </a:t>
            </a:r>
            <a:r>
              <a:rPr lang="en-MY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pDevice</a:t>
            </a: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800100" lvl="2" indent="0">
              <a:buNone/>
            </a:pP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unsigned </a:t>
            </a:r>
            <a:r>
              <a:rPr lang="en-MY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Height, </a:t>
            </a:r>
          </a:p>
          <a:p>
            <a:pPr marL="800100" lvl="2" indent="0">
              <a:buNone/>
            </a:pP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unsigned </a:t>
            </a:r>
            <a:r>
              <a:rPr lang="en-MY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Width, </a:t>
            </a:r>
          </a:p>
          <a:p>
            <a:pPr marL="800100" lvl="2" indent="0">
              <a:buNone/>
            </a:pP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unsigned </a:t>
            </a:r>
            <a:r>
              <a:rPr lang="en-MY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Weight, </a:t>
            </a:r>
          </a:p>
          <a:p>
            <a:pPr marL="800100" lvl="2" indent="0">
              <a:buNone/>
            </a:pP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unsigned </a:t>
            </a:r>
            <a:r>
              <a:rPr lang="en-MY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MY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MipLevels</a:t>
            </a: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800100" lvl="2" indent="0">
              <a:buNone/>
            </a:pP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BOOL Italic, </a:t>
            </a:r>
          </a:p>
          <a:p>
            <a:pPr marL="800100" lvl="2" indent="0">
              <a:buNone/>
            </a:pP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DWORD </a:t>
            </a:r>
            <a:r>
              <a:rPr lang="en-MY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CharSet</a:t>
            </a: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800100" lvl="2" indent="0">
              <a:buNone/>
            </a:pP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DWORD </a:t>
            </a:r>
            <a:r>
              <a:rPr lang="en-MY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OutputPrecision</a:t>
            </a: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800100" lvl="2" indent="0">
              <a:buNone/>
            </a:pP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DWORD Quality, </a:t>
            </a:r>
          </a:p>
          <a:p>
            <a:pPr marL="800100" lvl="2" indent="0">
              <a:buNone/>
            </a:pP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DWORD </a:t>
            </a:r>
            <a:r>
              <a:rPr lang="en-MY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PitchAndFamily</a:t>
            </a: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800100" lvl="2" indent="0">
              <a:buNone/>
            </a:pP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LPCTSTR </a:t>
            </a:r>
            <a:r>
              <a:rPr lang="en-MY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pFacename</a:t>
            </a: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800100" lvl="2" indent="0">
              <a:buNone/>
            </a:pP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LPD3DXFONT *</a:t>
            </a:r>
            <a:r>
              <a:rPr lang="en-MY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ppFont</a:t>
            </a:r>
            <a:r>
              <a:rPr lang="en-MY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</p:txBody>
      </p:sp>
    </p:spTree>
    <p:extLst>
      <p:ext uri="{BB962C8B-B14F-4D97-AF65-F5344CB8AC3E}">
        <p14:creationId xmlns:p14="http://schemas.microsoft.com/office/powerpoint/2010/main" val="10567981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 : Initialize the font interface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MY" sz="2400" dirty="0" err="1"/>
              <a:t>pDevice</a:t>
            </a:r>
            <a:r>
              <a:rPr lang="en-MY" sz="2400" dirty="0"/>
              <a:t> - A pointer to your Direct3D device.</a:t>
            </a:r>
          </a:p>
          <a:p>
            <a:r>
              <a:rPr lang="en-MY" sz="2400" dirty="0"/>
              <a:t>Height - The height (in pixels) of the font you want to create.</a:t>
            </a:r>
          </a:p>
          <a:p>
            <a:r>
              <a:rPr lang="en-MY" sz="2400" dirty="0"/>
              <a:t>Width - The width (in pixels) of the font you want to create. Set this to 0 for default width based on the height you gave above.</a:t>
            </a:r>
          </a:p>
          <a:p>
            <a:r>
              <a:rPr lang="en-MY" sz="2400" dirty="0"/>
              <a:t>Weight - How thick the font is. Valid values range from 0-1,000. Common flags and their numeric values are:</a:t>
            </a:r>
          </a:p>
          <a:p>
            <a:pPr lvl="1"/>
            <a:r>
              <a:rPr lang="en-MY" sz="1400" dirty="0"/>
              <a:t>FW_THIN(100)</a:t>
            </a:r>
          </a:p>
          <a:p>
            <a:pPr lvl="1"/>
            <a:r>
              <a:rPr lang="en-MY" sz="1400" dirty="0"/>
              <a:t>FW_NORMAL(400)</a:t>
            </a:r>
          </a:p>
          <a:p>
            <a:pPr lvl="1"/>
            <a:r>
              <a:rPr lang="en-MY" sz="1400" dirty="0"/>
              <a:t>FW_BOLD(700)</a:t>
            </a:r>
          </a:p>
          <a:p>
            <a:pPr lvl="1"/>
            <a:r>
              <a:rPr lang="en-MY" sz="1400" dirty="0"/>
              <a:t>FW_HEAVY(900)</a:t>
            </a:r>
          </a:p>
        </p:txBody>
      </p:sp>
    </p:spTree>
    <p:extLst>
      <p:ext uri="{BB962C8B-B14F-4D97-AF65-F5344CB8AC3E}">
        <p14:creationId xmlns:p14="http://schemas.microsoft.com/office/powerpoint/2010/main" val="30947422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 : Initialize the font interface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MY" dirty="0" err="1"/>
              <a:t>MipLevels</a:t>
            </a:r>
            <a:r>
              <a:rPr lang="en-MY" dirty="0"/>
              <a:t> - Number of </a:t>
            </a:r>
            <a:r>
              <a:rPr lang="en-MY" dirty="0" err="1"/>
              <a:t>MipMaps</a:t>
            </a:r>
            <a:r>
              <a:rPr lang="en-MY" dirty="0"/>
              <a:t> to create. 0 creates a full chain. Used to show the font at different sizes more efficiently. Since we won't be scaling our text, we use 1 to save memory.</a:t>
            </a:r>
          </a:p>
          <a:p>
            <a:r>
              <a:rPr lang="en-MY" dirty="0"/>
              <a:t>Italic - True/False, do you want Italics?</a:t>
            </a:r>
          </a:p>
          <a:p>
            <a:r>
              <a:rPr lang="en-MY" dirty="0" err="1"/>
              <a:t>CharSet</a:t>
            </a:r>
            <a:r>
              <a:rPr lang="en-MY" dirty="0"/>
              <a:t> - Character Set. Used to specify international character sets (Arabic, Greek, </a:t>
            </a:r>
            <a:r>
              <a:rPr lang="en-MY" dirty="0" err="1"/>
              <a:t>etc</a:t>
            </a:r>
            <a:r>
              <a:rPr lang="en-MY" dirty="0"/>
              <a:t>), just set it to </a:t>
            </a:r>
            <a:r>
              <a:rPr lang="en-MY" dirty="0" err="1"/>
              <a:t>DEFAULT_CHARSET.OutputPrecisionHow</a:t>
            </a:r>
            <a:r>
              <a:rPr lang="en-MY" dirty="0"/>
              <a:t> precisely the output must match the font. You can probably just leave this as OUT_DEFAULT_PRECIS.</a:t>
            </a:r>
          </a:p>
          <a:p>
            <a:r>
              <a:rPr lang="en-MY" dirty="0"/>
              <a:t>Quality - Some possible values are: ANTIALIASED_QUALITY, DEFAULT_QUALITY, DRAFT_QUALITY, and PROOF_QUALITY.</a:t>
            </a:r>
          </a:p>
          <a:p>
            <a:r>
              <a:rPr lang="en-MY" dirty="0" err="1"/>
              <a:t>PitchAndFamily</a:t>
            </a:r>
            <a:r>
              <a:rPr lang="en-MY" dirty="0"/>
              <a:t> - You can safely set this to DEFAULT_PITCH|FF_DONTCARE.</a:t>
            </a:r>
          </a:p>
          <a:p>
            <a:r>
              <a:rPr lang="en-MY" dirty="0" err="1"/>
              <a:t>pFacename</a:t>
            </a:r>
            <a:r>
              <a:rPr lang="en-MY" dirty="0"/>
              <a:t> - The name of the font you want. You can set this to an empty string ("") and let it pick a font for you that matches the other parameters.</a:t>
            </a:r>
            <a:endParaRPr lang="en-MY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0051748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2: Draw the text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Drawing text is again similar to drawing sprites.</a:t>
            </a:r>
          </a:p>
          <a:p>
            <a:pPr marL="800100" lvl="2" indent="0">
              <a:buNone/>
            </a:pP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MY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DrawText</a:t>
            </a: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800100" lvl="2" indent="0">
              <a:buNone/>
            </a:pP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LPD3DXSPRITE </a:t>
            </a:r>
            <a:r>
              <a:rPr lang="en-MY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pSprite</a:t>
            </a: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800100" lvl="2" indent="0">
              <a:buNone/>
            </a:pP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LPCTSTR </a:t>
            </a:r>
            <a:r>
              <a:rPr lang="en-MY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pString</a:t>
            </a: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800100" lvl="2" indent="0">
              <a:buNone/>
            </a:pP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MY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Count,</a:t>
            </a:r>
          </a:p>
          <a:p>
            <a:pPr marL="800100" lvl="2" indent="0">
              <a:buNone/>
            </a:pP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LPRECT </a:t>
            </a:r>
            <a:r>
              <a:rPr lang="en-MY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pRect</a:t>
            </a: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800100" lvl="2" indent="0">
              <a:buNone/>
            </a:pP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DWORD Format,</a:t>
            </a:r>
          </a:p>
          <a:p>
            <a:pPr marL="800100" lvl="2" indent="0">
              <a:buNone/>
            </a:pP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D3DCOLOR </a:t>
            </a:r>
            <a:r>
              <a:rPr lang="en-MY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endParaRPr lang="en-MY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2" indent="0">
              <a:buNone/>
            </a:pPr>
            <a:r>
              <a:rPr lang="en-MY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187331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2: Draw the text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MY" dirty="0" err="1"/>
              <a:t>pSprite</a:t>
            </a:r>
            <a:r>
              <a:rPr lang="en-MY" dirty="0"/>
              <a:t> - A pointer to a ID3DXSprite interface. Used for advanced batching and optimization. Set it to NULL for now.</a:t>
            </a:r>
          </a:p>
          <a:p>
            <a:r>
              <a:rPr lang="en-MY" dirty="0" err="1"/>
              <a:t>pString</a:t>
            </a:r>
            <a:r>
              <a:rPr lang="en-MY" dirty="0"/>
              <a:t> - The string you want to render.</a:t>
            </a:r>
          </a:p>
          <a:p>
            <a:r>
              <a:rPr lang="en-MY" dirty="0"/>
              <a:t>Count - The number of characters you want to render. If you want to render the entire string, and the string is NULL terminated, you can just pass -1.</a:t>
            </a:r>
          </a:p>
          <a:p>
            <a:r>
              <a:rPr lang="en-MY" dirty="0" err="1"/>
              <a:t>pRect</a:t>
            </a:r>
            <a:r>
              <a:rPr lang="en-MY" dirty="0"/>
              <a:t> - Formatting and Clipping rectangle. Used to position and format your text.</a:t>
            </a:r>
          </a:p>
          <a:p>
            <a:r>
              <a:rPr lang="en-MY" dirty="0"/>
              <a:t>Format - Flags to specify text alignment, clipping and many other things.</a:t>
            </a:r>
          </a:p>
          <a:p>
            <a:r>
              <a:rPr lang="en-MY" dirty="0" err="1"/>
              <a:t>Color</a:t>
            </a:r>
            <a:r>
              <a:rPr lang="en-MY" dirty="0"/>
              <a:t> - Standard 32-bit ARGB colour. Note: The alpha channel is respected for transparency. If you set the alpha to 0 you will not see your text.</a:t>
            </a:r>
            <a:endParaRPr lang="en-MY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7456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remarks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also explore the </a:t>
            </a:r>
            <a:r>
              <a:rPr lang="en-US" dirty="0">
                <a:hlinkClick r:id="rId2"/>
              </a:rPr>
              <a:t>Programming Guide for Direct3D9</a:t>
            </a:r>
            <a:endParaRPr lang="en-US" dirty="0"/>
          </a:p>
          <a:p>
            <a:r>
              <a:rPr lang="en-US" dirty="0"/>
              <a:t>Look through your DirectX Graphics documentation and DirectX </a:t>
            </a:r>
            <a:r>
              <a:rPr lang="en-US" dirty="0" err="1"/>
              <a:t>Dcomuntation</a:t>
            </a:r>
            <a:r>
              <a:rPr lang="en-US" dirty="0"/>
              <a:t> for C++ found in start-&gt;All Programs -&gt; Microsoft DirectX SDK (June 2010)</a:t>
            </a:r>
          </a:p>
          <a:p>
            <a:r>
              <a:rPr lang="en-US" dirty="0"/>
              <a:t>You MUST master this area as you will continue to use it for the next </a:t>
            </a:r>
            <a:r>
              <a:rPr lang="en-US"/>
              <a:t>2 semesters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618171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tro">
      <a:dk1>
        <a:srgbClr val="FFFFFF"/>
      </a:dk1>
      <a:lt1>
        <a:srgbClr val="1F497D"/>
      </a:lt1>
      <a:dk2>
        <a:srgbClr val="FFFFFF"/>
      </a:dk2>
      <a:lt2>
        <a:srgbClr val="1F497D"/>
      </a:lt2>
      <a:accent1>
        <a:srgbClr val="E8402E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C6D9F0"/>
      </a:folHlink>
    </a:clrScheme>
    <a:fontScheme name="Metro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2014</TotalTime>
  <Words>3623</Words>
  <Application>Microsoft Office PowerPoint</Application>
  <PresentationFormat>On-screen Show (4:3)</PresentationFormat>
  <Paragraphs>481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Arial</vt:lpstr>
      <vt:lpstr>Calibri</vt:lpstr>
      <vt:lpstr>Courier New</vt:lpstr>
      <vt:lpstr>Segoe UI Light</vt:lpstr>
      <vt:lpstr>Office Theme</vt:lpstr>
      <vt:lpstr>LECTURE 3</vt:lpstr>
      <vt:lpstr>Super Quiz - DirectX</vt:lpstr>
      <vt:lpstr>Super Quiz – DirectX </vt:lpstr>
      <vt:lpstr>Super Quiz – DirectX </vt:lpstr>
      <vt:lpstr>Overview</vt:lpstr>
      <vt:lpstr>What is DirectX?</vt:lpstr>
      <vt:lpstr>What is DirectX? – JUNE 2010</vt:lpstr>
      <vt:lpstr>DirectX SDK –Windows SDK</vt:lpstr>
      <vt:lpstr>DirectX Architecture</vt:lpstr>
      <vt:lpstr>Setting up a DirectX Application</vt:lpstr>
      <vt:lpstr>Step 1: Direct3D Object &amp; Device Pointers</vt:lpstr>
      <vt:lpstr>STEP 2: Create the Direct3D object</vt:lpstr>
      <vt:lpstr>STEP 3: Create Direct3D Device</vt:lpstr>
      <vt:lpstr>STEP 3: Create Direct3D Device</vt:lpstr>
      <vt:lpstr>STEP 3: Create Direct3D Device</vt:lpstr>
      <vt:lpstr>STEP 3: Create Direct3D Device</vt:lpstr>
      <vt:lpstr>STEP 4: Draw to the device</vt:lpstr>
      <vt:lpstr>Program structure changes</vt:lpstr>
      <vt:lpstr>Sample Code update to WinMain</vt:lpstr>
      <vt:lpstr>Sample code for Cleaning Up</vt:lpstr>
      <vt:lpstr>Additional things to note</vt:lpstr>
      <vt:lpstr>Sprites</vt:lpstr>
      <vt:lpstr>Sprites</vt:lpstr>
      <vt:lpstr>Sprites - Surfaces</vt:lpstr>
      <vt:lpstr>Sprites – D3DXSprite Object</vt:lpstr>
      <vt:lpstr>STEP 1: Initializing the D3DXSprite Interface</vt:lpstr>
      <vt:lpstr>STEP 1: Initializing the D3DXSprite Interface</vt:lpstr>
      <vt:lpstr>STEP 2: Loading Texture</vt:lpstr>
      <vt:lpstr>STEP 2: Loading Texture</vt:lpstr>
      <vt:lpstr>STEP 3: Drawing the texture</vt:lpstr>
      <vt:lpstr>STEP 3: Drawing the texture</vt:lpstr>
      <vt:lpstr>STEP 3: Drawing the texture</vt:lpstr>
      <vt:lpstr>STEP 3: Drawing the texture</vt:lpstr>
      <vt:lpstr>STEP 3: Drawing the texture</vt:lpstr>
      <vt:lpstr>STEP 3: Drawing the texture</vt:lpstr>
      <vt:lpstr>STEP 3: Drawing the texture</vt:lpstr>
      <vt:lpstr>STEP 3: Drawing the texture</vt:lpstr>
      <vt:lpstr>STEP 3: Drawing the texture</vt:lpstr>
      <vt:lpstr>STEP 3: Drawing the texture</vt:lpstr>
      <vt:lpstr>Double Buffering</vt:lpstr>
      <vt:lpstr>Double Buffering</vt:lpstr>
      <vt:lpstr>Line drawing</vt:lpstr>
      <vt:lpstr>STEP1 : Initialize the ID3DXLine interface</vt:lpstr>
      <vt:lpstr>STEP 2 : Prepare a device </vt:lpstr>
      <vt:lpstr>STEP 3 : Draw the lines</vt:lpstr>
      <vt:lpstr>STEP 4: End the drawing</vt:lpstr>
      <vt:lpstr>Font/Text drawing</vt:lpstr>
      <vt:lpstr>STEP 1 : Initialize the font interface</vt:lpstr>
      <vt:lpstr>STEP 1 : Initialize the font interface</vt:lpstr>
      <vt:lpstr>STEP 1 : Initialize the font interface</vt:lpstr>
      <vt:lpstr>STEP 2: Draw the text</vt:lpstr>
      <vt:lpstr>STEP 2: Draw the text</vt:lpstr>
      <vt:lpstr>Closing remarks</vt:lpstr>
    </vt:vector>
  </TitlesOfParts>
  <Company>SAINT-GOBAIN 1.7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Alesandra Blakeston</dc:creator>
  <cp:lastModifiedBy>LIM YONG CHIEN</cp:lastModifiedBy>
  <cp:revision>41</cp:revision>
  <dcterms:created xsi:type="dcterms:W3CDTF">2013-06-03T12:57:42Z</dcterms:created>
  <dcterms:modified xsi:type="dcterms:W3CDTF">2022-07-28T05:52:49Z</dcterms:modified>
</cp:coreProperties>
</file>