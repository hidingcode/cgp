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88" r:id="rId5"/>
    <p:sldId id="289" r:id="rId6"/>
    <p:sldId id="290"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7" r:id="rId25"/>
    <p:sldId id="278" r:id="rId26"/>
    <p:sldId id="279" r:id="rId27"/>
    <p:sldId id="280" r:id="rId28"/>
    <p:sldId id="281" r:id="rId29"/>
    <p:sldId id="282" r:id="rId30"/>
    <p:sldId id="283" r:id="rId31"/>
    <p:sldId id="284" r:id="rId32"/>
    <p:sldId id="285" r:id="rId33"/>
    <p:sldId id="286" r:id="rId34"/>
    <p:sldId id="287"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F3C"/>
    <a:srgbClr val="0B3261"/>
    <a:srgbClr val="F58D01"/>
    <a:srgbClr val="464543"/>
    <a:srgbClr val="006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0" autoAdjust="0"/>
    <p:restoredTop sz="85679" autoAdjust="0"/>
  </p:normalViewPr>
  <p:slideViewPr>
    <p:cSldViewPr>
      <p:cViewPr varScale="1">
        <p:scale>
          <a:sx n="63" d="100"/>
          <a:sy n="63" d="100"/>
        </p:scale>
        <p:origin x="82" y="221"/>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83568" y="3212976"/>
            <a:ext cx="7776864" cy="1752600"/>
          </a:xfrm>
        </p:spPr>
        <p:txBody>
          <a:bodyPr>
            <a:normAutofit/>
          </a:bodyPr>
          <a:lstStyle>
            <a:lvl1pPr marL="0" indent="0" algn="l">
              <a:buNone/>
              <a:defRPr sz="2800">
                <a:solidFill>
                  <a:schemeClr val="tx1"/>
                </a:solidFill>
                <a:latin typeface="+mn-lt"/>
                <a:ea typeface="Segoe UI" pitchFamily="34" charset="0"/>
                <a:cs typeface="Segoe UI"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11" name="Subtitle 2"/>
          <p:cNvSpPr txBox="1">
            <a:spLocks/>
          </p:cNvSpPr>
          <p:nvPr userDrawn="1"/>
        </p:nvSpPr>
        <p:spPr>
          <a:xfrm>
            <a:off x="7668344" y="116632"/>
            <a:ext cx="1368152" cy="456456"/>
          </a:xfrm>
          <a:prstGeom prst="rect">
            <a:avLst/>
          </a:prstGeom>
        </p:spPr>
        <p:txBody>
          <a:bodyPr vert="horz" lIns="91440" tIns="45720" rIns="91440" bIns="45720" rtlCol="0">
            <a:noAutofit/>
          </a:bodyPr>
          <a:lstStyle>
            <a:lvl1pPr marL="0" indent="0" algn="l" defTabSz="914400" rtl="0" eaLnBrk="1" latinLnBrk="0" hangingPunct="1">
              <a:spcBef>
                <a:spcPct val="20000"/>
              </a:spcBef>
              <a:buFont typeface="Arial" pitchFamily="34" charset="0"/>
              <a:buNone/>
              <a:defRPr sz="2800" kern="1200">
                <a:solidFill>
                  <a:schemeClr val="tx1"/>
                </a:solidFill>
                <a:latin typeface="+mn-lt"/>
                <a:ea typeface="Segoe UI" pitchFamily="34" charset="0"/>
                <a:cs typeface="Segoe UI" pitchFamily="34" charset="0"/>
              </a:defRPr>
            </a:lvl1pPr>
            <a:lvl2pPr marL="4572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Segoe UI" pitchFamily="34" charset="0"/>
                <a:cs typeface="Segoe UI" pitchFamily="34" charset="0"/>
              </a:defRPr>
            </a:lvl2pPr>
            <a:lvl3pPr marL="914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Segoe UI" pitchFamily="34" charset="0"/>
                <a:cs typeface="Segoe UI" pitchFamily="34" charset="0"/>
              </a:defRPr>
            </a:lvl3pPr>
            <a:lvl4pPr marL="13716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Segoe UI" pitchFamily="34" charset="0"/>
                <a:cs typeface="Segoe UI" pitchFamily="34" charset="0"/>
              </a:defRPr>
            </a:lvl4pPr>
            <a:lvl5pPr marL="18288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Segoe UI" pitchFamily="34" charset="0"/>
                <a:cs typeface="Segoe UI"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r"/>
            <a:endParaRPr lang="en-GB" sz="1800" dirty="0"/>
          </a:p>
        </p:txBody>
      </p:sp>
      <p:sp>
        <p:nvSpPr>
          <p:cNvPr id="4" name="Title 3"/>
          <p:cNvSpPr>
            <a:spLocks noGrp="1"/>
          </p:cNvSpPr>
          <p:nvPr>
            <p:ph type="title"/>
          </p:nvPr>
        </p:nvSpPr>
        <p:spPr/>
        <p:txBody>
          <a:bodyPr/>
          <a:lstStyle/>
          <a:p>
            <a:r>
              <a:rPr lang="en-US"/>
              <a:t>Click to edit Master title style</a:t>
            </a:r>
            <a:endParaRPr lang="en-MY"/>
          </a:p>
        </p:txBody>
      </p:sp>
    </p:spTree>
    <p:extLst>
      <p:ext uri="{BB962C8B-B14F-4D97-AF65-F5344CB8AC3E}">
        <p14:creationId xmlns:p14="http://schemas.microsoft.com/office/powerpoint/2010/main" val="774822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Subtitle 2"/>
          <p:cNvSpPr txBox="1">
            <a:spLocks/>
          </p:cNvSpPr>
          <p:nvPr userDrawn="1"/>
        </p:nvSpPr>
        <p:spPr>
          <a:xfrm>
            <a:off x="4139952" y="6386920"/>
            <a:ext cx="1368152" cy="384448"/>
          </a:xfrm>
          <a:prstGeom prst="rect">
            <a:avLst/>
          </a:prstGeom>
        </p:spPr>
        <p:txBody>
          <a:bodyPr vert="horz" lIns="91440" tIns="45720" rIns="91440" bIns="45720" rtlCol="0">
            <a:noAutofit/>
          </a:bodyPr>
          <a:lstStyle>
            <a:lvl1pPr marL="0" indent="0" algn="l" defTabSz="914400" rtl="0" eaLnBrk="1" latinLnBrk="0" hangingPunct="1">
              <a:spcBef>
                <a:spcPct val="20000"/>
              </a:spcBef>
              <a:buFont typeface="Arial" pitchFamily="34" charset="0"/>
              <a:buNone/>
              <a:defRPr sz="2800" kern="1200">
                <a:solidFill>
                  <a:schemeClr val="tx1"/>
                </a:solidFill>
                <a:latin typeface="+mn-lt"/>
                <a:ea typeface="Segoe UI" pitchFamily="34" charset="0"/>
                <a:cs typeface="Segoe UI" pitchFamily="34" charset="0"/>
              </a:defRPr>
            </a:lvl1pPr>
            <a:lvl2pPr marL="4572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Segoe UI" pitchFamily="34" charset="0"/>
                <a:cs typeface="Segoe UI" pitchFamily="34" charset="0"/>
              </a:defRPr>
            </a:lvl2pPr>
            <a:lvl3pPr marL="914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Segoe UI" pitchFamily="34" charset="0"/>
                <a:cs typeface="Segoe UI" pitchFamily="34" charset="0"/>
              </a:defRPr>
            </a:lvl3pPr>
            <a:lvl4pPr marL="13716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Segoe UI" pitchFamily="34" charset="0"/>
                <a:cs typeface="Segoe UI" pitchFamily="34" charset="0"/>
              </a:defRPr>
            </a:lvl4pPr>
            <a:lvl5pPr marL="18288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Segoe UI" pitchFamily="34" charset="0"/>
                <a:cs typeface="Segoe UI"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ctr"/>
            <a:endParaRPr lang="en-GB" sz="1800" dirty="0"/>
          </a:p>
        </p:txBody>
      </p:sp>
    </p:spTree>
    <p:extLst>
      <p:ext uri="{BB962C8B-B14F-4D97-AF65-F5344CB8AC3E}">
        <p14:creationId xmlns:p14="http://schemas.microsoft.com/office/powerpoint/2010/main" val="34278688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106"/>
          </a:xfrm>
          <a:solidFill>
            <a:schemeClr val="accent1"/>
          </a:solidFill>
        </p:spPr>
        <p:txBody>
          <a:bodyPr/>
          <a:lstStyle>
            <a:lvl1pPr>
              <a:defRPr>
                <a:solidFill>
                  <a:schemeClr val="tx1"/>
                </a:solidFill>
              </a:defRPr>
            </a:lvl1pPr>
          </a:lstStyle>
          <a:p>
            <a:r>
              <a:rPr lang="en-US"/>
              <a:t>Click to edit Master title style</a:t>
            </a:r>
            <a:endParaRPr lang="en-GB"/>
          </a:p>
        </p:txBody>
      </p:sp>
      <p:sp>
        <p:nvSpPr>
          <p:cNvPr id="3" name="Content Placeholder 2"/>
          <p:cNvSpPr>
            <a:spLocks noGrp="1"/>
          </p:cNvSpPr>
          <p:nvPr>
            <p:ph idx="1"/>
          </p:nvPr>
        </p:nvSpPr>
        <p:spPr>
          <a:xfrm>
            <a:off x="457200" y="1268760"/>
            <a:ext cx="8229600" cy="532859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Subtitle 2"/>
          <p:cNvSpPr txBox="1">
            <a:spLocks/>
          </p:cNvSpPr>
          <p:nvPr userDrawn="1"/>
        </p:nvSpPr>
        <p:spPr>
          <a:xfrm>
            <a:off x="4139952" y="6386920"/>
            <a:ext cx="1368152" cy="384448"/>
          </a:xfrm>
          <a:prstGeom prst="rect">
            <a:avLst/>
          </a:prstGeom>
        </p:spPr>
        <p:txBody>
          <a:bodyPr vert="horz" lIns="91440" tIns="45720" rIns="91440" bIns="45720" rtlCol="0">
            <a:noAutofit/>
          </a:bodyPr>
          <a:lstStyle>
            <a:lvl1pPr marL="0" indent="0" algn="l" defTabSz="914400" rtl="0" eaLnBrk="1" latinLnBrk="0" hangingPunct="1">
              <a:spcBef>
                <a:spcPct val="20000"/>
              </a:spcBef>
              <a:buFont typeface="Arial" pitchFamily="34" charset="0"/>
              <a:buNone/>
              <a:defRPr sz="2800" kern="1200">
                <a:solidFill>
                  <a:schemeClr val="tx1"/>
                </a:solidFill>
                <a:latin typeface="+mn-lt"/>
                <a:ea typeface="Segoe UI" pitchFamily="34" charset="0"/>
                <a:cs typeface="Segoe UI" pitchFamily="34" charset="0"/>
              </a:defRPr>
            </a:lvl1pPr>
            <a:lvl2pPr marL="4572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Segoe UI" pitchFamily="34" charset="0"/>
                <a:cs typeface="Segoe UI" pitchFamily="34" charset="0"/>
              </a:defRPr>
            </a:lvl2pPr>
            <a:lvl3pPr marL="914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Segoe UI" pitchFamily="34" charset="0"/>
                <a:cs typeface="Segoe UI" pitchFamily="34" charset="0"/>
              </a:defRPr>
            </a:lvl3pPr>
            <a:lvl4pPr marL="13716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Segoe UI" pitchFamily="34" charset="0"/>
                <a:cs typeface="Segoe UI" pitchFamily="34" charset="0"/>
              </a:defRPr>
            </a:lvl4pPr>
            <a:lvl5pPr marL="18288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Segoe UI" pitchFamily="34" charset="0"/>
                <a:cs typeface="Segoe UI"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ctr"/>
            <a:endParaRPr lang="en-GB" sz="1800" dirty="0"/>
          </a:p>
        </p:txBody>
      </p:sp>
    </p:spTree>
    <p:extLst>
      <p:ext uri="{BB962C8B-B14F-4D97-AF65-F5344CB8AC3E}">
        <p14:creationId xmlns:p14="http://schemas.microsoft.com/office/powerpoint/2010/main" val="11173429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TxTwoObj">
  <p:cSld name="Comparison">
    <p:spTree>
      <p:nvGrpSpPr>
        <p:cNvPr id="1" name=""/>
        <p:cNvGrpSpPr/>
        <p:nvPr/>
      </p:nvGrpSpPr>
      <p:grpSpPr>
        <a:xfrm>
          <a:off x="0" y="0"/>
          <a:ext cx="0" cy="0"/>
          <a:chOff x="0" y="0"/>
          <a:chExt cx="0" cy="0"/>
        </a:xfrm>
      </p:grpSpPr>
      <p:sp>
        <p:nvSpPr>
          <p:cNvPr id="11" name="Rectangle 10"/>
          <p:cNvSpPr/>
          <p:nvPr userDrawn="1"/>
        </p:nvSpPr>
        <p:spPr>
          <a:xfrm>
            <a:off x="4662296" y="1556056"/>
            <a:ext cx="4020984" cy="613784"/>
          </a:xfrm>
          <a:prstGeom prst="rect">
            <a:avLst/>
          </a:prstGeom>
          <a:solidFill>
            <a:srgbClr val="FFFFFF">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p:cNvSpPr/>
          <p:nvPr userDrawn="1"/>
        </p:nvSpPr>
        <p:spPr>
          <a:xfrm>
            <a:off x="479008" y="1556792"/>
            <a:ext cx="4020984" cy="613784"/>
          </a:xfrm>
          <a:prstGeom prst="rect">
            <a:avLst/>
          </a:prstGeom>
          <a:solidFill>
            <a:srgbClr val="FFFFFF">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14" name="Picture 13">
            <a:hlinkClick r:id="" action="ppaction://hlinkshowjump?jump=nextslide"/>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85386" y="6309320"/>
            <a:ext cx="303997" cy="450964"/>
          </a:xfrm>
          <a:prstGeom prst="rect">
            <a:avLst/>
          </a:prstGeom>
        </p:spPr>
      </p:pic>
      <p:pic>
        <p:nvPicPr>
          <p:cNvPr id="15" name="Picture 14">
            <a:hlinkClick r:id="" action="ppaction://hlinkshowjump?jump=previousslide"/>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46966" y="6309320"/>
            <a:ext cx="303997" cy="450964"/>
          </a:xfrm>
          <a:prstGeom prst="rect">
            <a:avLst/>
          </a:prstGeom>
        </p:spPr>
      </p:pic>
    </p:spTree>
    <p:extLst>
      <p:ext uri="{BB962C8B-B14F-4D97-AF65-F5344CB8AC3E}">
        <p14:creationId xmlns:p14="http://schemas.microsoft.com/office/powerpoint/2010/main" val="2845707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Only">
  <p:cSld name="Las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pic>
        <p:nvPicPr>
          <p:cNvPr id="9" name="Picture 8">
            <a:hlinkClick r:id="" action="ppaction://hlinkshowjump?jump=previousslide"/>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46966" y="6309320"/>
            <a:ext cx="303997" cy="450964"/>
          </a:xfrm>
          <a:prstGeom prst="rect">
            <a:avLst/>
          </a:prstGeom>
        </p:spPr>
      </p:pic>
    </p:spTree>
    <p:extLst>
      <p:ext uri="{BB962C8B-B14F-4D97-AF65-F5344CB8AC3E}">
        <p14:creationId xmlns:p14="http://schemas.microsoft.com/office/powerpoint/2010/main" val="14756453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B326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850106"/>
          </a:xfrm>
          <a:prstGeom prst="rect">
            <a:avLst/>
          </a:prstGeom>
          <a:solidFill>
            <a:schemeClr val="accent1"/>
          </a:solidFill>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268760"/>
            <a:ext cx="8229600" cy="53285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7" name="Picture 2" descr="C:\Users\jw\Documents\Visual Studio 2010\Projects\JSBubbles\JSBubbles.Game\images\themes\metro\Next.png">
            <a:hlinkClick r:id="" action="ppaction://hlinkshowjump?jump=nextslide"/>
          </p:cNvPr>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8004029" y="6348019"/>
            <a:ext cx="400050" cy="400050"/>
          </a:xfrm>
          <a:prstGeom prst="rect">
            <a:avLst/>
          </a:prstGeom>
          <a:noFill/>
          <a:extLst>
            <a:ext uri="{909E8E84-426E-40DD-AFC4-6F175D3DCCD1}">
              <a14:hiddenFill xmlns:a14="http://schemas.microsoft.com/office/drawing/2010/main">
                <a:solidFill>
                  <a:srgbClr val="FFFFFF"/>
                </a:solidFill>
              </a14:hiddenFill>
            </a:ext>
          </a:extLst>
        </p:spPr>
      </p:pic>
      <p:pic>
        <p:nvPicPr>
          <p:cNvPr id="8" name="Obraz 7">
            <a:hlinkClick r:id="" action="ppaction://hlinkshowjump?jump=endshow"/>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8558640" y="6343213"/>
            <a:ext cx="400106" cy="400106"/>
          </a:xfrm>
          <a:prstGeom prst="rect">
            <a:avLst/>
          </a:prstGeom>
        </p:spPr>
      </p:pic>
      <p:pic>
        <p:nvPicPr>
          <p:cNvPr id="9" name="Obraz 8">
            <a:hlinkClick r:id="" action="ppaction://hlinkshowjump?jump=firstslide"/>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7448908" y="6347991"/>
            <a:ext cx="400106" cy="400106"/>
          </a:xfrm>
          <a:prstGeom prst="rect">
            <a:avLst/>
          </a:prstGeom>
        </p:spPr>
      </p:pic>
      <p:pic>
        <p:nvPicPr>
          <p:cNvPr id="10" name="Obraz 9">
            <a:hlinkClick r:id="" action="ppaction://hlinkshowjump?jump=previousslide"/>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6904800" y="6338465"/>
            <a:ext cx="419159" cy="419159"/>
          </a:xfrm>
          <a:prstGeom prst="rect">
            <a:avLst/>
          </a:prstGeom>
        </p:spPr>
      </p:pic>
      <p:sp>
        <p:nvSpPr>
          <p:cNvPr id="11" name="Subtitle 2"/>
          <p:cNvSpPr txBox="1">
            <a:spLocks/>
          </p:cNvSpPr>
          <p:nvPr userDrawn="1"/>
        </p:nvSpPr>
        <p:spPr>
          <a:xfrm>
            <a:off x="107504" y="6388737"/>
            <a:ext cx="7776864" cy="312440"/>
          </a:xfrm>
          <a:prstGeom prst="rect">
            <a:avLst/>
          </a:prstGeom>
        </p:spPr>
        <p:txBody>
          <a:bodyPr vert="horz" lIns="91440" tIns="45720" rIns="91440" bIns="45720" rtlCol="0">
            <a:noAutofit/>
          </a:bodyPr>
          <a:lstStyle>
            <a:lvl1pPr marL="0" indent="0" algn="l" defTabSz="914400" rtl="0" eaLnBrk="1" latinLnBrk="0" hangingPunct="1">
              <a:spcBef>
                <a:spcPct val="20000"/>
              </a:spcBef>
              <a:buFont typeface="Arial" pitchFamily="34" charset="0"/>
              <a:buNone/>
              <a:defRPr sz="2800" kern="1200">
                <a:solidFill>
                  <a:schemeClr val="tx1"/>
                </a:solidFill>
                <a:latin typeface="+mn-lt"/>
                <a:ea typeface="Segoe UI" pitchFamily="34" charset="0"/>
                <a:cs typeface="Segoe UI" pitchFamily="34" charset="0"/>
              </a:defRPr>
            </a:lvl1pPr>
            <a:lvl2pPr marL="4572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Segoe UI" pitchFamily="34" charset="0"/>
                <a:cs typeface="Segoe UI" pitchFamily="34" charset="0"/>
              </a:defRPr>
            </a:lvl2pPr>
            <a:lvl3pPr marL="914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Segoe UI" pitchFamily="34" charset="0"/>
                <a:cs typeface="Segoe UI" pitchFamily="34" charset="0"/>
              </a:defRPr>
            </a:lvl3pPr>
            <a:lvl4pPr marL="13716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Segoe UI" pitchFamily="34" charset="0"/>
                <a:cs typeface="Segoe UI" pitchFamily="34" charset="0"/>
              </a:defRPr>
            </a:lvl4pPr>
            <a:lvl5pPr marL="18288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Segoe UI" pitchFamily="34" charset="0"/>
                <a:cs typeface="Segoe UI"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GB" sz="1800" dirty="0"/>
              <a:t>AACS2173</a:t>
            </a:r>
            <a:r>
              <a:rPr lang="en-GB" sz="1800" baseline="0" dirty="0"/>
              <a:t> – Computer Game Programming I</a:t>
            </a:r>
            <a:endParaRPr lang="en-GB" sz="1800" dirty="0"/>
          </a:p>
        </p:txBody>
      </p:sp>
    </p:spTree>
    <p:extLst>
      <p:ext uri="{BB962C8B-B14F-4D97-AF65-F5344CB8AC3E}">
        <p14:creationId xmlns:p14="http://schemas.microsoft.com/office/powerpoint/2010/main" val="3345936536"/>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 id="2147483652" r:id="rId4"/>
    <p:sldLayoutId id="2147483653" r:id="rId5"/>
  </p:sldLayoutIdLst>
  <p:txStyles>
    <p:titleStyle>
      <a:lvl1pPr algn="l" defTabSz="914400" rtl="0" eaLnBrk="1" latinLnBrk="0" hangingPunct="1">
        <a:spcBef>
          <a:spcPct val="0"/>
        </a:spcBef>
        <a:buNone/>
        <a:defRPr sz="4400" kern="1200">
          <a:solidFill>
            <a:schemeClr val="tx1"/>
          </a:solidFill>
          <a:latin typeface="+mj-lt"/>
          <a:ea typeface="Segoe UI" pitchFamily="34" charset="0"/>
          <a:cs typeface="Segoe UI" pitchFamily="34" charset="0"/>
        </a:defRPr>
      </a:lvl1pPr>
    </p:titleStyle>
    <p:body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Segoe UI" pitchFamily="34" charset="0"/>
          <a:cs typeface="Segoe UI" pitchFamily="34" charset="0"/>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Segoe UI" pitchFamily="34" charset="0"/>
          <a:cs typeface="Segoe UI" pitchFamily="34" charset="0"/>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Segoe UI" pitchFamily="34" charset="0"/>
          <a:cs typeface="Segoe UI" pitchFamily="34" charset="0"/>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Segoe UI" pitchFamily="34" charset="0"/>
          <a:cs typeface="Segoe UI" pitchFamily="34" charset="0"/>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Segoe UI" pitchFamily="34" charset="0"/>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hyperlink" Target="http://msdn.microsoft.com/en-us/library/ms633577.aspx" TargetMode="Externa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hyperlink" Target="http://msdn.microsoft.com/en-us/library/ms632679(v=vs.85).aspx" TargetMode="Externa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010543"/>
          </a:xfrm>
        </p:spPr>
        <p:txBody>
          <a:bodyPr/>
          <a:lstStyle/>
          <a:p>
            <a:r>
              <a:rPr lang="en-GB" dirty="0"/>
              <a:t>LECTURE 2</a:t>
            </a:r>
          </a:p>
        </p:txBody>
      </p:sp>
      <p:sp>
        <p:nvSpPr>
          <p:cNvPr id="3" name="Subtitle 2"/>
          <p:cNvSpPr>
            <a:spLocks noGrp="1"/>
          </p:cNvSpPr>
          <p:nvPr>
            <p:ph type="subTitle" idx="1"/>
          </p:nvPr>
        </p:nvSpPr>
        <p:spPr/>
        <p:txBody>
          <a:bodyPr/>
          <a:lstStyle/>
          <a:p>
            <a:r>
              <a:rPr lang="en-GB" dirty="0"/>
              <a:t>Windows Programming</a:t>
            </a:r>
          </a:p>
        </p:txBody>
      </p:sp>
    </p:spTree>
    <p:extLst>
      <p:ext uri="{BB962C8B-B14F-4D97-AF65-F5344CB8AC3E}">
        <p14:creationId xmlns:p14="http://schemas.microsoft.com/office/powerpoint/2010/main" val="2631791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a:t>
            </a:r>
            <a:endParaRPr lang="en-MY" dirty="0"/>
          </a:p>
        </p:txBody>
      </p:sp>
      <p:sp>
        <p:nvSpPr>
          <p:cNvPr id="3" name="Content Placeholder 2"/>
          <p:cNvSpPr>
            <a:spLocks noGrp="1"/>
          </p:cNvSpPr>
          <p:nvPr>
            <p:ph idx="1"/>
          </p:nvPr>
        </p:nvSpPr>
        <p:spPr/>
        <p:txBody>
          <a:bodyPr/>
          <a:lstStyle/>
          <a:p>
            <a:r>
              <a:rPr lang="en-US" dirty="0"/>
              <a:t>Introduction to the Windows API</a:t>
            </a:r>
          </a:p>
          <a:p>
            <a:r>
              <a:rPr lang="en-US" dirty="0"/>
              <a:t>Introduction to the Message Loop</a:t>
            </a:r>
          </a:p>
          <a:p>
            <a:r>
              <a:rPr lang="en-US" dirty="0"/>
              <a:t>Debugging Windows Programs</a:t>
            </a:r>
          </a:p>
          <a:p>
            <a:r>
              <a:rPr lang="en-US" dirty="0"/>
              <a:t>Message Box</a:t>
            </a:r>
            <a:endParaRPr lang="en-MY" dirty="0"/>
          </a:p>
        </p:txBody>
      </p:sp>
    </p:spTree>
    <p:extLst>
      <p:ext uri="{BB962C8B-B14F-4D97-AF65-F5344CB8AC3E}">
        <p14:creationId xmlns:p14="http://schemas.microsoft.com/office/powerpoint/2010/main" val="38915409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Windows API</a:t>
            </a:r>
            <a:endParaRPr lang="en-MY" dirty="0"/>
          </a:p>
        </p:txBody>
      </p:sp>
      <p:sp>
        <p:nvSpPr>
          <p:cNvPr id="3" name="Content Placeholder 2"/>
          <p:cNvSpPr>
            <a:spLocks noGrp="1"/>
          </p:cNvSpPr>
          <p:nvPr>
            <p:ph idx="1"/>
          </p:nvPr>
        </p:nvSpPr>
        <p:spPr/>
        <p:txBody>
          <a:bodyPr/>
          <a:lstStyle/>
          <a:p>
            <a:r>
              <a:rPr lang="en-GB" altLang="en-US" dirty="0"/>
              <a:t>The base of a windows application</a:t>
            </a:r>
          </a:p>
          <a:p>
            <a:r>
              <a:rPr lang="en-GB" altLang="en-US" dirty="0"/>
              <a:t>Use </a:t>
            </a:r>
            <a:r>
              <a:rPr lang="en-GB" altLang="en-US" dirty="0" err="1"/>
              <a:t>WinAPI</a:t>
            </a:r>
            <a:r>
              <a:rPr lang="en-GB" altLang="en-US" dirty="0"/>
              <a:t> to create DirectX application</a:t>
            </a:r>
          </a:p>
          <a:p>
            <a:pPr lvl="1"/>
            <a:r>
              <a:rPr lang="en-GB" altLang="en-US" dirty="0"/>
              <a:t>In games development </a:t>
            </a:r>
            <a:r>
              <a:rPr lang="en-GB" altLang="en-US" dirty="0" err="1"/>
              <a:t>WinAPI</a:t>
            </a:r>
            <a:r>
              <a:rPr lang="en-GB" altLang="en-US" dirty="0"/>
              <a:t> can also be used to create game tools, like level editors, effects editors, resource managers etc.</a:t>
            </a:r>
          </a:p>
          <a:p>
            <a:r>
              <a:rPr lang="en-GB" altLang="en-US" dirty="0"/>
              <a:t>DirectX of course runs under Windows and some knowledge of the API is needed in order to get a DirectX application up and running </a:t>
            </a:r>
          </a:p>
          <a:p>
            <a:pPr marL="0" indent="0">
              <a:buNone/>
            </a:pPr>
            <a:endParaRPr lang="en-MY" dirty="0"/>
          </a:p>
        </p:txBody>
      </p:sp>
    </p:spTree>
    <p:extLst>
      <p:ext uri="{BB962C8B-B14F-4D97-AF65-F5344CB8AC3E}">
        <p14:creationId xmlns:p14="http://schemas.microsoft.com/office/powerpoint/2010/main" val="39911034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Super Quiz – Programming 101</a:t>
            </a:r>
          </a:p>
        </p:txBody>
      </p:sp>
      <p:sp>
        <p:nvSpPr>
          <p:cNvPr id="3" name="Content Placeholder 2"/>
          <p:cNvSpPr>
            <a:spLocks noGrp="1"/>
          </p:cNvSpPr>
          <p:nvPr>
            <p:ph idx="1"/>
          </p:nvPr>
        </p:nvSpPr>
        <p:spPr/>
        <p:txBody>
          <a:bodyPr/>
          <a:lstStyle/>
          <a:p>
            <a:r>
              <a:rPr lang="en-US" dirty="0"/>
              <a:t>What are pre-processors?</a:t>
            </a:r>
          </a:p>
          <a:p>
            <a:pPr marL="914400" lvl="1" indent="-457200">
              <a:buFont typeface="+mj-lt"/>
              <a:buAutoNum type="alphaLcParenR"/>
            </a:pPr>
            <a:r>
              <a:rPr lang="en-US" dirty="0"/>
              <a:t>Old computer processors</a:t>
            </a:r>
          </a:p>
          <a:p>
            <a:pPr marL="914400" lvl="1" indent="-457200">
              <a:buFont typeface="+mj-lt"/>
              <a:buAutoNum type="alphaLcParenR"/>
            </a:pPr>
            <a:r>
              <a:rPr lang="en-US" dirty="0"/>
              <a:t>It’s a typing mistake, sir meant pro-processors</a:t>
            </a:r>
          </a:p>
          <a:p>
            <a:pPr marL="914400" lvl="1" indent="-457200">
              <a:buFont typeface="+mj-lt"/>
              <a:buAutoNum type="alphaLcParenR"/>
            </a:pPr>
            <a:r>
              <a:rPr lang="en-US" dirty="0"/>
              <a:t>Processors that support the main CPU</a:t>
            </a:r>
          </a:p>
          <a:p>
            <a:pPr marL="914400" lvl="1" indent="-457200">
              <a:buFont typeface="+mj-lt"/>
              <a:buAutoNum type="alphaLcParenR"/>
            </a:pPr>
            <a:r>
              <a:rPr lang="en-US" dirty="0"/>
              <a:t>Pentium Runtime Execution Processors</a:t>
            </a:r>
          </a:p>
          <a:p>
            <a:pPr marL="914400" lvl="1" indent="-457200">
              <a:buFont typeface="+mj-lt"/>
              <a:buAutoNum type="alphaLcParenR"/>
            </a:pPr>
            <a:r>
              <a:rPr lang="en-US" dirty="0"/>
              <a:t>Food that has not been processed</a:t>
            </a:r>
          </a:p>
          <a:p>
            <a:pPr marL="914400" lvl="1" indent="-457200">
              <a:buFont typeface="+mj-lt"/>
              <a:buAutoNum type="alphaLcParenR"/>
            </a:pPr>
            <a:r>
              <a:rPr lang="en-US" dirty="0">
                <a:solidFill>
                  <a:srgbClr val="FF0000"/>
                </a:solidFill>
              </a:rPr>
              <a:t>NONE OF THE ABOVE</a:t>
            </a:r>
          </a:p>
          <a:p>
            <a:pPr marL="914400" lvl="1" indent="-457200">
              <a:buFont typeface="+mj-lt"/>
              <a:buAutoNum type="alphaLcParenR"/>
            </a:pPr>
            <a:endParaRPr lang="en-US" dirty="0"/>
          </a:p>
        </p:txBody>
      </p:sp>
    </p:spTree>
    <p:extLst>
      <p:ext uri="{BB962C8B-B14F-4D97-AF65-F5344CB8AC3E}">
        <p14:creationId xmlns:p14="http://schemas.microsoft.com/office/powerpoint/2010/main" val="4186404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iterate type="lt">
                                    <p:tmAbs val="0"/>
                                  </p:iterate>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6" presetClass="emph" presetSubtype="0" fill="hold" nodeType="withEffect">
                                  <p:stCondLst>
                                    <p:cond delay="0"/>
                                  </p:stCondLst>
                                  <p:iterate type="lt">
                                    <p:tmPct val="4000"/>
                                  </p:iterate>
                                  <p:childTnLst>
                                    <p:set>
                                      <p:cBhvr override="childStyle">
                                        <p:cTn id="8" dur="500" fill="hold"/>
                                        <p:tgtEl>
                                          <p:spTgt spid="3">
                                            <p:txEl>
                                              <p:pRg st="6" end="6"/>
                                            </p:txEl>
                                          </p:spTgt>
                                        </p:tgtEl>
                                        <p:attrNameLst>
                                          <p:attrName>style.color</p:attrName>
                                        </p:attrNameLst>
                                      </p:cBhvr>
                                      <p:to>
                                        <p:clrVal>
                                          <a:schemeClr val="accent2"/>
                                        </p:clrVal>
                                      </p:to>
                                    </p:set>
                                    <p:set>
                                      <p:cBhvr>
                                        <p:cTn id="9" dur="500" fill="hold"/>
                                        <p:tgtEl>
                                          <p:spTgt spid="3">
                                            <p:txEl>
                                              <p:pRg st="6" end="6"/>
                                            </p:txEl>
                                          </p:spTgt>
                                        </p:tgtEl>
                                        <p:attrNameLst>
                                          <p:attrName>fillcolor</p:attrName>
                                        </p:attrNameLst>
                                      </p:cBhvr>
                                      <p:to>
                                        <p:clrVal>
                                          <a:schemeClr val="accent2"/>
                                        </p:clrVal>
                                      </p:to>
                                    </p:set>
                                    <p:set>
                                      <p:cBhvr>
                                        <p:cTn id="10" dur="500" fill="hold"/>
                                        <p:tgtEl>
                                          <p:spTgt spid="3">
                                            <p:txEl>
                                              <p:pRg st="6" end="6"/>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Super Quiz – Programming 101</a:t>
            </a:r>
          </a:p>
        </p:txBody>
      </p:sp>
      <p:sp>
        <p:nvSpPr>
          <p:cNvPr id="3" name="Content Placeholder 2"/>
          <p:cNvSpPr>
            <a:spLocks noGrp="1"/>
          </p:cNvSpPr>
          <p:nvPr>
            <p:ph idx="1"/>
          </p:nvPr>
        </p:nvSpPr>
        <p:spPr/>
        <p:txBody>
          <a:bodyPr/>
          <a:lstStyle/>
          <a:p>
            <a:r>
              <a:rPr lang="en-US" dirty="0"/>
              <a:t>What is a function prototype?</a:t>
            </a:r>
          </a:p>
          <a:p>
            <a:pPr marL="914400" lvl="1" indent="-457200">
              <a:buFont typeface="+mj-lt"/>
              <a:buAutoNum type="alphaLcParenR"/>
            </a:pPr>
            <a:r>
              <a:rPr lang="en-US" dirty="0"/>
              <a:t>A tool in Visual Studio to test programs</a:t>
            </a:r>
          </a:p>
          <a:p>
            <a:pPr marL="914400" lvl="1" indent="-457200">
              <a:buFont typeface="+mj-lt"/>
              <a:buAutoNum type="alphaLcParenR"/>
            </a:pPr>
            <a:r>
              <a:rPr lang="en-US" dirty="0"/>
              <a:t>A prototype function </a:t>
            </a:r>
            <a:r>
              <a:rPr lang="en-US" dirty="0" err="1"/>
              <a:t>lor</a:t>
            </a:r>
            <a:r>
              <a:rPr lang="en-US" dirty="0"/>
              <a:t>, function haven’t finish yet</a:t>
            </a:r>
          </a:p>
          <a:p>
            <a:pPr marL="914400" lvl="1" indent="-457200">
              <a:buFont typeface="+mj-lt"/>
              <a:buAutoNum type="alphaLcParenR"/>
            </a:pPr>
            <a:r>
              <a:rPr lang="en-US" dirty="0"/>
              <a:t>A working early version of a game</a:t>
            </a:r>
          </a:p>
          <a:p>
            <a:pPr marL="914400" lvl="1" indent="-457200">
              <a:buFont typeface="+mj-lt"/>
              <a:buAutoNum type="alphaLcParenR"/>
            </a:pPr>
            <a:r>
              <a:rPr lang="en-US" dirty="0">
                <a:solidFill>
                  <a:srgbClr val="FF0000"/>
                </a:solidFill>
              </a:rPr>
              <a:t>A way to communicate to the compiler</a:t>
            </a:r>
          </a:p>
          <a:p>
            <a:pPr marL="914400" lvl="1" indent="-457200">
              <a:buFont typeface="+mj-lt"/>
              <a:buAutoNum type="alphaLcParenR"/>
            </a:pPr>
            <a:r>
              <a:rPr lang="en-US" dirty="0"/>
              <a:t>This is too hard, I give up</a:t>
            </a:r>
          </a:p>
          <a:p>
            <a:pPr marL="914400" lvl="1" indent="-457200">
              <a:buFont typeface="+mj-lt"/>
              <a:buAutoNum type="alphaLcParenR"/>
            </a:pPr>
            <a:endParaRPr lang="en-US" dirty="0"/>
          </a:p>
        </p:txBody>
      </p:sp>
    </p:spTree>
    <p:extLst>
      <p:ext uri="{BB962C8B-B14F-4D97-AF65-F5344CB8AC3E}">
        <p14:creationId xmlns:p14="http://schemas.microsoft.com/office/powerpoint/2010/main" val="3420880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style.color</p:attrName>
                                        </p:attrNameLst>
                                      </p:cBhvr>
                                      <p:to>
                                        <p:clrVal>
                                          <a:schemeClr val="accent2"/>
                                        </p:clrVal>
                                      </p:to>
                                    </p:set>
                                    <p:set>
                                      <p:cBhvr>
                                        <p:cTn id="7" dur="500" fill="hold"/>
                                        <p:tgtEl>
                                          <p:spTgt spid="3">
                                            <p:txEl>
                                              <p:pRg st="4" end="4"/>
                                            </p:txEl>
                                          </p:spTgt>
                                        </p:tgtEl>
                                        <p:attrNameLst>
                                          <p:attrName>fillcolor</p:attrName>
                                        </p:attrNameLst>
                                      </p:cBhvr>
                                      <p:to>
                                        <p:clrVal>
                                          <a:schemeClr val="accent2"/>
                                        </p:clrVal>
                                      </p:to>
                                    </p:set>
                                    <p:set>
                                      <p:cBhvr>
                                        <p:cTn id="8" dur="500" fill="hold"/>
                                        <p:tgtEl>
                                          <p:spTgt spid="3">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Super Quiz – Programming 101</a:t>
            </a:r>
          </a:p>
        </p:txBody>
      </p:sp>
      <p:sp>
        <p:nvSpPr>
          <p:cNvPr id="3" name="Content Placeholder 2"/>
          <p:cNvSpPr>
            <a:spLocks noGrp="1"/>
          </p:cNvSpPr>
          <p:nvPr>
            <p:ph idx="1"/>
          </p:nvPr>
        </p:nvSpPr>
        <p:spPr/>
        <p:txBody>
          <a:bodyPr/>
          <a:lstStyle/>
          <a:p>
            <a:r>
              <a:rPr lang="en-US" dirty="0"/>
              <a:t>In a program, what is the main function?</a:t>
            </a:r>
          </a:p>
          <a:p>
            <a:pPr marL="914400" lvl="1" indent="-457200">
              <a:buFont typeface="+mj-lt"/>
              <a:buAutoNum type="alphaLcParenR"/>
            </a:pPr>
            <a:r>
              <a:rPr lang="en-US" dirty="0"/>
              <a:t>Main in Malay means play, play the game </a:t>
            </a:r>
            <a:r>
              <a:rPr lang="en-US" dirty="0" err="1"/>
              <a:t>lor</a:t>
            </a:r>
            <a:r>
              <a:rPr lang="en-US" dirty="0"/>
              <a:t>.</a:t>
            </a:r>
          </a:p>
          <a:p>
            <a:pPr marL="914400" lvl="1" indent="-457200">
              <a:buFont typeface="+mj-lt"/>
              <a:buAutoNum type="alphaLcParenR"/>
            </a:pPr>
            <a:r>
              <a:rPr lang="en-US" dirty="0"/>
              <a:t>The largest function that is written in the code</a:t>
            </a:r>
          </a:p>
          <a:p>
            <a:pPr marL="914400" lvl="1" indent="-457200">
              <a:buFont typeface="+mj-lt"/>
              <a:buAutoNum type="alphaLcParenR"/>
            </a:pPr>
            <a:r>
              <a:rPr lang="en-US" dirty="0"/>
              <a:t>It depends, the main function can be any function the programmer likes</a:t>
            </a:r>
          </a:p>
          <a:p>
            <a:pPr marL="914400" lvl="1" indent="-457200">
              <a:buFont typeface="+mj-lt"/>
              <a:buAutoNum type="alphaLcParenR"/>
            </a:pPr>
            <a:r>
              <a:rPr lang="en-US" dirty="0"/>
              <a:t>MAIN stands for Microsoft Assembly Instruction Net</a:t>
            </a:r>
          </a:p>
          <a:p>
            <a:pPr marL="914400" lvl="1" indent="-457200">
              <a:buFont typeface="+mj-lt"/>
              <a:buAutoNum type="alphaLcParenR"/>
            </a:pPr>
            <a:r>
              <a:rPr lang="en-US" dirty="0">
                <a:solidFill>
                  <a:srgbClr val="FF0000"/>
                </a:solidFill>
              </a:rPr>
              <a:t>The first function to run when executed</a:t>
            </a:r>
          </a:p>
        </p:txBody>
      </p:sp>
    </p:spTree>
    <p:extLst>
      <p:ext uri="{BB962C8B-B14F-4D97-AF65-F5344CB8AC3E}">
        <p14:creationId xmlns:p14="http://schemas.microsoft.com/office/powerpoint/2010/main" val="3238528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5" end="5"/>
                                            </p:txEl>
                                          </p:spTgt>
                                        </p:tgtEl>
                                        <p:attrNameLst>
                                          <p:attrName>style.color</p:attrName>
                                        </p:attrNameLst>
                                      </p:cBhvr>
                                      <p:to>
                                        <p:clrVal>
                                          <a:schemeClr val="accent2"/>
                                        </p:clrVal>
                                      </p:to>
                                    </p:set>
                                    <p:set>
                                      <p:cBhvr>
                                        <p:cTn id="7" dur="500" fill="hold"/>
                                        <p:tgtEl>
                                          <p:spTgt spid="3">
                                            <p:txEl>
                                              <p:pRg st="5" end="5"/>
                                            </p:txEl>
                                          </p:spTgt>
                                        </p:tgtEl>
                                        <p:attrNameLst>
                                          <p:attrName>fillcolor</p:attrName>
                                        </p:attrNameLst>
                                      </p:cBhvr>
                                      <p:to>
                                        <p:clrVal>
                                          <a:schemeClr val="accent2"/>
                                        </p:clrVal>
                                      </p:to>
                                    </p:set>
                                    <p:set>
                                      <p:cBhvr>
                                        <p:cTn id="8" dur="500" fill="hold"/>
                                        <p:tgtEl>
                                          <p:spTgt spid="3">
                                            <p:txEl>
                                              <p:pRg st="5" end="5"/>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Windows API</a:t>
            </a:r>
            <a:endParaRPr lang="en-MY" dirty="0"/>
          </a:p>
        </p:txBody>
      </p:sp>
      <p:sp>
        <p:nvSpPr>
          <p:cNvPr id="5" name="Rectangle 4"/>
          <p:cNvSpPr/>
          <p:nvPr/>
        </p:nvSpPr>
        <p:spPr>
          <a:xfrm>
            <a:off x="467544" y="1700808"/>
            <a:ext cx="8208912" cy="6480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main.cpp</a:t>
            </a:r>
            <a:endParaRPr lang="en-MY" sz="2000" dirty="0"/>
          </a:p>
        </p:txBody>
      </p:sp>
      <p:sp>
        <p:nvSpPr>
          <p:cNvPr id="6" name="Rectangle 5"/>
          <p:cNvSpPr/>
          <p:nvPr/>
        </p:nvSpPr>
        <p:spPr>
          <a:xfrm>
            <a:off x="460647" y="2501280"/>
            <a:ext cx="8208912" cy="648072"/>
          </a:xfrm>
          <a:prstGeom prst="rect">
            <a:avLst/>
          </a:prstGeom>
          <a:solidFill>
            <a:srgbClr val="009F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Pre-processor</a:t>
            </a:r>
            <a:endParaRPr lang="en-MY" sz="2000" dirty="0"/>
          </a:p>
        </p:txBody>
      </p:sp>
      <p:sp>
        <p:nvSpPr>
          <p:cNvPr id="7" name="Rectangle 6"/>
          <p:cNvSpPr/>
          <p:nvPr/>
        </p:nvSpPr>
        <p:spPr>
          <a:xfrm>
            <a:off x="467544" y="3284984"/>
            <a:ext cx="8208912" cy="648072"/>
          </a:xfrm>
          <a:prstGeom prst="rect">
            <a:avLst/>
          </a:prstGeom>
          <a:solidFill>
            <a:srgbClr val="009F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Function prototype for </a:t>
            </a:r>
            <a:r>
              <a:rPr lang="en-US" sz="2000" dirty="0" err="1"/>
              <a:t>WinProc</a:t>
            </a:r>
            <a:endParaRPr lang="en-MY" sz="2000" dirty="0"/>
          </a:p>
        </p:txBody>
      </p:sp>
      <p:sp>
        <p:nvSpPr>
          <p:cNvPr id="8" name="Rectangle 7"/>
          <p:cNvSpPr/>
          <p:nvPr/>
        </p:nvSpPr>
        <p:spPr>
          <a:xfrm>
            <a:off x="467544" y="4077072"/>
            <a:ext cx="8208912" cy="648072"/>
          </a:xfrm>
          <a:prstGeom prst="rect">
            <a:avLst/>
          </a:prstGeom>
          <a:solidFill>
            <a:srgbClr val="009F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a:t>WinMain</a:t>
            </a:r>
            <a:r>
              <a:rPr lang="en-US" sz="2000" dirty="0"/>
              <a:t> (Windows Main)</a:t>
            </a:r>
            <a:endParaRPr lang="en-MY" sz="2000" dirty="0"/>
          </a:p>
        </p:txBody>
      </p:sp>
      <p:sp>
        <p:nvSpPr>
          <p:cNvPr id="9" name="Rectangle 8"/>
          <p:cNvSpPr/>
          <p:nvPr/>
        </p:nvSpPr>
        <p:spPr>
          <a:xfrm>
            <a:off x="456590" y="4869160"/>
            <a:ext cx="8208912" cy="648072"/>
          </a:xfrm>
          <a:prstGeom prst="rect">
            <a:avLst/>
          </a:prstGeom>
          <a:solidFill>
            <a:srgbClr val="009F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a:t>WinProc</a:t>
            </a:r>
            <a:r>
              <a:rPr lang="en-US" sz="2000" dirty="0"/>
              <a:t> (Windows Procedure)</a:t>
            </a:r>
            <a:endParaRPr lang="en-MY" sz="2000" dirty="0"/>
          </a:p>
        </p:txBody>
      </p:sp>
    </p:spTree>
    <p:extLst>
      <p:ext uri="{BB962C8B-B14F-4D97-AF65-F5344CB8AC3E}">
        <p14:creationId xmlns:p14="http://schemas.microsoft.com/office/powerpoint/2010/main" val="36533948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Windows API – Pre-processor</a:t>
            </a:r>
            <a:endParaRPr lang="en-MY" dirty="0"/>
          </a:p>
        </p:txBody>
      </p:sp>
      <p:sp>
        <p:nvSpPr>
          <p:cNvPr id="3" name="Content Placeholder 2"/>
          <p:cNvSpPr>
            <a:spLocks noGrp="1"/>
          </p:cNvSpPr>
          <p:nvPr>
            <p:ph idx="1"/>
          </p:nvPr>
        </p:nvSpPr>
        <p:spPr/>
        <p:txBody>
          <a:bodyPr/>
          <a:lstStyle/>
          <a:p>
            <a:r>
              <a:rPr lang="en-GB" altLang="en-US" sz="2400" dirty="0"/>
              <a:t>The Windows API is split amongst a number of libraries, commonly you will find the following:</a:t>
            </a:r>
          </a:p>
          <a:p>
            <a:pPr lvl="1">
              <a:buNone/>
            </a:pPr>
            <a:r>
              <a:rPr lang="en-GB" altLang="en-US" sz="2000" dirty="0">
                <a:latin typeface="Courier New" pitchFamily="49" charset="0"/>
              </a:rPr>
              <a:t>	kernel32.lib user32.lib gdi32.lib winspool.lib comdlg32.lib advapi32.lib shell32.lib ole32.lib oleaut32.lib uuid.lib odbc32.lib odbccp32.lib</a:t>
            </a:r>
            <a:r>
              <a:rPr lang="en-GB" altLang="en-US" sz="2000" dirty="0"/>
              <a:t> </a:t>
            </a:r>
          </a:p>
          <a:p>
            <a:r>
              <a:rPr lang="en-GB" altLang="en-US" sz="2400" dirty="0"/>
              <a:t>Any of your source files that use Windows API calls must include the headers defining the functions, fortunately you normally only need to include:  </a:t>
            </a:r>
          </a:p>
          <a:p>
            <a:pPr lvl="1">
              <a:buNone/>
            </a:pPr>
            <a:r>
              <a:rPr lang="en-GB" altLang="en-US" sz="2000" dirty="0">
                <a:latin typeface="Courier New" pitchFamily="49" charset="0"/>
              </a:rPr>
              <a:t>	#include &lt;</a:t>
            </a:r>
            <a:r>
              <a:rPr lang="en-GB" altLang="en-US" sz="2000" dirty="0" err="1">
                <a:latin typeface="Courier New" pitchFamily="49" charset="0"/>
              </a:rPr>
              <a:t>windows.h</a:t>
            </a:r>
            <a:r>
              <a:rPr lang="en-GB" altLang="en-US" sz="2000" dirty="0">
                <a:latin typeface="Courier New" pitchFamily="49" charset="0"/>
              </a:rPr>
              <a:t>&gt; </a:t>
            </a:r>
          </a:p>
          <a:p>
            <a:r>
              <a:rPr lang="en-GB" altLang="en-US" sz="2400" dirty="0"/>
              <a:t>which in turn includes all the other headers needed.</a:t>
            </a:r>
          </a:p>
          <a:p>
            <a:endParaRPr lang="en-MY" dirty="0"/>
          </a:p>
        </p:txBody>
      </p:sp>
    </p:spTree>
    <p:extLst>
      <p:ext uri="{BB962C8B-B14F-4D97-AF65-F5344CB8AC3E}">
        <p14:creationId xmlns:p14="http://schemas.microsoft.com/office/powerpoint/2010/main" val="2182686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Windows API – Pre-processor</a:t>
            </a:r>
            <a:endParaRPr lang="en-MY" dirty="0"/>
          </a:p>
        </p:txBody>
      </p:sp>
      <p:sp>
        <p:nvSpPr>
          <p:cNvPr id="3" name="Content Placeholder 2"/>
          <p:cNvSpPr>
            <a:spLocks noGrp="1"/>
          </p:cNvSpPr>
          <p:nvPr>
            <p:ph idx="1"/>
          </p:nvPr>
        </p:nvSpPr>
        <p:spPr/>
        <p:txBody>
          <a:bodyPr/>
          <a:lstStyle/>
          <a:p>
            <a:r>
              <a:rPr lang="en-GB" altLang="en-US" sz="2400" dirty="0"/>
              <a:t>NOTE: Windows provides capabilities for a large number of functions, a lot of stuff that we never need so we can tell windows that we don't want all the extra junk, we just want a nice simple set of functions, by writing the following </a:t>
            </a:r>
            <a:r>
              <a:rPr lang="en-GB" altLang="en-US" sz="2400" i="1" dirty="0"/>
              <a:t>before</a:t>
            </a:r>
            <a:r>
              <a:rPr lang="en-GB" altLang="en-US" sz="2400" dirty="0"/>
              <a:t> including </a:t>
            </a:r>
            <a:r>
              <a:rPr lang="en-GB" altLang="en-US" sz="2400" dirty="0" err="1"/>
              <a:t>windows.h</a:t>
            </a:r>
            <a:r>
              <a:rPr lang="en-GB" altLang="en-US" sz="2400" dirty="0"/>
              <a:t>:</a:t>
            </a:r>
          </a:p>
          <a:p>
            <a:endParaRPr lang="en-GB" altLang="en-US" sz="2400" dirty="0"/>
          </a:p>
          <a:p>
            <a:pPr lvl="1"/>
            <a:r>
              <a:rPr lang="en-GB" altLang="en-US" sz="2000" dirty="0">
                <a:latin typeface="Courier New" pitchFamily="49" charset="0"/>
              </a:rPr>
              <a:t>#define WIN32_LEAN_AND_MEAN</a:t>
            </a:r>
            <a:br>
              <a:rPr lang="en-GB" altLang="en-US" sz="2000" dirty="0">
                <a:latin typeface="Courier New" pitchFamily="49" charset="0"/>
              </a:rPr>
            </a:br>
            <a:endParaRPr lang="en-GB" altLang="en-US" sz="2000" dirty="0">
              <a:latin typeface="Courier New" pitchFamily="49" charset="0"/>
            </a:endParaRPr>
          </a:p>
          <a:p>
            <a:r>
              <a:rPr lang="en-GB" altLang="en-US" sz="2400" dirty="0"/>
              <a:t>In fact there is a way of making it even learner and meaner and turning off more stuff:</a:t>
            </a:r>
          </a:p>
          <a:p>
            <a:endParaRPr lang="en-GB" altLang="en-US" sz="2400" dirty="0"/>
          </a:p>
          <a:p>
            <a:pPr lvl="1"/>
            <a:r>
              <a:rPr lang="en-GB" altLang="en-US" sz="2000" dirty="0">
                <a:latin typeface="Courier New" pitchFamily="49" charset="0"/>
              </a:rPr>
              <a:t>#define VC_EXTRALEAN</a:t>
            </a:r>
          </a:p>
          <a:p>
            <a:endParaRPr lang="en-MY" dirty="0"/>
          </a:p>
        </p:txBody>
      </p:sp>
    </p:spTree>
    <p:extLst>
      <p:ext uri="{BB962C8B-B14F-4D97-AF65-F5344CB8AC3E}">
        <p14:creationId xmlns:p14="http://schemas.microsoft.com/office/powerpoint/2010/main" val="2769046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Windows API – </a:t>
            </a:r>
            <a:r>
              <a:rPr lang="en-US" dirty="0" err="1"/>
              <a:t>WinMain</a:t>
            </a:r>
            <a:r>
              <a:rPr lang="en-US" dirty="0"/>
              <a:t> Structure</a:t>
            </a:r>
            <a:endParaRPr lang="en-MY" dirty="0"/>
          </a:p>
        </p:txBody>
      </p:sp>
      <p:sp>
        <p:nvSpPr>
          <p:cNvPr id="4" name="Rectangle 3"/>
          <p:cNvSpPr/>
          <p:nvPr/>
        </p:nvSpPr>
        <p:spPr>
          <a:xfrm>
            <a:off x="458823" y="1484784"/>
            <a:ext cx="8208912" cy="52647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a:t>WinMain</a:t>
            </a:r>
            <a:endParaRPr lang="en-MY" sz="2000" dirty="0"/>
          </a:p>
        </p:txBody>
      </p:sp>
      <p:sp>
        <p:nvSpPr>
          <p:cNvPr id="5" name="Rectangle 4"/>
          <p:cNvSpPr/>
          <p:nvPr/>
        </p:nvSpPr>
        <p:spPr>
          <a:xfrm>
            <a:off x="451926" y="2177244"/>
            <a:ext cx="8208912" cy="531676"/>
          </a:xfrm>
          <a:prstGeom prst="rect">
            <a:avLst/>
          </a:prstGeom>
          <a:solidFill>
            <a:srgbClr val="009F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a:t>WinMain</a:t>
            </a:r>
            <a:r>
              <a:rPr lang="en-US" sz="2000" dirty="0"/>
              <a:t> Definition</a:t>
            </a:r>
            <a:endParaRPr lang="en-MY" sz="2000" dirty="0"/>
          </a:p>
        </p:txBody>
      </p:sp>
      <p:sp>
        <p:nvSpPr>
          <p:cNvPr id="10" name="Rectangle 9"/>
          <p:cNvSpPr/>
          <p:nvPr/>
        </p:nvSpPr>
        <p:spPr>
          <a:xfrm>
            <a:off x="451926" y="2867591"/>
            <a:ext cx="8208912" cy="531676"/>
          </a:xfrm>
          <a:prstGeom prst="rect">
            <a:avLst/>
          </a:prstGeom>
          <a:solidFill>
            <a:srgbClr val="009F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Register the window class</a:t>
            </a:r>
            <a:endParaRPr lang="en-MY" sz="2000" dirty="0"/>
          </a:p>
        </p:txBody>
      </p:sp>
      <p:sp>
        <p:nvSpPr>
          <p:cNvPr id="11" name="Rectangle 10"/>
          <p:cNvSpPr/>
          <p:nvPr/>
        </p:nvSpPr>
        <p:spPr>
          <a:xfrm>
            <a:off x="447667" y="4221088"/>
            <a:ext cx="8208912" cy="531676"/>
          </a:xfrm>
          <a:prstGeom prst="rect">
            <a:avLst/>
          </a:prstGeom>
          <a:solidFill>
            <a:srgbClr val="009F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Show the window</a:t>
            </a:r>
            <a:endParaRPr lang="en-MY" sz="2000" dirty="0"/>
          </a:p>
        </p:txBody>
      </p:sp>
      <p:sp>
        <p:nvSpPr>
          <p:cNvPr id="12" name="Rectangle 11"/>
          <p:cNvSpPr/>
          <p:nvPr/>
        </p:nvSpPr>
        <p:spPr>
          <a:xfrm>
            <a:off x="447667" y="5589240"/>
            <a:ext cx="8208912" cy="531676"/>
          </a:xfrm>
          <a:prstGeom prst="rect">
            <a:avLst/>
          </a:prstGeom>
          <a:solidFill>
            <a:srgbClr val="009F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Return statement</a:t>
            </a:r>
            <a:endParaRPr lang="en-MY" sz="2000" dirty="0"/>
          </a:p>
        </p:txBody>
      </p:sp>
      <p:sp>
        <p:nvSpPr>
          <p:cNvPr id="13" name="Rectangle 12"/>
          <p:cNvSpPr/>
          <p:nvPr/>
        </p:nvSpPr>
        <p:spPr>
          <a:xfrm>
            <a:off x="451926" y="3545396"/>
            <a:ext cx="8208912" cy="531676"/>
          </a:xfrm>
          <a:prstGeom prst="rect">
            <a:avLst/>
          </a:prstGeom>
          <a:solidFill>
            <a:srgbClr val="009F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Create the window</a:t>
            </a:r>
            <a:endParaRPr lang="en-MY" sz="2000" dirty="0"/>
          </a:p>
        </p:txBody>
      </p:sp>
      <p:sp>
        <p:nvSpPr>
          <p:cNvPr id="14" name="Rectangle 13"/>
          <p:cNvSpPr/>
          <p:nvPr/>
        </p:nvSpPr>
        <p:spPr>
          <a:xfrm>
            <a:off x="450507" y="4913548"/>
            <a:ext cx="8208912" cy="531676"/>
          </a:xfrm>
          <a:prstGeom prst="rect">
            <a:avLst/>
          </a:prstGeom>
          <a:solidFill>
            <a:srgbClr val="009F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Message loop</a:t>
            </a:r>
            <a:endParaRPr lang="en-MY" sz="2000" dirty="0"/>
          </a:p>
        </p:txBody>
      </p:sp>
    </p:spTree>
    <p:extLst>
      <p:ext uri="{BB962C8B-B14F-4D97-AF65-F5344CB8AC3E}">
        <p14:creationId xmlns:p14="http://schemas.microsoft.com/office/powerpoint/2010/main" val="382429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Windows API – </a:t>
            </a:r>
            <a:r>
              <a:rPr lang="en-US" dirty="0" err="1"/>
              <a:t>WinMain</a:t>
            </a:r>
            <a:r>
              <a:rPr lang="en-US" dirty="0"/>
              <a:t> Definition</a:t>
            </a:r>
            <a:endParaRPr lang="en-MY" dirty="0"/>
          </a:p>
        </p:txBody>
      </p:sp>
      <p:sp>
        <p:nvSpPr>
          <p:cNvPr id="3" name="Content Placeholder 2"/>
          <p:cNvSpPr>
            <a:spLocks noGrp="1"/>
          </p:cNvSpPr>
          <p:nvPr>
            <p:ph idx="1"/>
          </p:nvPr>
        </p:nvSpPr>
        <p:spPr/>
        <p:txBody>
          <a:bodyPr/>
          <a:lstStyle/>
          <a:p>
            <a:pPr lvl="1">
              <a:lnSpc>
                <a:spcPct val="80000"/>
              </a:lnSpc>
              <a:buNone/>
            </a:pPr>
            <a:r>
              <a:rPr lang="en-GB" altLang="en-US" sz="1800" dirty="0" err="1">
                <a:latin typeface="Courier New" pitchFamily="49" charset="0"/>
              </a:rPr>
              <a:t>int</a:t>
            </a:r>
            <a:r>
              <a:rPr lang="en-GB" altLang="en-US" sz="1800" dirty="0">
                <a:latin typeface="Courier New" pitchFamily="49" charset="0"/>
              </a:rPr>
              <a:t> APIENTRY </a:t>
            </a:r>
            <a:r>
              <a:rPr lang="en-GB" altLang="en-US" sz="1800" dirty="0" err="1">
                <a:latin typeface="Courier New" pitchFamily="49" charset="0"/>
              </a:rPr>
              <a:t>WinMain</a:t>
            </a:r>
            <a:r>
              <a:rPr lang="en-GB" altLang="en-US" sz="1800" dirty="0">
                <a:latin typeface="Courier New" pitchFamily="49" charset="0"/>
              </a:rPr>
              <a:t>(HINSTANCE </a:t>
            </a:r>
            <a:r>
              <a:rPr lang="en-GB" altLang="en-US" sz="1800" dirty="0" err="1">
                <a:latin typeface="Courier New" pitchFamily="49" charset="0"/>
              </a:rPr>
              <a:t>hInstance</a:t>
            </a:r>
            <a:r>
              <a:rPr lang="en-GB" altLang="en-US" sz="1800" dirty="0">
                <a:latin typeface="Courier New" pitchFamily="49" charset="0"/>
              </a:rPr>
              <a:t>, </a:t>
            </a:r>
          </a:p>
          <a:p>
            <a:pPr lvl="4">
              <a:lnSpc>
                <a:spcPct val="80000"/>
              </a:lnSpc>
              <a:buNone/>
            </a:pPr>
            <a:r>
              <a:rPr lang="en-GB" altLang="en-US" dirty="0">
                <a:latin typeface="Courier New" pitchFamily="49" charset="0"/>
              </a:rPr>
              <a:t>		    HINSTANCE </a:t>
            </a:r>
            <a:r>
              <a:rPr lang="en-GB" altLang="en-US" dirty="0" err="1">
                <a:latin typeface="Courier New" pitchFamily="49" charset="0"/>
              </a:rPr>
              <a:t>hPrevInstance</a:t>
            </a:r>
            <a:r>
              <a:rPr lang="en-GB" altLang="en-US" dirty="0">
                <a:latin typeface="Courier New" pitchFamily="49" charset="0"/>
              </a:rPr>
              <a:t>, </a:t>
            </a:r>
          </a:p>
          <a:p>
            <a:pPr lvl="4">
              <a:lnSpc>
                <a:spcPct val="80000"/>
              </a:lnSpc>
              <a:buNone/>
            </a:pPr>
            <a:r>
              <a:rPr lang="en-GB" altLang="en-US" dirty="0">
                <a:latin typeface="Courier New" pitchFamily="49" charset="0"/>
              </a:rPr>
              <a:t>		    LPSTR </a:t>
            </a:r>
            <a:r>
              <a:rPr lang="en-GB" altLang="en-US" dirty="0" err="1">
                <a:latin typeface="Courier New" pitchFamily="49" charset="0"/>
              </a:rPr>
              <a:t>lpCmdLine</a:t>
            </a:r>
            <a:r>
              <a:rPr lang="en-GB" altLang="en-US" dirty="0">
                <a:latin typeface="Courier New" pitchFamily="49" charset="0"/>
              </a:rPr>
              <a:t>, </a:t>
            </a:r>
          </a:p>
          <a:p>
            <a:pPr lvl="4">
              <a:lnSpc>
                <a:spcPct val="80000"/>
              </a:lnSpc>
              <a:buNone/>
            </a:pPr>
            <a:r>
              <a:rPr lang="en-GB" altLang="en-US" dirty="0">
                <a:latin typeface="Courier New" pitchFamily="49" charset="0"/>
              </a:rPr>
              <a:t>		    </a:t>
            </a:r>
            <a:r>
              <a:rPr lang="en-GB" altLang="en-US" dirty="0" err="1">
                <a:latin typeface="Courier New" pitchFamily="49" charset="0"/>
              </a:rPr>
              <a:t>int</a:t>
            </a:r>
            <a:r>
              <a:rPr lang="en-GB" altLang="en-US" dirty="0">
                <a:latin typeface="Courier New" pitchFamily="49" charset="0"/>
              </a:rPr>
              <a:t> </a:t>
            </a:r>
            <a:r>
              <a:rPr lang="en-GB" altLang="en-US" dirty="0" err="1">
                <a:latin typeface="Courier New" pitchFamily="49" charset="0"/>
              </a:rPr>
              <a:t>nCmdShow</a:t>
            </a:r>
            <a:r>
              <a:rPr lang="en-GB" altLang="en-US" dirty="0">
                <a:latin typeface="Courier New" pitchFamily="49" charset="0"/>
              </a:rPr>
              <a:t>)</a:t>
            </a:r>
          </a:p>
          <a:p>
            <a:pPr>
              <a:lnSpc>
                <a:spcPct val="80000"/>
              </a:lnSpc>
            </a:pPr>
            <a:r>
              <a:rPr lang="en-GB" altLang="en-US" sz="1600" dirty="0"/>
              <a:t>Straight away we see some of those Windows types. </a:t>
            </a:r>
            <a:r>
              <a:rPr lang="en-GB" altLang="en-US" sz="1600" dirty="0">
                <a:latin typeface="Courier New" pitchFamily="49" charset="0"/>
              </a:rPr>
              <a:t>APIENTRY</a:t>
            </a:r>
            <a:r>
              <a:rPr lang="en-GB" altLang="en-US" sz="1600" dirty="0"/>
              <a:t> resolves to </a:t>
            </a:r>
            <a:r>
              <a:rPr lang="en-GB" altLang="en-US" sz="1600" dirty="0">
                <a:latin typeface="Courier New" pitchFamily="49" charset="0"/>
              </a:rPr>
              <a:t>_</a:t>
            </a:r>
            <a:r>
              <a:rPr lang="en-GB" altLang="en-US" sz="1600" dirty="0" err="1">
                <a:latin typeface="Courier New" pitchFamily="49" charset="0"/>
              </a:rPr>
              <a:t>stdcall</a:t>
            </a:r>
            <a:r>
              <a:rPr lang="en-GB" altLang="en-US" sz="1600" dirty="0"/>
              <a:t> which is used for all windows API calls. </a:t>
            </a:r>
            <a:r>
              <a:rPr lang="en-GB" altLang="en-US" sz="1600" dirty="0">
                <a:latin typeface="Courier New" pitchFamily="49" charset="0"/>
              </a:rPr>
              <a:t>HINSTANCE</a:t>
            </a:r>
            <a:r>
              <a:rPr lang="en-GB" altLang="en-US" sz="1600" dirty="0"/>
              <a:t> is a new type, its a handle to an instance. </a:t>
            </a:r>
            <a:r>
              <a:rPr lang="en-GB" altLang="en-US" sz="1600" dirty="0">
                <a:latin typeface="Courier New" pitchFamily="49" charset="0"/>
              </a:rPr>
              <a:t>LPSTR</a:t>
            </a:r>
            <a:r>
              <a:rPr lang="en-GB" altLang="en-US" sz="1600" dirty="0"/>
              <a:t> is Microsoft's way of saying '</a:t>
            </a:r>
            <a:r>
              <a:rPr lang="en-GB" altLang="en-US" sz="1600" b="1" dirty="0"/>
              <a:t>l</a:t>
            </a:r>
            <a:r>
              <a:rPr lang="en-GB" altLang="en-US" sz="1600" dirty="0"/>
              <a:t>ong </a:t>
            </a:r>
            <a:r>
              <a:rPr lang="en-GB" altLang="en-US" sz="1600" b="1" dirty="0"/>
              <a:t>p</a:t>
            </a:r>
            <a:r>
              <a:rPr lang="en-GB" altLang="en-US" sz="1600" dirty="0"/>
              <a:t>ointer to a </a:t>
            </a:r>
            <a:r>
              <a:rPr lang="en-GB" altLang="en-US" sz="1600" b="1" dirty="0"/>
              <a:t>str</a:t>
            </a:r>
            <a:r>
              <a:rPr lang="en-GB" altLang="en-US" sz="1600" dirty="0"/>
              <a:t>ing' it normally resolves to </a:t>
            </a:r>
            <a:r>
              <a:rPr lang="en-GB" altLang="en-US" sz="1600" dirty="0">
                <a:latin typeface="Courier New" pitchFamily="49" charset="0"/>
              </a:rPr>
              <a:t>char*</a:t>
            </a:r>
            <a:r>
              <a:rPr lang="en-GB" altLang="en-US" sz="1600" dirty="0"/>
              <a:t>. </a:t>
            </a:r>
          </a:p>
          <a:p>
            <a:pPr>
              <a:lnSpc>
                <a:spcPct val="80000"/>
              </a:lnSpc>
            </a:pPr>
            <a:r>
              <a:rPr lang="en-GB" altLang="en-US" sz="1600" dirty="0">
                <a:latin typeface="Courier New" pitchFamily="49" charset="0"/>
              </a:rPr>
              <a:t>HINSTANCE </a:t>
            </a:r>
            <a:r>
              <a:rPr lang="en-GB" altLang="en-US" sz="1600" dirty="0" err="1">
                <a:latin typeface="Courier New" pitchFamily="49" charset="0"/>
              </a:rPr>
              <a:t>hInstance</a:t>
            </a:r>
            <a:r>
              <a:rPr lang="en-GB" altLang="en-US" sz="1600" dirty="0"/>
              <a:t> </a:t>
            </a:r>
          </a:p>
          <a:p>
            <a:pPr lvl="1">
              <a:lnSpc>
                <a:spcPct val="80000"/>
              </a:lnSpc>
            </a:pPr>
            <a:r>
              <a:rPr lang="en-GB" altLang="en-US" sz="1400" dirty="0"/>
              <a:t>when your program runs it is considered one instance of the executable running. You could in fact run many, creating multiple instances, and this value would be different for each e.g. you could open ten calculators. Since the instance handle uniquely identifies your application it is used in Windows API calls elsewhere, so it is common to make a global copy of this. </a:t>
            </a:r>
          </a:p>
          <a:p>
            <a:pPr>
              <a:lnSpc>
                <a:spcPct val="80000"/>
              </a:lnSpc>
            </a:pPr>
            <a:r>
              <a:rPr lang="en-GB" altLang="en-US" sz="1600" dirty="0" err="1">
                <a:latin typeface="Courier New" pitchFamily="49" charset="0"/>
              </a:rPr>
              <a:t>hPrevInstance</a:t>
            </a:r>
            <a:endParaRPr lang="en-GB" altLang="en-US" sz="1600" dirty="0">
              <a:latin typeface="Courier New" pitchFamily="49" charset="0"/>
            </a:endParaRPr>
          </a:p>
          <a:p>
            <a:pPr lvl="1">
              <a:lnSpc>
                <a:spcPct val="80000"/>
              </a:lnSpc>
            </a:pPr>
            <a:r>
              <a:rPr lang="en-GB" altLang="en-US" sz="1400" dirty="0"/>
              <a:t> is always NULL in modern version of Windows so we can ignore it.</a:t>
            </a:r>
          </a:p>
          <a:p>
            <a:pPr>
              <a:lnSpc>
                <a:spcPct val="80000"/>
              </a:lnSpc>
            </a:pPr>
            <a:r>
              <a:rPr lang="en-GB" altLang="en-US" sz="1600" dirty="0">
                <a:latin typeface="Courier New" pitchFamily="49" charset="0"/>
              </a:rPr>
              <a:t>LPSTR </a:t>
            </a:r>
            <a:r>
              <a:rPr lang="en-GB" altLang="en-US" sz="1600" dirty="0" err="1">
                <a:latin typeface="Courier New" pitchFamily="49" charset="0"/>
              </a:rPr>
              <a:t>lpCmdLine</a:t>
            </a:r>
            <a:r>
              <a:rPr lang="en-GB" altLang="en-US" sz="1600" dirty="0"/>
              <a:t> </a:t>
            </a:r>
          </a:p>
          <a:p>
            <a:pPr lvl="1">
              <a:lnSpc>
                <a:spcPct val="80000"/>
              </a:lnSpc>
            </a:pPr>
            <a:r>
              <a:rPr lang="en-GB" altLang="en-US" sz="1400" dirty="0"/>
              <a:t>when you run a program you can start it with a set of commands. If you look at shortcuts in Windows for programs there is a space where you can put a command line. This is commonly used for things like starting the program in a debug mode etc. in games it is often used for commands like 'Cheat' or 'Test' etc.</a:t>
            </a:r>
          </a:p>
          <a:p>
            <a:pPr>
              <a:lnSpc>
                <a:spcPct val="80000"/>
              </a:lnSpc>
            </a:pPr>
            <a:r>
              <a:rPr lang="en-GB" altLang="en-US" sz="1600" dirty="0" err="1">
                <a:latin typeface="Courier New" pitchFamily="49" charset="0"/>
              </a:rPr>
              <a:t>int</a:t>
            </a:r>
            <a:r>
              <a:rPr lang="en-GB" altLang="en-US" sz="1600" dirty="0">
                <a:latin typeface="Courier New" pitchFamily="49" charset="0"/>
              </a:rPr>
              <a:t> </a:t>
            </a:r>
            <a:r>
              <a:rPr lang="en-GB" altLang="en-US" sz="1600" dirty="0" err="1">
                <a:latin typeface="Courier New" pitchFamily="49" charset="0"/>
              </a:rPr>
              <a:t>nCmdShow</a:t>
            </a:r>
            <a:r>
              <a:rPr lang="en-GB" altLang="en-US" sz="1600" dirty="0"/>
              <a:t> </a:t>
            </a:r>
          </a:p>
          <a:p>
            <a:pPr lvl="1">
              <a:lnSpc>
                <a:spcPct val="80000"/>
              </a:lnSpc>
            </a:pPr>
            <a:r>
              <a:rPr lang="en-GB" altLang="en-US" sz="1400" dirty="0"/>
              <a:t>This is a flag describing how the window should be shown to start with. Examples include SW_SHOWMAXIMIZED and SW_SHOWMINIMIZED.</a:t>
            </a:r>
          </a:p>
          <a:p>
            <a:endParaRPr lang="en-MY" dirty="0"/>
          </a:p>
        </p:txBody>
      </p:sp>
    </p:spTree>
    <p:extLst>
      <p:ext uri="{BB962C8B-B14F-4D97-AF65-F5344CB8AC3E}">
        <p14:creationId xmlns:p14="http://schemas.microsoft.com/office/powerpoint/2010/main" val="24143044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Windows API – Register the window</a:t>
            </a:r>
            <a:endParaRPr lang="en-MY" dirty="0"/>
          </a:p>
        </p:txBody>
      </p:sp>
      <p:sp>
        <p:nvSpPr>
          <p:cNvPr id="3" name="Content Placeholder 2"/>
          <p:cNvSpPr>
            <a:spLocks noGrp="1"/>
          </p:cNvSpPr>
          <p:nvPr>
            <p:ph idx="1"/>
          </p:nvPr>
        </p:nvSpPr>
        <p:spPr/>
        <p:txBody>
          <a:bodyPr>
            <a:normAutofit/>
          </a:bodyPr>
          <a:lstStyle/>
          <a:p>
            <a:pPr>
              <a:lnSpc>
                <a:spcPct val="80000"/>
              </a:lnSpc>
            </a:pPr>
            <a:r>
              <a:rPr lang="en-GB" altLang="en-US" sz="2400" dirty="0"/>
              <a:t>Windows allows many styles of window to be created. To tell Windows to create a window as you want it you need to define a class of window and register it with windows. The class can be reused later if you wish. In order to register a class you call the API function:</a:t>
            </a:r>
            <a:br>
              <a:rPr lang="en-GB" altLang="en-US" sz="2400" dirty="0"/>
            </a:br>
            <a:endParaRPr lang="en-GB" altLang="en-US" sz="2400" dirty="0"/>
          </a:p>
          <a:p>
            <a:pPr marL="800100" lvl="2" indent="0">
              <a:lnSpc>
                <a:spcPct val="80000"/>
              </a:lnSpc>
              <a:buNone/>
            </a:pPr>
            <a:r>
              <a:rPr lang="en-GB" altLang="en-US" sz="1600" dirty="0">
                <a:latin typeface="Courier New" pitchFamily="49" charset="0"/>
              </a:rPr>
              <a:t>ATOM </a:t>
            </a:r>
            <a:r>
              <a:rPr lang="en-GB" altLang="en-US" sz="1600" dirty="0" err="1">
                <a:latin typeface="Courier New" pitchFamily="49" charset="0"/>
              </a:rPr>
              <a:t>RegisterClassEx</a:t>
            </a:r>
            <a:r>
              <a:rPr lang="en-GB" altLang="en-US" sz="1600" dirty="0">
                <a:latin typeface="Courier New" pitchFamily="49" charset="0"/>
              </a:rPr>
              <a:t>(CONST WNDCLASSEX *</a:t>
            </a:r>
            <a:r>
              <a:rPr lang="en-GB" altLang="en-US" sz="1600" dirty="0" err="1">
                <a:latin typeface="Courier New" pitchFamily="49" charset="0"/>
              </a:rPr>
              <a:t>lpwcx</a:t>
            </a:r>
            <a:r>
              <a:rPr lang="en-GB" altLang="en-US" sz="1600" dirty="0">
                <a:latin typeface="Courier New" pitchFamily="49" charset="0"/>
              </a:rPr>
              <a:t>);</a:t>
            </a:r>
          </a:p>
          <a:p>
            <a:pPr marL="800100" lvl="2" indent="0">
              <a:lnSpc>
                <a:spcPct val="80000"/>
              </a:lnSpc>
              <a:buNone/>
            </a:pPr>
            <a:endParaRPr lang="en-GB" altLang="en-US" sz="1600" dirty="0">
              <a:latin typeface="Courier New" pitchFamily="49" charset="0"/>
            </a:endParaRPr>
          </a:p>
          <a:p>
            <a:pPr>
              <a:lnSpc>
                <a:spcPct val="80000"/>
              </a:lnSpc>
            </a:pPr>
            <a:r>
              <a:rPr lang="en-GB" altLang="en-US" sz="2400" dirty="0"/>
              <a:t>This function takes a pointer to a structure you have defined to describe your window class - more on that in a minute. The return value </a:t>
            </a:r>
            <a:r>
              <a:rPr lang="en-GB" altLang="en-US" sz="2400" dirty="0">
                <a:latin typeface="Courier New" pitchFamily="49" charset="0"/>
              </a:rPr>
              <a:t>ATOM</a:t>
            </a:r>
            <a:r>
              <a:rPr lang="en-GB" altLang="en-US" sz="2400" dirty="0"/>
              <a:t> is one of those Microsoft </a:t>
            </a:r>
            <a:r>
              <a:rPr lang="en-GB" altLang="en-US" sz="2400" dirty="0" err="1"/>
              <a:t>typedefs</a:t>
            </a:r>
            <a:r>
              <a:rPr lang="en-GB" altLang="en-US" sz="2400" dirty="0"/>
              <a:t> again and resolves to unsigned short. This function returns 0 if there was an error. The </a:t>
            </a:r>
            <a:r>
              <a:rPr lang="en-GB" altLang="en-US" sz="2400" dirty="0" err="1"/>
              <a:t>const</a:t>
            </a:r>
            <a:r>
              <a:rPr lang="en-GB" altLang="en-US" sz="2400" dirty="0"/>
              <a:t> indicates that the function will not change the structure.</a:t>
            </a:r>
          </a:p>
          <a:p>
            <a:pPr>
              <a:lnSpc>
                <a:spcPct val="80000"/>
              </a:lnSpc>
            </a:pPr>
            <a:r>
              <a:rPr lang="en-GB" altLang="en-US" sz="2400" dirty="0"/>
              <a:t>So we need to fill a </a:t>
            </a:r>
            <a:r>
              <a:rPr lang="en-GB" altLang="en-US" sz="2400" dirty="0">
                <a:latin typeface="Courier New" pitchFamily="49" charset="0"/>
              </a:rPr>
              <a:t>WNDCLASSEX</a:t>
            </a:r>
            <a:r>
              <a:rPr lang="en-GB" altLang="en-US" sz="2400" dirty="0"/>
              <a:t> structure with a description of how we want our window. </a:t>
            </a:r>
          </a:p>
          <a:p>
            <a:endParaRPr lang="en-MY" dirty="0"/>
          </a:p>
        </p:txBody>
      </p:sp>
    </p:spTree>
    <p:extLst>
      <p:ext uri="{BB962C8B-B14F-4D97-AF65-F5344CB8AC3E}">
        <p14:creationId xmlns:p14="http://schemas.microsoft.com/office/powerpoint/2010/main" val="22250639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Windows API – Register the window</a:t>
            </a:r>
            <a:endParaRPr lang="en-MY" dirty="0"/>
          </a:p>
        </p:txBody>
      </p:sp>
      <p:sp>
        <p:nvSpPr>
          <p:cNvPr id="3" name="Content Placeholder 2"/>
          <p:cNvSpPr>
            <a:spLocks noGrp="1"/>
          </p:cNvSpPr>
          <p:nvPr>
            <p:ph idx="1"/>
          </p:nvPr>
        </p:nvSpPr>
        <p:spPr/>
        <p:txBody>
          <a:bodyPr>
            <a:normAutofit/>
          </a:bodyPr>
          <a:lstStyle/>
          <a:p>
            <a:pPr>
              <a:lnSpc>
                <a:spcPct val="90000"/>
              </a:lnSpc>
              <a:buNone/>
            </a:pPr>
            <a:r>
              <a:rPr lang="en-GB" altLang="en-US" sz="2000" dirty="0">
                <a:latin typeface="Courier New" pitchFamily="49" charset="0"/>
              </a:rPr>
              <a:t>WNDCLASSEX </a:t>
            </a:r>
            <a:r>
              <a:rPr lang="en-GB" altLang="en-US" sz="2000" dirty="0" err="1">
                <a:latin typeface="Courier New" pitchFamily="49" charset="0"/>
              </a:rPr>
              <a:t>wcex</a:t>
            </a:r>
            <a:r>
              <a:rPr lang="en-GB" altLang="en-US" sz="2000" dirty="0">
                <a:latin typeface="Courier New" pitchFamily="49" charset="0"/>
              </a:rPr>
              <a:t>;</a:t>
            </a:r>
          </a:p>
          <a:p>
            <a:pPr>
              <a:lnSpc>
                <a:spcPct val="90000"/>
              </a:lnSpc>
              <a:buNone/>
            </a:pPr>
            <a:r>
              <a:rPr lang="en-GB" altLang="en-US" sz="2000" dirty="0">
                <a:latin typeface="Courier New" pitchFamily="49" charset="0"/>
              </a:rPr>
              <a:t>	</a:t>
            </a:r>
            <a:r>
              <a:rPr lang="en-GB" altLang="en-US" sz="2000" dirty="0" err="1">
                <a:latin typeface="Courier New" pitchFamily="49" charset="0"/>
              </a:rPr>
              <a:t>wcex.cbSize</a:t>
            </a:r>
            <a:r>
              <a:rPr lang="en-GB" altLang="en-US" sz="2000" dirty="0">
                <a:latin typeface="Courier New" pitchFamily="49" charset="0"/>
              </a:rPr>
              <a:t> = </a:t>
            </a:r>
            <a:r>
              <a:rPr lang="en-GB" altLang="en-US" sz="2000" dirty="0" err="1">
                <a:latin typeface="Courier New" pitchFamily="49" charset="0"/>
              </a:rPr>
              <a:t>sizeof</a:t>
            </a:r>
            <a:r>
              <a:rPr lang="en-GB" altLang="en-US" sz="2000" dirty="0">
                <a:latin typeface="Courier New" pitchFamily="49" charset="0"/>
              </a:rPr>
              <a:t>(WNDCLASSEX); </a:t>
            </a:r>
            <a:br>
              <a:rPr lang="en-GB" altLang="en-US" sz="2000" dirty="0">
                <a:latin typeface="Courier New" pitchFamily="49" charset="0"/>
              </a:rPr>
            </a:br>
            <a:r>
              <a:rPr lang="en-GB" altLang="en-US" sz="2000" dirty="0" err="1">
                <a:latin typeface="Courier New" pitchFamily="49" charset="0"/>
              </a:rPr>
              <a:t>wcex.style</a:t>
            </a:r>
            <a:r>
              <a:rPr lang="en-GB" altLang="en-US" sz="2000" dirty="0">
                <a:latin typeface="Courier New" pitchFamily="49" charset="0"/>
              </a:rPr>
              <a:t>= CS_HREDRAW | CS_VREDRAW;</a:t>
            </a:r>
            <a:br>
              <a:rPr lang="en-GB" altLang="en-US" sz="2000" dirty="0">
                <a:latin typeface="Courier New" pitchFamily="49" charset="0"/>
              </a:rPr>
            </a:br>
            <a:r>
              <a:rPr lang="en-GB" altLang="en-US" sz="2000" dirty="0" err="1">
                <a:latin typeface="Courier New" pitchFamily="49" charset="0"/>
              </a:rPr>
              <a:t>wcex.lpfnWndProc</a:t>
            </a:r>
            <a:r>
              <a:rPr lang="en-GB" altLang="en-US" sz="2000" dirty="0">
                <a:latin typeface="Courier New" pitchFamily="49" charset="0"/>
              </a:rPr>
              <a:t>= (WNDPROC)</a:t>
            </a:r>
            <a:r>
              <a:rPr lang="en-GB" altLang="en-US" sz="2000" dirty="0" err="1">
                <a:latin typeface="Courier New" pitchFamily="49" charset="0"/>
              </a:rPr>
              <a:t>WndProc</a:t>
            </a:r>
            <a:r>
              <a:rPr lang="en-GB" altLang="en-US" sz="2000" dirty="0">
                <a:latin typeface="Courier New" pitchFamily="49" charset="0"/>
              </a:rPr>
              <a:t>;</a:t>
            </a:r>
            <a:br>
              <a:rPr lang="en-GB" altLang="en-US" sz="2000" dirty="0">
                <a:latin typeface="Courier New" pitchFamily="49" charset="0"/>
              </a:rPr>
            </a:br>
            <a:r>
              <a:rPr lang="en-GB" altLang="en-US" sz="2000" dirty="0" err="1">
                <a:latin typeface="Courier New" pitchFamily="49" charset="0"/>
              </a:rPr>
              <a:t>wcex.cbClsExtra</a:t>
            </a:r>
            <a:r>
              <a:rPr lang="en-GB" altLang="en-US" sz="2000" dirty="0">
                <a:latin typeface="Courier New" pitchFamily="49" charset="0"/>
              </a:rPr>
              <a:t>= 0;</a:t>
            </a:r>
            <a:br>
              <a:rPr lang="en-GB" altLang="en-US" sz="2000" dirty="0">
                <a:latin typeface="Courier New" pitchFamily="49" charset="0"/>
              </a:rPr>
            </a:br>
            <a:r>
              <a:rPr lang="en-GB" altLang="en-US" sz="2000" dirty="0" err="1">
                <a:latin typeface="Courier New" pitchFamily="49" charset="0"/>
              </a:rPr>
              <a:t>wcex.cbWndExtra</a:t>
            </a:r>
            <a:r>
              <a:rPr lang="en-GB" altLang="en-US" sz="2000" dirty="0">
                <a:latin typeface="Courier New" pitchFamily="49" charset="0"/>
              </a:rPr>
              <a:t>= 0;</a:t>
            </a:r>
            <a:br>
              <a:rPr lang="en-GB" altLang="en-US" sz="2000" dirty="0">
                <a:latin typeface="Courier New" pitchFamily="49" charset="0"/>
              </a:rPr>
            </a:br>
            <a:r>
              <a:rPr lang="en-GB" altLang="en-US" sz="2000" dirty="0" err="1">
                <a:latin typeface="Courier New" pitchFamily="49" charset="0"/>
              </a:rPr>
              <a:t>wcex.hInstance</a:t>
            </a:r>
            <a:r>
              <a:rPr lang="en-GB" altLang="en-US" sz="2000" dirty="0">
                <a:latin typeface="Courier New" pitchFamily="49" charset="0"/>
              </a:rPr>
              <a:t>= </a:t>
            </a:r>
            <a:r>
              <a:rPr lang="en-GB" altLang="en-US" sz="2000" dirty="0" err="1">
                <a:latin typeface="Courier New" pitchFamily="49" charset="0"/>
              </a:rPr>
              <a:t>hInstance</a:t>
            </a:r>
            <a:r>
              <a:rPr lang="en-GB" altLang="en-US" sz="2000" dirty="0">
                <a:latin typeface="Courier New" pitchFamily="49" charset="0"/>
              </a:rPr>
              <a:t>;</a:t>
            </a:r>
            <a:br>
              <a:rPr lang="en-GB" altLang="en-US" sz="2000" dirty="0">
                <a:latin typeface="Courier New" pitchFamily="49" charset="0"/>
              </a:rPr>
            </a:br>
            <a:r>
              <a:rPr lang="en-GB" altLang="en-US" sz="2000" dirty="0" err="1">
                <a:latin typeface="Courier New" pitchFamily="49" charset="0"/>
              </a:rPr>
              <a:t>wcex.hIcon</a:t>
            </a:r>
            <a:r>
              <a:rPr lang="en-GB" altLang="en-US" sz="2000" dirty="0">
                <a:latin typeface="Courier New" pitchFamily="49" charset="0"/>
              </a:rPr>
              <a:t>= 0;</a:t>
            </a:r>
            <a:br>
              <a:rPr lang="en-GB" altLang="en-US" sz="2000" dirty="0">
                <a:latin typeface="Courier New" pitchFamily="49" charset="0"/>
              </a:rPr>
            </a:br>
            <a:r>
              <a:rPr lang="en-GB" altLang="en-US" sz="2000" dirty="0" err="1">
                <a:latin typeface="Courier New" pitchFamily="49" charset="0"/>
              </a:rPr>
              <a:t>wcex.hCursor</a:t>
            </a:r>
            <a:r>
              <a:rPr lang="en-GB" altLang="en-US" sz="2000" dirty="0">
                <a:latin typeface="Courier New" pitchFamily="49" charset="0"/>
              </a:rPr>
              <a:t>= </a:t>
            </a:r>
            <a:r>
              <a:rPr lang="en-GB" altLang="en-US" sz="2000" dirty="0" err="1">
                <a:latin typeface="Courier New" pitchFamily="49" charset="0"/>
              </a:rPr>
              <a:t>LoadCursor</a:t>
            </a:r>
            <a:r>
              <a:rPr lang="en-GB" altLang="en-US" sz="2000" dirty="0">
                <a:latin typeface="Courier New" pitchFamily="49" charset="0"/>
              </a:rPr>
              <a:t>(NULL, IDC_ARROW);</a:t>
            </a:r>
            <a:br>
              <a:rPr lang="en-GB" altLang="en-US" sz="2000" dirty="0">
                <a:latin typeface="Courier New" pitchFamily="49" charset="0"/>
              </a:rPr>
            </a:br>
            <a:r>
              <a:rPr lang="en-GB" altLang="en-US" sz="2000" dirty="0" err="1">
                <a:latin typeface="Courier New" pitchFamily="49" charset="0"/>
              </a:rPr>
              <a:t>wcex.hbrBackground</a:t>
            </a:r>
            <a:r>
              <a:rPr lang="en-GB" altLang="en-US" sz="2000" dirty="0">
                <a:latin typeface="Courier New" pitchFamily="49" charset="0"/>
              </a:rPr>
              <a:t>= (HBRUSH)(COLOR_WINDOW+1);</a:t>
            </a:r>
            <a:br>
              <a:rPr lang="en-GB" altLang="en-US" sz="2000" dirty="0">
                <a:latin typeface="Courier New" pitchFamily="49" charset="0"/>
              </a:rPr>
            </a:br>
            <a:r>
              <a:rPr lang="en-GB" altLang="en-US" sz="2000" dirty="0" err="1">
                <a:latin typeface="Courier New" pitchFamily="49" charset="0"/>
              </a:rPr>
              <a:t>wcex.lpszMenuName</a:t>
            </a:r>
            <a:r>
              <a:rPr lang="en-GB" altLang="en-US" sz="2000" dirty="0">
                <a:latin typeface="Courier New" pitchFamily="49" charset="0"/>
              </a:rPr>
              <a:t>= 0;</a:t>
            </a:r>
            <a:br>
              <a:rPr lang="en-GB" altLang="en-US" sz="2000" dirty="0">
                <a:latin typeface="Courier New" pitchFamily="49" charset="0"/>
              </a:rPr>
            </a:br>
            <a:r>
              <a:rPr lang="en-GB" altLang="en-US" sz="2000" dirty="0" err="1">
                <a:latin typeface="Courier New" pitchFamily="49" charset="0"/>
              </a:rPr>
              <a:t>wcex.lpszClassName</a:t>
            </a:r>
            <a:r>
              <a:rPr lang="en-GB" altLang="en-US" sz="2000" dirty="0">
                <a:latin typeface="Courier New" pitchFamily="49" charset="0"/>
              </a:rPr>
              <a:t>= TEXT("</a:t>
            </a:r>
            <a:r>
              <a:rPr lang="en-GB" altLang="en-US" sz="2000" dirty="0" err="1">
                <a:latin typeface="Courier New" pitchFamily="49" charset="0"/>
              </a:rPr>
              <a:t>MyWindowClass</a:t>
            </a:r>
            <a:r>
              <a:rPr lang="en-GB" altLang="en-US" sz="2000" dirty="0">
                <a:latin typeface="Courier New" pitchFamily="49" charset="0"/>
              </a:rPr>
              <a:t>“);</a:t>
            </a:r>
            <a:br>
              <a:rPr lang="en-GB" altLang="en-US" sz="2000" dirty="0">
                <a:latin typeface="Courier New" pitchFamily="49" charset="0"/>
              </a:rPr>
            </a:br>
            <a:r>
              <a:rPr lang="en-GB" altLang="en-US" sz="2000" dirty="0" err="1">
                <a:latin typeface="Courier New" pitchFamily="49" charset="0"/>
              </a:rPr>
              <a:t>wcex.hIconSm</a:t>
            </a:r>
            <a:r>
              <a:rPr lang="en-GB" altLang="en-US" sz="2000" dirty="0">
                <a:latin typeface="Courier New" pitchFamily="49" charset="0"/>
              </a:rPr>
              <a:t>= 0;</a:t>
            </a:r>
          </a:p>
          <a:p>
            <a:pPr>
              <a:lnSpc>
                <a:spcPct val="90000"/>
              </a:lnSpc>
              <a:buNone/>
            </a:pPr>
            <a:r>
              <a:rPr lang="en-GB" altLang="en-US" sz="2000" dirty="0">
                <a:latin typeface="Courier New" pitchFamily="49" charset="0"/>
              </a:rPr>
              <a:t>// Now we can go ahead and register our new window class</a:t>
            </a:r>
            <a:br>
              <a:rPr lang="en-GB" altLang="en-US" sz="2000" dirty="0">
                <a:latin typeface="Courier New" pitchFamily="49" charset="0"/>
              </a:rPr>
            </a:br>
            <a:r>
              <a:rPr lang="en-GB" altLang="en-US" sz="2000" dirty="0" err="1">
                <a:latin typeface="Courier New" pitchFamily="49" charset="0"/>
              </a:rPr>
              <a:t>RegisterClassEx</a:t>
            </a:r>
            <a:r>
              <a:rPr lang="en-GB" altLang="en-US" sz="2000" dirty="0">
                <a:latin typeface="Courier New" pitchFamily="49" charset="0"/>
              </a:rPr>
              <a:t>(&amp;</a:t>
            </a:r>
            <a:r>
              <a:rPr lang="en-GB" altLang="en-US" sz="2000" dirty="0" err="1">
                <a:latin typeface="Courier New" pitchFamily="49" charset="0"/>
              </a:rPr>
              <a:t>wcex</a:t>
            </a:r>
            <a:r>
              <a:rPr lang="en-GB" altLang="en-US" sz="2000" dirty="0">
                <a:latin typeface="Courier New" pitchFamily="49" charset="0"/>
              </a:rPr>
              <a:t>);</a:t>
            </a:r>
          </a:p>
          <a:p>
            <a:pPr marL="0" indent="0">
              <a:buNone/>
            </a:pPr>
            <a:endParaRPr lang="en-MY" dirty="0"/>
          </a:p>
        </p:txBody>
      </p:sp>
    </p:spTree>
    <p:extLst>
      <p:ext uri="{BB962C8B-B14F-4D97-AF65-F5344CB8AC3E}">
        <p14:creationId xmlns:p14="http://schemas.microsoft.com/office/powerpoint/2010/main" val="26544612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Windows API – Register the window</a:t>
            </a:r>
            <a:endParaRPr lang="en-MY" dirty="0"/>
          </a:p>
        </p:txBody>
      </p:sp>
      <p:sp>
        <p:nvSpPr>
          <p:cNvPr id="3" name="Content Placeholder 2"/>
          <p:cNvSpPr>
            <a:spLocks noGrp="1"/>
          </p:cNvSpPr>
          <p:nvPr>
            <p:ph idx="1"/>
          </p:nvPr>
        </p:nvSpPr>
        <p:spPr/>
        <p:txBody>
          <a:bodyPr/>
          <a:lstStyle/>
          <a:p>
            <a:pPr>
              <a:lnSpc>
                <a:spcPct val="80000"/>
              </a:lnSpc>
            </a:pPr>
            <a:r>
              <a:rPr lang="en-GB" altLang="en-US" sz="2000" dirty="0"/>
              <a:t>There follows a quick look at the elements in </a:t>
            </a:r>
            <a:r>
              <a:rPr lang="en-GB" altLang="en-US" sz="2000" dirty="0">
                <a:latin typeface="Courier New" pitchFamily="49" charset="0"/>
              </a:rPr>
              <a:t>WNDCLASSEX</a:t>
            </a:r>
            <a:r>
              <a:rPr lang="en-GB" altLang="en-US" sz="2000" dirty="0"/>
              <a:t> we can configure with:</a:t>
            </a:r>
          </a:p>
          <a:p>
            <a:pPr lvl="1">
              <a:lnSpc>
                <a:spcPct val="80000"/>
              </a:lnSpc>
            </a:pPr>
            <a:r>
              <a:rPr lang="en-GB" altLang="en-US" sz="1800" b="1" dirty="0">
                <a:latin typeface="Courier New" pitchFamily="49" charset="0"/>
              </a:rPr>
              <a:t>style</a:t>
            </a:r>
            <a:r>
              <a:rPr lang="en-GB" altLang="en-US" sz="1800" dirty="0"/>
              <a:t> </a:t>
            </a:r>
          </a:p>
          <a:p>
            <a:pPr lvl="2">
              <a:lnSpc>
                <a:spcPct val="80000"/>
              </a:lnSpc>
            </a:pPr>
            <a:r>
              <a:rPr lang="en-GB" altLang="en-US" sz="1600" dirty="0"/>
              <a:t>this allows us to combine some flags to describe the low level style for our window, CS_HREDRAW means we want our window redrawing if the width is ever changed.</a:t>
            </a:r>
          </a:p>
          <a:p>
            <a:pPr lvl="1">
              <a:lnSpc>
                <a:spcPct val="80000"/>
              </a:lnSpc>
            </a:pPr>
            <a:r>
              <a:rPr lang="en-GB" altLang="en-US" sz="1800" b="1" dirty="0" err="1">
                <a:latin typeface="Courier New" pitchFamily="49" charset="0"/>
              </a:rPr>
              <a:t>lpfnWindProc</a:t>
            </a:r>
            <a:r>
              <a:rPr lang="en-GB" altLang="en-US" sz="1800" dirty="0"/>
              <a:t> </a:t>
            </a:r>
          </a:p>
          <a:p>
            <a:pPr lvl="2">
              <a:lnSpc>
                <a:spcPct val="80000"/>
              </a:lnSpc>
            </a:pPr>
            <a:r>
              <a:rPr lang="en-GB" altLang="en-US" sz="1600" dirty="0"/>
              <a:t>this is essential, this is where we tell Windows which of our functions is going to handle messages sent to this window. </a:t>
            </a:r>
          </a:p>
          <a:p>
            <a:pPr lvl="2">
              <a:lnSpc>
                <a:spcPct val="80000"/>
              </a:lnSpc>
            </a:pPr>
            <a:r>
              <a:rPr lang="en-GB" altLang="en-US" sz="1600" dirty="0"/>
              <a:t>Remember from earlier that Windows is event driven, so if someone clicks on the window Windows responds to that even by telling us what has happened. </a:t>
            </a:r>
          </a:p>
          <a:p>
            <a:pPr lvl="2">
              <a:lnSpc>
                <a:spcPct val="80000"/>
              </a:lnSpc>
            </a:pPr>
            <a:r>
              <a:rPr lang="en-GB" altLang="en-US" sz="1600" dirty="0"/>
              <a:t>We provide a function to receive these messages and in this structure element we pass the pointer to the function (a </a:t>
            </a:r>
            <a:r>
              <a:rPr lang="en-GB" altLang="en-US" sz="1600" dirty="0" err="1"/>
              <a:t>callback</a:t>
            </a:r>
            <a:r>
              <a:rPr lang="en-GB" altLang="en-US" sz="1600" dirty="0"/>
              <a:t> function). The WNDPROC is used to cast the function pointer into the correct form for Windows.</a:t>
            </a:r>
          </a:p>
          <a:p>
            <a:pPr lvl="1">
              <a:lnSpc>
                <a:spcPct val="80000"/>
              </a:lnSpc>
            </a:pPr>
            <a:r>
              <a:rPr lang="en-GB" altLang="en-US" sz="1800" b="1" dirty="0" err="1">
                <a:latin typeface="Courier New" pitchFamily="49" charset="0"/>
              </a:rPr>
              <a:t>hIcon</a:t>
            </a:r>
            <a:r>
              <a:rPr lang="en-GB" altLang="en-US" sz="1800" dirty="0"/>
              <a:t> and </a:t>
            </a:r>
            <a:r>
              <a:rPr lang="en-GB" altLang="en-US" sz="1800" b="1" dirty="0" err="1">
                <a:latin typeface="Courier New" pitchFamily="49" charset="0"/>
              </a:rPr>
              <a:t>hIconSm</a:t>
            </a:r>
            <a:r>
              <a:rPr lang="en-GB" altLang="en-US" sz="1800" dirty="0"/>
              <a:t> </a:t>
            </a:r>
          </a:p>
          <a:p>
            <a:pPr lvl="2">
              <a:lnSpc>
                <a:spcPct val="80000"/>
              </a:lnSpc>
            </a:pPr>
            <a:r>
              <a:rPr lang="en-GB" altLang="en-US" sz="1600" dirty="0"/>
              <a:t>defines the icons used by the program. </a:t>
            </a:r>
          </a:p>
          <a:p>
            <a:pPr lvl="2">
              <a:lnSpc>
                <a:spcPct val="80000"/>
              </a:lnSpc>
            </a:pPr>
            <a:r>
              <a:rPr lang="en-GB" altLang="en-US" sz="1600" dirty="0"/>
              <a:t>The small one (16 by 16) is displayed in the top left of the window and on the taskbar. The big one (32 by 32) is visible when you look at the executable in explorer on your hard drive and also when you ALT-TAB between applications.</a:t>
            </a:r>
          </a:p>
          <a:p>
            <a:pPr lvl="2">
              <a:lnSpc>
                <a:spcPct val="80000"/>
              </a:lnSpc>
            </a:pPr>
            <a:r>
              <a:rPr lang="en-GB" altLang="en-US" sz="1600" dirty="0"/>
              <a:t>These icons are defined using the resource editor ,described elsewhere, and referred to using a #define.</a:t>
            </a:r>
          </a:p>
          <a:p>
            <a:endParaRPr lang="en-MY" dirty="0"/>
          </a:p>
        </p:txBody>
      </p:sp>
    </p:spTree>
    <p:extLst>
      <p:ext uri="{BB962C8B-B14F-4D97-AF65-F5344CB8AC3E}">
        <p14:creationId xmlns:p14="http://schemas.microsoft.com/office/powerpoint/2010/main" val="8362861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Windows API – Register the window</a:t>
            </a:r>
            <a:endParaRPr lang="en-MY" dirty="0"/>
          </a:p>
        </p:txBody>
      </p:sp>
      <p:sp>
        <p:nvSpPr>
          <p:cNvPr id="3" name="Content Placeholder 2"/>
          <p:cNvSpPr>
            <a:spLocks noGrp="1"/>
          </p:cNvSpPr>
          <p:nvPr>
            <p:ph idx="1"/>
          </p:nvPr>
        </p:nvSpPr>
        <p:spPr/>
        <p:txBody>
          <a:bodyPr>
            <a:normAutofit lnSpcReduction="10000"/>
          </a:bodyPr>
          <a:lstStyle/>
          <a:p>
            <a:pPr lvl="1">
              <a:lnSpc>
                <a:spcPct val="80000"/>
              </a:lnSpc>
            </a:pPr>
            <a:r>
              <a:rPr lang="en-GB" altLang="en-US" sz="1800" b="1" dirty="0" err="1">
                <a:latin typeface="Courier New" pitchFamily="49" charset="0"/>
              </a:rPr>
              <a:t>hCursor</a:t>
            </a:r>
            <a:r>
              <a:rPr lang="en-GB" altLang="en-US" sz="1800" dirty="0"/>
              <a:t> </a:t>
            </a:r>
          </a:p>
          <a:p>
            <a:pPr lvl="2">
              <a:lnSpc>
                <a:spcPct val="80000"/>
              </a:lnSpc>
            </a:pPr>
            <a:r>
              <a:rPr lang="en-GB" altLang="en-US" sz="1600" dirty="0"/>
              <a:t>this describes the default mouse cursor displayed whenever the mouse is over this window. </a:t>
            </a:r>
          </a:p>
          <a:p>
            <a:pPr lvl="2">
              <a:lnSpc>
                <a:spcPct val="80000"/>
              </a:lnSpc>
            </a:pPr>
            <a:r>
              <a:rPr lang="en-GB" altLang="en-US" sz="1600" dirty="0"/>
              <a:t>Usually this is an arrow (IDC_ARROW) but you can also have things like IDC_CROSS or IDC_WAIT (the hourglass) or even define your own.</a:t>
            </a:r>
          </a:p>
          <a:p>
            <a:pPr lvl="1">
              <a:lnSpc>
                <a:spcPct val="80000"/>
              </a:lnSpc>
            </a:pPr>
            <a:r>
              <a:rPr lang="en-GB" altLang="en-US" sz="1800" b="1" dirty="0" err="1">
                <a:latin typeface="Courier New" pitchFamily="49" charset="0"/>
              </a:rPr>
              <a:t>hBrBackground</a:t>
            </a:r>
            <a:r>
              <a:rPr lang="en-GB" altLang="en-US" sz="1800" dirty="0"/>
              <a:t> </a:t>
            </a:r>
          </a:p>
          <a:p>
            <a:pPr lvl="2">
              <a:lnSpc>
                <a:spcPct val="80000"/>
              </a:lnSpc>
            </a:pPr>
            <a:r>
              <a:rPr lang="en-GB" altLang="en-US" sz="1600" dirty="0"/>
              <a:t>the colour you want the background of your window to be. By using COLOR_WINDOW+1 we are saying we want to use whatever background the user of the PC has defined. </a:t>
            </a:r>
          </a:p>
          <a:p>
            <a:pPr lvl="2">
              <a:lnSpc>
                <a:spcPct val="80000"/>
              </a:lnSpc>
            </a:pPr>
            <a:r>
              <a:rPr lang="en-GB" altLang="en-US" sz="1600" dirty="0"/>
              <a:t>If we wanted to use a basic colour we need to define a brush or use one of the stock brushes. e.g. to set the background to black we could use: </a:t>
            </a:r>
            <a:r>
              <a:rPr lang="en-GB" altLang="en-US" sz="1600" dirty="0" err="1"/>
              <a:t>hBrBackground</a:t>
            </a:r>
            <a:r>
              <a:rPr lang="en-GB" altLang="en-US" sz="1600" dirty="0"/>
              <a:t>=(HBRUSH) </a:t>
            </a:r>
            <a:r>
              <a:rPr lang="en-GB" altLang="en-US" sz="1600" dirty="0" err="1"/>
              <a:t>GetStockObject</a:t>
            </a:r>
            <a:r>
              <a:rPr lang="en-GB" altLang="en-US" sz="1600" dirty="0"/>
              <a:t>(BLACK_BRUSH); </a:t>
            </a:r>
          </a:p>
          <a:p>
            <a:pPr lvl="2">
              <a:lnSpc>
                <a:spcPct val="80000"/>
              </a:lnSpc>
            </a:pPr>
            <a:r>
              <a:rPr lang="en-GB" altLang="en-US" sz="1600" dirty="0"/>
              <a:t>Note that if you are drawing the whole screen yourself you are better to leave this as 0 which means Windows will not fill the background.</a:t>
            </a:r>
          </a:p>
          <a:p>
            <a:pPr lvl="1">
              <a:lnSpc>
                <a:spcPct val="80000"/>
              </a:lnSpc>
            </a:pPr>
            <a:r>
              <a:rPr lang="en-GB" altLang="en-US" sz="1800" b="1" dirty="0" err="1">
                <a:latin typeface="Courier New" pitchFamily="49" charset="0"/>
              </a:rPr>
              <a:t>lpszMenuName</a:t>
            </a:r>
            <a:r>
              <a:rPr lang="en-GB" altLang="en-US" sz="1800" dirty="0"/>
              <a:t> </a:t>
            </a:r>
          </a:p>
          <a:p>
            <a:pPr lvl="2">
              <a:lnSpc>
                <a:spcPct val="80000"/>
              </a:lnSpc>
            </a:pPr>
            <a:r>
              <a:rPr lang="en-GB" altLang="en-US" sz="1600" dirty="0"/>
              <a:t>the menu you want to be displayed in this window. </a:t>
            </a:r>
          </a:p>
          <a:p>
            <a:pPr lvl="2">
              <a:lnSpc>
                <a:spcPct val="80000"/>
              </a:lnSpc>
            </a:pPr>
            <a:r>
              <a:rPr lang="en-GB" altLang="en-US" sz="1600" dirty="0"/>
              <a:t>Again you define this in the resource editor and give it an identifier or 0 if no menu used.</a:t>
            </a:r>
          </a:p>
          <a:p>
            <a:pPr lvl="1">
              <a:lnSpc>
                <a:spcPct val="80000"/>
              </a:lnSpc>
            </a:pPr>
            <a:r>
              <a:rPr lang="en-GB" altLang="en-US" sz="1800" b="1" dirty="0" err="1">
                <a:latin typeface="Courier New" pitchFamily="49" charset="0"/>
              </a:rPr>
              <a:t>lpszClassName</a:t>
            </a:r>
            <a:r>
              <a:rPr lang="en-GB" altLang="en-US" sz="1800" dirty="0"/>
              <a:t> </a:t>
            </a:r>
          </a:p>
          <a:p>
            <a:pPr lvl="2">
              <a:lnSpc>
                <a:spcPct val="80000"/>
              </a:lnSpc>
            </a:pPr>
            <a:r>
              <a:rPr lang="en-GB" altLang="en-US" sz="1600" dirty="0"/>
              <a:t>this is essential, this is your name you want to give to this class, it can be anything you want.</a:t>
            </a:r>
          </a:p>
          <a:p>
            <a:pPr>
              <a:lnSpc>
                <a:spcPct val="80000"/>
              </a:lnSpc>
            </a:pPr>
            <a:endParaRPr lang="en-GB" altLang="en-US" sz="2000" dirty="0"/>
          </a:p>
          <a:p>
            <a:pPr>
              <a:lnSpc>
                <a:spcPct val="80000"/>
              </a:lnSpc>
            </a:pPr>
            <a:r>
              <a:rPr lang="en-GB" altLang="en-US" sz="1800" dirty="0"/>
              <a:t>More about WNDCLASSEX read from </a:t>
            </a:r>
            <a:r>
              <a:rPr lang="en-GB" altLang="en-US" sz="1800" dirty="0">
                <a:hlinkClick r:id="rId2"/>
              </a:rPr>
              <a:t>http://msdn.microsoft.com/en-us/library/ms633577.aspx</a:t>
            </a:r>
            <a:endParaRPr lang="en-GB" altLang="en-US" sz="1800" dirty="0"/>
          </a:p>
          <a:p>
            <a:endParaRPr lang="en-MY" dirty="0"/>
          </a:p>
        </p:txBody>
      </p:sp>
    </p:spTree>
    <p:extLst>
      <p:ext uri="{BB962C8B-B14F-4D97-AF65-F5344CB8AC3E}">
        <p14:creationId xmlns:p14="http://schemas.microsoft.com/office/powerpoint/2010/main" val="17138990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Windows API – Create the window</a:t>
            </a:r>
            <a:endParaRPr lang="en-MY" dirty="0"/>
          </a:p>
        </p:txBody>
      </p:sp>
      <p:sp>
        <p:nvSpPr>
          <p:cNvPr id="3" name="Content Placeholder 2"/>
          <p:cNvSpPr>
            <a:spLocks noGrp="1"/>
          </p:cNvSpPr>
          <p:nvPr>
            <p:ph idx="1"/>
          </p:nvPr>
        </p:nvSpPr>
        <p:spPr/>
        <p:txBody>
          <a:bodyPr/>
          <a:lstStyle/>
          <a:p>
            <a:r>
              <a:rPr lang="en-GB" altLang="en-US" sz="2400" dirty="0"/>
              <a:t>The create window API call is:</a:t>
            </a:r>
          </a:p>
          <a:p>
            <a:pPr lvl="1">
              <a:buNone/>
            </a:pPr>
            <a:r>
              <a:rPr lang="en-GB" altLang="en-US" sz="2000" dirty="0">
                <a:latin typeface="Courier New" pitchFamily="49" charset="0"/>
              </a:rPr>
              <a:t>HWND </a:t>
            </a:r>
            <a:r>
              <a:rPr lang="en-GB" altLang="en-US" sz="2000" dirty="0" err="1">
                <a:latin typeface="Courier New" pitchFamily="49" charset="0"/>
              </a:rPr>
              <a:t>CreateWindow</a:t>
            </a:r>
            <a:r>
              <a:rPr lang="en-GB" altLang="en-US" sz="2000" dirty="0">
                <a:latin typeface="Courier New" pitchFamily="49" charset="0"/>
              </a:rPr>
              <a:t>( </a:t>
            </a:r>
          </a:p>
          <a:p>
            <a:pPr lvl="1">
              <a:buNone/>
            </a:pPr>
            <a:r>
              <a:rPr lang="en-GB" altLang="en-US" sz="2000" dirty="0">
                <a:latin typeface="Courier New" pitchFamily="49" charset="0"/>
              </a:rPr>
              <a:t>	LPCTSTR </a:t>
            </a:r>
            <a:r>
              <a:rPr lang="en-GB" altLang="en-US" sz="2000" dirty="0" err="1">
                <a:latin typeface="Courier New" pitchFamily="49" charset="0"/>
              </a:rPr>
              <a:t>lpClassName</a:t>
            </a:r>
            <a:r>
              <a:rPr lang="en-GB" altLang="en-US" sz="2000" dirty="0">
                <a:latin typeface="Courier New" pitchFamily="49" charset="0"/>
              </a:rPr>
              <a:t>, </a:t>
            </a:r>
          </a:p>
          <a:p>
            <a:pPr lvl="1">
              <a:buNone/>
            </a:pPr>
            <a:r>
              <a:rPr lang="en-GB" altLang="en-US" sz="2000" dirty="0">
                <a:latin typeface="Courier New" pitchFamily="49" charset="0"/>
              </a:rPr>
              <a:t>	LPCTSTR </a:t>
            </a:r>
            <a:r>
              <a:rPr lang="en-GB" altLang="en-US" sz="2000" dirty="0" err="1">
                <a:latin typeface="Courier New" pitchFamily="49" charset="0"/>
              </a:rPr>
              <a:t>lpWindowName</a:t>
            </a:r>
            <a:r>
              <a:rPr lang="en-GB" altLang="en-US" sz="2000" dirty="0">
                <a:latin typeface="Courier New" pitchFamily="49" charset="0"/>
              </a:rPr>
              <a:t>,</a:t>
            </a:r>
          </a:p>
          <a:p>
            <a:pPr lvl="1">
              <a:buNone/>
            </a:pPr>
            <a:r>
              <a:rPr lang="en-GB" altLang="en-US" sz="2000" dirty="0">
                <a:latin typeface="Courier New" pitchFamily="49" charset="0"/>
              </a:rPr>
              <a:t>	DWORD style,</a:t>
            </a:r>
          </a:p>
          <a:p>
            <a:pPr lvl="1">
              <a:buNone/>
            </a:pPr>
            <a:r>
              <a:rPr lang="en-GB" altLang="en-US" sz="2000" dirty="0">
                <a:latin typeface="Courier New" pitchFamily="49" charset="0"/>
              </a:rPr>
              <a:t>	</a:t>
            </a:r>
            <a:r>
              <a:rPr lang="en-GB" altLang="en-US" sz="2000" dirty="0" err="1">
                <a:latin typeface="Courier New" pitchFamily="49" charset="0"/>
              </a:rPr>
              <a:t>int</a:t>
            </a:r>
            <a:r>
              <a:rPr lang="en-GB" altLang="en-US" sz="2000" dirty="0">
                <a:latin typeface="Courier New" pitchFamily="49" charset="0"/>
              </a:rPr>
              <a:t> x, </a:t>
            </a:r>
          </a:p>
          <a:p>
            <a:pPr lvl="1">
              <a:buNone/>
            </a:pPr>
            <a:r>
              <a:rPr lang="en-GB" altLang="en-US" sz="2000" dirty="0">
                <a:latin typeface="Courier New" pitchFamily="49" charset="0"/>
              </a:rPr>
              <a:t>	</a:t>
            </a:r>
            <a:r>
              <a:rPr lang="en-GB" altLang="en-US" sz="2000" dirty="0" err="1">
                <a:latin typeface="Courier New" pitchFamily="49" charset="0"/>
              </a:rPr>
              <a:t>int</a:t>
            </a:r>
            <a:r>
              <a:rPr lang="en-GB" altLang="en-US" sz="2000" dirty="0">
                <a:latin typeface="Courier New" pitchFamily="49" charset="0"/>
              </a:rPr>
              <a:t> y, </a:t>
            </a:r>
          </a:p>
          <a:p>
            <a:pPr lvl="1">
              <a:buNone/>
            </a:pPr>
            <a:r>
              <a:rPr lang="en-GB" altLang="en-US" sz="2000" dirty="0">
                <a:latin typeface="Courier New" pitchFamily="49" charset="0"/>
              </a:rPr>
              <a:t>	</a:t>
            </a:r>
            <a:r>
              <a:rPr lang="en-GB" altLang="en-US" sz="2000" dirty="0" err="1">
                <a:latin typeface="Courier New" pitchFamily="49" charset="0"/>
              </a:rPr>
              <a:t>int</a:t>
            </a:r>
            <a:r>
              <a:rPr lang="en-GB" altLang="en-US" sz="2000" dirty="0">
                <a:latin typeface="Courier New" pitchFamily="49" charset="0"/>
              </a:rPr>
              <a:t> width, </a:t>
            </a:r>
          </a:p>
          <a:p>
            <a:pPr lvl="1">
              <a:buNone/>
            </a:pPr>
            <a:r>
              <a:rPr lang="en-GB" altLang="en-US" sz="2000" dirty="0">
                <a:latin typeface="Courier New" pitchFamily="49" charset="0"/>
              </a:rPr>
              <a:t>	</a:t>
            </a:r>
            <a:r>
              <a:rPr lang="en-GB" altLang="en-US" sz="2000" dirty="0" err="1">
                <a:latin typeface="Courier New" pitchFamily="49" charset="0"/>
              </a:rPr>
              <a:t>int</a:t>
            </a:r>
            <a:r>
              <a:rPr lang="en-GB" altLang="en-US" sz="2000" dirty="0">
                <a:latin typeface="Courier New" pitchFamily="49" charset="0"/>
              </a:rPr>
              <a:t> height, </a:t>
            </a:r>
          </a:p>
          <a:p>
            <a:pPr lvl="1">
              <a:buNone/>
            </a:pPr>
            <a:r>
              <a:rPr lang="en-GB" altLang="en-US" sz="2000" dirty="0">
                <a:latin typeface="Courier New" pitchFamily="49" charset="0"/>
              </a:rPr>
              <a:t>	HWND </a:t>
            </a:r>
            <a:r>
              <a:rPr lang="en-GB" altLang="en-US" sz="2000" dirty="0" err="1">
                <a:latin typeface="Courier New" pitchFamily="49" charset="0"/>
              </a:rPr>
              <a:t>hWndParent</a:t>
            </a:r>
            <a:r>
              <a:rPr lang="en-GB" altLang="en-US" sz="2000" dirty="0">
                <a:latin typeface="Courier New" pitchFamily="49" charset="0"/>
              </a:rPr>
              <a:t>,</a:t>
            </a:r>
          </a:p>
          <a:p>
            <a:pPr lvl="1">
              <a:buNone/>
            </a:pPr>
            <a:r>
              <a:rPr lang="en-GB" altLang="en-US" sz="2000" dirty="0">
                <a:latin typeface="Courier New" pitchFamily="49" charset="0"/>
              </a:rPr>
              <a:t>	HMENU </a:t>
            </a:r>
            <a:r>
              <a:rPr lang="en-GB" altLang="en-US" sz="2000" dirty="0" err="1">
                <a:latin typeface="Courier New" pitchFamily="49" charset="0"/>
              </a:rPr>
              <a:t>hMenu</a:t>
            </a:r>
            <a:r>
              <a:rPr lang="en-GB" altLang="en-US" sz="2000" dirty="0">
                <a:latin typeface="Courier New" pitchFamily="49" charset="0"/>
              </a:rPr>
              <a:t>,</a:t>
            </a:r>
          </a:p>
          <a:p>
            <a:pPr lvl="1">
              <a:buNone/>
            </a:pPr>
            <a:r>
              <a:rPr lang="en-GB" altLang="en-US" sz="2000" dirty="0">
                <a:latin typeface="Courier New" pitchFamily="49" charset="0"/>
              </a:rPr>
              <a:t>	HANDLE </a:t>
            </a:r>
            <a:r>
              <a:rPr lang="en-GB" altLang="en-US" sz="2000" dirty="0" err="1">
                <a:latin typeface="Courier New" pitchFamily="49" charset="0"/>
              </a:rPr>
              <a:t>hInstance</a:t>
            </a:r>
            <a:r>
              <a:rPr lang="en-GB" altLang="en-US" sz="2000" dirty="0">
                <a:latin typeface="Courier New" pitchFamily="49" charset="0"/>
              </a:rPr>
              <a:t>,</a:t>
            </a:r>
          </a:p>
          <a:p>
            <a:pPr lvl="1">
              <a:buNone/>
            </a:pPr>
            <a:r>
              <a:rPr lang="en-GB" altLang="en-US" sz="2000" dirty="0">
                <a:latin typeface="Courier New" pitchFamily="49" charset="0"/>
              </a:rPr>
              <a:t>	LPVOID </a:t>
            </a:r>
            <a:r>
              <a:rPr lang="en-GB" altLang="en-US" sz="2000" dirty="0" err="1">
                <a:latin typeface="Courier New" pitchFamily="49" charset="0"/>
              </a:rPr>
              <a:t>lpParam</a:t>
            </a:r>
            <a:r>
              <a:rPr lang="en-GB" altLang="en-US" sz="2000" dirty="0">
                <a:latin typeface="Courier New" pitchFamily="49" charset="0"/>
              </a:rPr>
              <a:t>);</a:t>
            </a:r>
          </a:p>
          <a:p>
            <a:endParaRPr lang="en-MY" dirty="0"/>
          </a:p>
        </p:txBody>
      </p:sp>
    </p:spTree>
    <p:extLst>
      <p:ext uri="{BB962C8B-B14F-4D97-AF65-F5344CB8AC3E}">
        <p14:creationId xmlns:p14="http://schemas.microsoft.com/office/powerpoint/2010/main" val="10117451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Windows API – Create the window</a:t>
            </a:r>
            <a:endParaRPr lang="en-MY" dirty="0"/>
          </a:p>
        </p:txBody>
      </p:sp>
      <p:sp>
        <p:nvSpPr>
          <p:cNvPr id="3" name="Content Placeholder 2"/>
          <p:cNvSpPr>
            <a:spLocks noGrp="1"/>
          </p:cNvSpPr>
          <p:nvPr>
            <p:ph idx="1"/>
          </p:nvPr>
        </p:nvSpPr>
        <p:spPr/>
        <p:txBody>
          <a:bodyPr/>
          <a:lstStyle/>
          <a:p>
            <a:pPr>
              <a:lnSpc>
                <a:spcPct val="80000"/>
              </a:lnSpc>
            </a:pPr>
            <a:r>
              <a:rPr lang="en-GB" altLang="en-US" sz="1800" b="1" dirty="0" err="1">
                <a:latin typeface="Courier New" pitchFamily="49" charset="0"/>
              </a:rPr>
              <a:t>lpClassName</a:t>
            </a:r>
            <a:r>
              <a:rPr lang="en-GB" altLang="en-US" sz="1800" b="1" dirty="0"/>
              <a:t> </a:t>
            </a:r>
          </a:p>
          <a:p>
            <a:pPr lvl="1">
              <a:lnSpc>
                <a:spcPct val="80000"/>
              </a:lnSpc>
            </a:pPr>
            <a:r>
              <a:rPr lang="en-GB" altLang="en-US" sz="1600" dirty="0"/>
              <a:t>this is class name the window is to be based on. </a:t>
            </a:r>
          </a:p>
          <a:p>
            <a:pPr lvl="1">
              <a:lnSpc>
                <a:spcPct val="80000"/>
              </a:lnSpc>
            </a:pPr>
            <a:r>
              <a:rPr lang="en-GB" altLang="en-US" sz="1600" dirty="0"/>
              <a:t>In here we enter the name we just gave to the class we registered with Windows.</a:t>
            </a:r>
          </a:p>
          <a:p>
            <a:pPr>
              <a:lnSpc>
                <a:spcPct val="80000"/>
              </a:lnSpc>
            </a:pPr>
            <a:r>
              <a:rPr lang="en-GB" altLang="en-US" sz="1800" b="1" dirty="0" err="1">
                <a:latin typeface="Courier New" pitchFamily="49" charset="0"/>
              </a:rPr>
              <a:t>lpWindowName</a:t>
            </a:r>
            <a:r>
              <a:rPr lang="en-GB" altLang="en-US" sz="1800" b="1" dirty="0"/>
              <a:t> </a:t>
            </a:r>
          </a:p>
          <a:p>
            <a:pPr lvl="1">
              <a:lnSpc>
                <a:spcPct val="80000"/>
              </a:lnSpc>
            </a:pPr>
            <a:r>
              <a:rPr lang="en-GB" altLang="en-US" sz="1600" dirty="0"/>
              <a:t>this is the title of the window that will appear in the bar at the top.</a:t>
            </a:r>
          </a:p>
          <a:p>
            <a:pPr>
              <a:lnSpc>
                <a:spcPct val="80000"/>
              </a:lnSpc>
            </a:pPr>
            <a:r>
              <a:rPr lang="en-GB" altLang="en-US" sz="1800" b="1" dirty="0">
                <a:latin typeface="Courier New" pitchFamily="49" charset="0"/>
              </a:rPr>
              <a:t>style</a:t>
            </a:r>
            <a:r>
              <a:rPr lang="en-GB" altLang="en-US" sz="1800" dirty="0"/>
              <a:t> </a:t>
            </a:r>
          </a:p>
          <a:p>
            <a:pPr lvl="1">
              <a:lnSpc>
                <a:spcPct val="80000"/>
              </a:lnSpc>
            </a:pPr>
            <a:r>
              <a:rPr lang="en-GB" altLang="en-US" sz="1600" dirty="0"/>
              <a:t>this is the style of window we want. It is the result of combining a number of flags together. You can create all sorts of different styles of window here. </a:t>
            </a:r>
          </a:p>
          <a:p>
            <a:pPr lvl="1">
              <a:lnSpc>
                <a:spcPct val="80000"/>
              </a:lnSpc>
            </a:pPr>
            <a:r>
              <a:rPr lang="en-GB" altLang="en-US" sz="1600" dirty="0"/>
              <a:t>A common one is WS_OVERLAPPEDWINDOW which is a combination of flags defining a window that has a caption, a system menu, a thick frame and a minimise and maximise box. </a:t>
            </a:r>
          </a:p>
          <a:p>
            <a:pPr lvl="1">
              <a:lnSpc>
                <a:spcPct val="80000"/>
              </a:lnSpc>
            </a:pPr>
            <a:r>
              <a:rPr lang="en-GB" altLang="en-US" sz="1600" dirty="0"/>
              <a:t>There are lots of combinations possible, other things include scroll bar, dialog frame etc. </a:t>
            </a:r>
          </a:p>
          <a:p>
            <a:pPr lvl="1">
              <a:lnSpc>
                <a:spcPct val="80000"/>
              </a:lnSpc>
            </a:pPr>
            <a:r>
              <a:rPr lang="en-GB" altLang="en-US" sz="1600" dirty="0"/>
              <a:t>Look in the MSDN help for all the possibilities.</a:t>
            </a:r>
          </a:p>
          <a:p>
            <a:pPr>
              <a:lnSpc>
                <a:spcPct val="80000"/>
              </a:lnSpc>
            </a:pPr>
            <a:r>
              <a:rPr lang="en-GB" altLang="en-US" sz="1800" b="1" dirty="0" err="1">
                <a:latin typeface="Courier New" pitchFamily="49" charset="0"/>
              </a:rPr>
              <a:t>x,y</a:t>
            </a:r>
            <a:r>
              <a:rPr lang="en-GB" altLang="en-US" sz="1800" b="1" dirty="0"/>
              <a:t> </a:t>
            </a:r>
          </a:p>
          <a:p>
            <a:pPr lvl="1">
              <a:lnSpc>
                <a:spcPct val="80000"/>
              </a:lnSpc>
            </a:pPr>
            <a:r>
              <a:rPr lang="en-GB" altLang="en-US" sz="1600" dirty="0"/>
              <a:t>this is the position in this windows parent window of the top left of the window. </a:t>
            </a:r>
          </a:p>
          <a:p>
            <a:pPr lvl="1">
              <a:lnSpc>
                <a:spcPct val="80000"/>
              </a:lnSpc>
            </a:pPr>
            <a:r>
              <a:rPr lang="en-GB" altLang="en-US" sz="1600" dirty="0"/>
              <a:t>If the window has no parent it is the x, y position relative to the desktop. *</a:t>
            </a:r>
          </a:p>
          <a:p>
            <a:endParaRPr lang="en-MY" dirty="0"/>
          </a:p>
        </p:txBody>
      </p:sp>
    </p:spTree>
    <p:extLst>
      <p:ext uri="{BB962C8B-B14F-4D97-AF65-F5344CB8AC3E}">
        <p14:creationId xmlns:p14="http://schemas.microsoft.com/office/powerpoint/2010/main" val="18747058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Windows API – Create the window</a:t>
            </a:r>
            <a:endParaRPr lang="en-MY" dirty="0"/>
          </a:p>
        </p:txBody>
      </p:sp>
      <p:sp>
        <p:nvSpPr>
          <p:cNvPr id="3" name="Content Placeholder 2"/>
          <p:cNvSpPr>
            <a:spLocks noGrp="1"/>
          </p:cNvSpPr>
          <p:nvPr>
            <p:ph idx="1"/>
          </p:nvPr>
        </p:nvSpPr>
        <p:spPr/>
        <p:txBody>
          <a:bodyPr/>
          <a:lstStyle/>
          <a:p>
            <a:pPr>
              <a:lnSpc>
                <a:spcPct val="80000"/>
              </a:lnSpc>
            </a:pPr>
            <a:r>
              <a:rPr lang="en-GB" altLang="en-US" sz="1800" b="1" dirty="0">
                <a:latin typeface="Courier New" pitchFamily="49" charset="0"/>
              </a:rPr>
              <a:t>width, height</a:t>
            </a:r>
            <a:r>
              <a:rPr lang="en-GB" altLang="en-US" sz="1800" dirty="0"/>
              <a:t> </a:t>
            </a:r>
          </a:p>
          <a:p>
            <a:pPr lvl="1">
              <a:lnSpc>
                <a:spcPct val="80000"/>
              </a:lnSpc>
            </a:pPr>
            <a:r>
              <a:rPr lang="en-GB" altLang="en-US" sz="1600" dirty="0"/>
              <a:t>simply the required width and height of the window to start with. *</a:t>
            </a:r>
          </a:p>
          <a:p>
            <a:pPr>
              <a:lnSpc>
                <a:spcPct val="80000"/>
              </a:lnSpc>
            </a:pPr>
            <a:r>
              <a:rPr lang="en-GB" altLang="en-US" sz="1800" b="1" dirty="0" err="1">
                <a:latin typeface="Courier New" pitchFamily="49" charset="0"/>
              </a:rPr>
              <a:t>hWndParent</a:t>
            </a:r>
            <a:r>
              <a:rPr lang="en-GB" altLang="en-US" sz="1800" dirty="0"/>
              <a:t> </a:t>
            </a:r>
          </a:p>
          <a:p>
            <a:pPr lvl="1">
              <a:lnSpc>
                <a:spcPct val="80000"/>
              </a:lnSpc>
            </a:pPr>
            <a:r>
              <a:rPr lang="en-GB" altLang="en-US" sz="1600" dirty="0"/>
              <a:t>if this is a child window of another window you need to give the parents handle here, otherwise use NULL.</a:t>
            </a:r>
          </a:p>
          <a:p>
            <a:pPr>
              <a:lnSpc>
                <a:spcPct val="80000"/>
              </a:lnSpc>
            </a:pPr>
            <a:r>
              <a:rPr lang="en-GB" altLang="en-US" sz="1800" b="1" dirty="0" err="1">
                <a:latin typeface="Courier New" pitchFamily="49" charset="0"/>
              </a:rPr>
              <a:t>hMenu</a:t>
            </a:r>
            <a:r>
              <a:rPr lang="en-GB" altLang="en-US" sz="1800" dirty="0"/>
              <a:t> </a:t>
            </a:r>
          </a:p>
          <a:p>
            <a:pPr lvl="1">
              <a:lnSpc>
                <a:spcPct val="80000"/>
              </a:lnSpc>
            </a:pPr>
            <a:r>
              <a:rPr lang="en-GB" altLang="en-US" sz="1600" dirty="0"/>
              <a:t>if your window uses a menu you will have defined it in the resource editor. If you leave this entry as NULL the class menu will be used (see above) otherwise you can change it to use a different menu.</a:t>
            </a:r>
          </a:p>
          <a:p>
            <a:pPr>
              <a:lnSpc>
                <a:spcPct val="80000"/>
              </a:lnSpc>
            </a:pPr>
            <a:r>
              <a:rPr lang="en-GB" altLang="en-US" sz="1800" b="1" dirty="0" err="1">
                <a:latin typeface="Courier New" pitchFamily="49" charset="0"/>
              </a:rPr>
              <a:t>hInstance</a:t>
            </a:r>
            <a:r>
              <a:rPr lang="en-GB" altLang="en-US" sz="1800" dirty="0"/>
              <a:t> </a:t>
            </a:r>
          </a:p>
          <a:p>
            <a:pPr lvl="1">
              <a:lnSpc>
                <a:spcPct val="80000"/>
              </a:lnSpc>
            </a:pPr>
            <a:r>
              <a:rPr lang="en-GB" altLang="en-US" sz="1600" dirty="0"/>
              <a:t>the program instance that was passed to us.</a:t>
            </a:r>
          </a:p>
          <a:p>
            <a:pPr>
              <a:lnSpc>
                <a:spcPct val="80000"/>
              </a:lnSpc>
            </a:pPr>
            <a:r>
              <a:rPr lang="en-GB" altLang="en-US" sz="1800" b="1" dirty="0" err="1">
                <a:latin typeface="Courier New" pitchFamily="49" charset="0"/>
              </a:rPr>
              <a:t>lpParam</a:t>
            </a:r>
            <a:r>
              <a:rPr lang="en-GB" altLang="en-US" sz="1800" b="1" dirty="0"/>
              <a:t> </a:t>
            </a:r>
          </a:p>
          <a:p>
            <a:pPr lvl="1">
              <a:lnSpc>
                <a:spcPct val="80000"/>
              </a:lnSpc>
            </a:pPr>
            <a:r>
              <a:rPr lang="en-GB" altLang="en-US" sz="1600" dirty="0"/>
              <a:t>this is a pointer to anything you want to pass to your windows procedure when the window is created. Normally NULL.</a:t>
            </a:r>
          </a:p>
          <a:p>
            <a:pPr>
              <a:lnSpc>
                <a:spcPct val="80000"/>
              </a:lnSpc>
            </a:pPr>
            <a:endParaRPr lang="en-GB" altLang="en-US" sz="1800" dirty="0"/>
          </a:p>
          <a:p>
            <a:pPr>
              <a:lnSpc>
                <a:spcPct val="80000"/>
              </a:lnSpc>
            </a:pPr>
            <a:r>
              <a:rPr lang="en-GB" altLang="en-US" sz="1800" dirty="0"/>
              <a:t>Windows will fill in default x, y and w, h values for you if you wish. If you want this then instead of entering an exact value here you instead write CW_USEDEFAULT. This is useful as you do not know what resolution a user of your program has their desktop set to.</a:t>
            </a:r>
          </a:p>
          <a:p>
            <a:pPr>
              <a:lnSpc>
                <a:spcPct val="80000"/>
              </a:lnSpc>
            </a:pPr>
            <a:r>
              <a:rPr lang="en-GB" altLang="en-US" sz="1800" dirty="0"/>
              <a:t>More about </a:t>
            </a:r>
            <a:r>
              <a:rPr lang="en-GB" altLang="en-US" sz="1800" dirty="0" err="1"/>
              <a:t>CreateWindow</a:t>
            </a:r>
            <a:r>
              <a:rPr lang="en-GB" altLang="en-US" sz="1800" dirty="0"/>
              <a:t> at </a:t>
            </a:r>
            <a:r>
              <a:rPr lang="en-GB" altLang="en-US" sz="1800" dirty="0">
                <a:hlinkClick r:id="rId2"/>
              </a:rPr>
              <a:t>http://msdn.microsoft.com/en-us/library/ms632679(v=vs.85).aspx</a:t>
            </a:r>
            <a:endParaRPr lang="en-GB" altLang="en-US" sz="1800" dirty="0"/>
          </a:p>
          <a:p>
            <a:endParaRPr lang="en-MY" dirty="0"/>
          </a:p>
        </p:txBody>
      </p:sp>
    </p:spTree>
    <p:extLst>
      <p:ext uri="{BB962C8B-B14F-4D97-AF65-F5344CB8AC3E}">
        <p14:creationId xmlns:p14="http://schemas.microsoft.com/office/powerpoint/2010/main" val="1972374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Windows API – Create the window</a:t>
            </a:r>
            <a:endParaRPr lang="en-MY" dirty="0"/>
          </a:p>
        </p:txBody>
      </p:sp>
      <p:sp>
        <p:nvSpPr>
          <p:cNvPr id="3" name="Content Placeholder 2"/>
          <p:cNvSpPr>
            <a:spLocks noGrp="1"/>
          </p:cNvSpPr>
          <p:nvPr>
            <p:ph idx="1"/>
          </p:nvPr>
        </p:nvSpPr>
        <p:spPr/>
        <p:txBody>
          <a:bodyPr>
            <a:normAutofit fontScale="55000" lnSpcReduction="20000"/>
          </a:bodyPr>
          <a:lstStyle/>
          <a:p>
            <a:pPr>
              <a:buFontTx/>
              <a:buNone/>
            </a:pPr>
            <a:r>
              <a:rPr lang="en-GB" altLang="en-US" dirty="0">
                <a:latin typeface="Courier New" pitchFamily="49" charset="0"/>
                <a:cs typeface="Courier New" pitchFamily="49" charset="0"/>
              </a:rPr>
              <a:t>//Create the window</a:t>
            </a:r>
          </a:p>
          <a:p>
            <a:pPr>
              <a:buFontTx/>
              <a:buNone/>
            </a:pPr>
            <a:r>
              <a:rPr lang="en-GB" altLang="en-US" dirty="0">
                <a:latin typeface="Courier New" pitchFamily="49" charset="0"/>
                <a:cs typeface="Courier New" pitchFamily="49" charset="0"/>
              </a:rPr>
              <a:t>	</a:t>
            </a:r>
            <a:r>
              <a:rPr lang="en-GB" altLang="en-US" dirty="0" err="1">
                <a:latin typeface="Courier New" pitchFamily="49" charset="0"/>
                <a:cs typeface="Courier New" pitchFamily="49" charset="0"/>
              </a:rPr>
              <a:t>wndHandle</a:t>
            </a:r>
            <a:r>
              <a:rPr lang="en-GB" altLang="en-US" dirty="0">
                <a:latin typeface="Courier New" pitchFamily="49" charset="0"/>
                <a:cs typeface="Courier New" pitchFamily="49" charset="0"/>
              </a:rPr>
              <a:t> = </a:t>
            </a:r>
            <a:r>
              <a:rPr lang="en-GB" altLang="en-US" dirty="0" err="1">
                <a:latin typeface="Courier New" pitchFamily="49" charset="0"/>
                <a:cs typeface="Courier New" pitchFamily="49" charset="0"/>
              </a:rPr>
              <a:t>CreateWindow</a:t>
            </a:r>
            <a:r>
              <a:rPr lang="en-GB" altLang="en-US" dirty="0">
                <a:latin typeface="Courier New" pitchFamily="49" charset="0"/>
                <a:cs typeface="Courier New" pitchFamily="49" charset="0"/>
              </a:rPr>
              <a:t>(</a:t>
            </a:r>
            <a:endParaRPr lang="en-MY" altLang="en-US" dirty="0">
              <a:latin typeface="Courier New" pitchFamily="49" charset="0"/>
              <a:cs typeface="Courier New" pitchFamily="49" charset="0"/>
            </a:endParaRPr>
          </a:p>
          <a:p>
            <a:pPr>
              <a:buFontTx/>
              <a:buNone/>
            </a:pPr>
            <a:r>
              <a:rPr lang="en-MY" altLang="en-US" dirty="0">
                <a:latin typeface="Courier New" pitchFamily="49" charset="0"/>
                <a:cs typeface="Courier New" pitchFamily="49" charset="0"/>
              </a:rPr>
              <a:t>				TEXT("</a:t>
            </a:r>
            <a:r>
              <a:rPr lang="en-MY" altLang="en-US" dirty="0" err="1">
                <a:latin typeface="Courier New" pitchFamily="49" charset="0"/>
                <a:cs typeface="Courier New" pitchFamily="49" charset="0"/>
              </a:rPr>
              <a:t>WinAPI_Window</a:t>
            </a:r>
            <a:r>
              <a:rPr lang="en-MY" altLang="en-US" dirty="0">
                <a:latin typeface="Courier New" pitchFamily="49" charset="0"/>
                <a:cs typeface="Courier New" pitchFamily="49" charset="0"/>
              </a:rPr>
              <a:t>"), //the window class name </a:t>
            </a:r>
          </a:p>
          <a:p>
            <a:pPr>
              <a:buFontTx/>
              <a:buNone/>
            </a:pPr>
            <a:r>
              <a:rPr lang="en-MY" altLang="en-US" dirty="0">
                <a:latin typeface="Courier New" pitchFamily="49" charset="0"/>
                <a:cs typeface="Courier New" pitchFamily="49" charset="0"/>
              </a:rPr>
              <a:t>				TEXT("Game Window"), //title on title bar</a:t>
            </a:r>
          </a:p>
          <a:p>
            <a:pPr>
              <a:buFontTx/>
              <a:buNone/>
            </a:pPr>
            <a:r>
              <a:rPr lang="en-MY" altLang="en-US" dirty="0">
                <a:latin typeface="Courier New" pitchFamily="49" charset="0"/>
                <a:cs typeface="Courier New" pitchFamily="49" charset="0"/>
              </a:rPr>
              <a:t>				WS_OVERLAPPEDWINDOW, //the window style: 				//WS_OVERLAPPEDWINDOW (windowed) </a:t>
            </a:r>
          </a:p>
          <a:p>
            <a:pPr>
              <a:buFontTx/>
              <a:buNone/>
            </a:pPr>
            <a:r>
              <a:rPr lang="en-MY" altLang="en-US" dirty="0">
                <a:latin typeface="Courier New" pitchFamily="49" charset="0"/>
                <a:cs typeface="Courier New" pitchFamily="49" charset="0"/>
              </a:rPr>
              <a:t>				CW_USEDEFAULT, //the starting x coordinate</a:t>
            </a:r>
          </a:p>
          <a:p>
            <a:pPr>
              <a:buFontTx/>
              <a:buNone/>
            </a:pPr>
            <a:r>
              <a:rPr lang="en-MY" altLang="en-US" dirty="0">
                <a:latin typeface="Courier New" pitchFamily="49" charset="0"/>
                <a:cs typeface="Courier New" pitchFamily="49" charset="0"/>
              </a:rPr>
              <a:t>				CW_USEDEFAULT, //the starting y coordinate</a:t>
            </a:r>
          </a:p>
          <a:p>
            <a:pPr>
              <a:buFontTx/>
              <a:buNone/>
            </a:pPr>
            <a:r>
              <a:rPr lang="en-MY" altLang="en-US" dirty="0">
                <a:latin typeface="Courier New" pitchFamily="49" charset="0"/>
                <a:cs typeface="Courier New" pitchFamily="49" charset="0"/>
              </a:rPr>
              <a:t>				640, //the pixel width of the window</a:t>
            </a:r>
          </a:p>
          <a:p>
            <a:pPr>
              <a:buFontTx/>
              <a:buNone/>
            </a:pPr>
            <a:r>
              <a:rPr lang="en-MY" altLang="en-US" dirty="0">
                <a:latin typeface="Courier New" pitchFamily="49" charset="0"/>
                <a:cs typeface="Courier New" pitchFamily="49" charset="0"/>
              </a:rPr>
              <a:t>				480, //the pixel height of the window</a:t>
            </a:r>
          </a:p>
          <a:p>
            <a:pPr>
              <a:buFontTx/>
              <a:buNone/>
            </a:pPr>
            <a:r>
              <a:rPr lang="en-MY" altLang="en-US" dirty="0">
                <a:latin typeface="Courier New" pitchFamily="49" charset="0"/>
                <a:cs typeface="Courier New" pitchFamily="49" charset="0"/>
              </a:rPr>
              <a:t>				NULL, //the parent window - NULL</a:t>
            </a:r>
          </a:p>
          <a:p>
            <a:pPr>
              <a:buFontTx/>
              <a:buNone/>
            </a:pPr>
            <a:r>
              <a:rPr lang="en-MY" altLang="en-US" dirty="0">
                <a:latin typeface="Courier New" pitchFamily="49" charset="0"/>
                <a:cs typeface="Courier New" pitchFamily="49" charset="0"/>
              </a:rPr>
              <a:t>				NULL, //the menu for the application</a:t>
            </a:r>
          </a:p>
          <a:p>
            <a:pPr>
              <a:buFontTx/>
              <a:buNone/>
            </a:pPr>
            <a:r>
              <a:rPr lang="en-MY" altLang="en-US" dirty="0">
                <a:latin typeface="Courier New" pitchFamily="49" charset="0"/>
                <a:cs typeface="Courier New" pitchFamily="49" charset="0"/>
              </a:rPr>
              <a:t>				</a:t>
            </a:r>
            <a:r>
              <a:rPr lang="en-MY" altLang="en-US" dirty="0" err="1">
                <a:latin typeface="Courier New" pitchFamily="49" charset="0"/>
                <a:cs typeface="Courier New" pitchFamily="49" charset="0"/>
              </a:rPr>
              <a:t>hInstance</a:t>
            </a:r>
            <a:r>
              <a:rPr lang="en-MY" altLang="en-US" dirty="0">
                <a:latin typeface="Courier New" pitchFamily="49" charset="0"/>
                <a:cs typeface="Courier New" pitchFamily="49" charset="0"/>
              </a:rPr>
              <a:t>, //the handle to the </a:t>
            </a:r>
          </a:p>
          <a:p>
            <a:pPr>
              <a:buFontTx/>
              <a:buNone/>
            </a:pPr>
            <a:r>
              <a:rPr lang="en-MY" altLang="en-US" dirty="0">
                <a:latin typeface="Courier New" pitchFamily="49" charset="0"/>
                <a:cs typeface="Courier New" pitchFamily="49" charset="0"/>
              </a:rPr>
              <a:t>					  //application instance</a:t>
            </a:r>
          </a:p>
          <a:p>
            <a:pPr>
              <a:buFontTx/>
              <a:buNone/>
            </a:pPr>
            <a:r>
              <a:rPr lang="en-MY" altLang="en-US" dirty="0">
                <a:latin typeface="Courier New" pitchFamily="49" charset="0"/>
                <a:cs typeface="Courier New" pitchFamily="49" charset="0"/>
              </a:rPr>
              <a:t>				NULL); //no values to pass to the window</a:t>
            </a:r>
          </a:p>
          <a:p>
            <a:pPr>
              <a:buFontTx/>
              <a:buNone/>
            </a:pPr>
            <a:endParaRPr lang="en-MY" altLang="en-US" dirty="0">
              <a:latin typeface="Courier New" pitchFamily="49" charset="0"/>
              <a:cs typeface="Courier New" pitchFamily="49" charset="0"/>
            </a:endParaRPr>
          </a:p>
          <a:p>
            <a:pPr>
              <a:buFontTx/>
              <a:buNone/>
            </a:pPr>
            <a:r>
              <a:rPr lang="en-GB" altLang="en-US" dirty="0">
                <a:latin typeface="Courier New" pitchFamily="49" charset="0"/>
                <a:cs typeface="Courier New" pitchFamily="49" charset="0"/>
              </a:rPr>
              <a:t>	if(!</a:t>
            </a:r>
            <a:r>
              <a:rPr lang="en-GB" altLang="en-US" dirty="0" err="1">
                <a:latin typeface="Courier New" pitchFamily="49" charset="0"/>
                <a:cs typeface="Courier New" pitchFamily="49" charset="0"/>
              </a:rPr>
              <a:t>wndHandle</a:t>
            </a:r>
            <a:r>
              <a:rPr lang="en-GB" altLang="en-US" dirty="0">
                <a:latin typeface="Courier New" pitchFamily="49" charset="0"/>
                <a:cs typeface="Courier New" pitchFamily="49" charset="0"/>
              </a:rPr>
              <a:t>)</a:t>
            </a:r>
          </a:p>
          <a:p>
            <a:pPr>
              <a:buFontTx/>
              <a:buNone/>
            </a:pPr>
            <a:r>
              <a:rPr lang="en-GB" altLang="en-US" dirty="0">
                <a:latin typeface="Courier New" pitchFamily="49" charset="0"/>
                <a:cs typeface="Courier New" pitchFamily="49" charset="0"/>
              </a:rPr>
              <a:t>	{</a:t>
            </a:r>
          </a:p>
          <a:p>
            <a:pPr>
              <a:buFontTx/>
              <a:buNone/>
            </a:pPr>
            <a:r>
              <a:rPr lang="en-GB" altLang="en-US" dirty="0">
                <a:latin typeface="Courier New" pitchFamily="49" charset="0"/>
                <a:cs typeface="Courier New" pitchFamily="49" charset="0"/>
              </a:rPr>
              <a:t>		return false;</a:t>
            </a:r>
          </a:p>
          <a:p>
            <a:pPr>
              <a:buFontTx/>
              <a:buNone/>
            </a:pPr>
            <a:r>
              <a:rPr lang="en-GB" altLang="en-US" dirty="0">
                <a:latin typeface="Courier New" pitchFamily="49" charset="0"/>
                <a:cs typeface="Courier New" pitchFamily="49" charset="0"/>
              </a:rPr>
              <a:t>	}</a:t>
            </a:r>
          </a:p>
          <a:p>
            <a:pPr marL="0" indent="0">
              <a:buNone/>
            </a:pPr>
            <a:endParaRPr lang="en-MY" dirty="0"/>
          </a:p>
        </p:txBody>
      </p:sp>
    </p:spTree>
    <p:extLst>
      <p:ext uri="{BB962C8B-B14F-4D97-AF65-F5344CB8AC3E}">
        <p14:creationId xmlns:p14="http://schemas.microsoft.com/office/powerpoint/2010/main" val="30779054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Windows API – Show the window</a:t>
            </a:r>
            <a:endParaRPr lang="en-MY" dirty="0"/>
          </a:p>
        </p:txBody>
      </p:sp>
      <p:sp>
        <p:nvSpPr>
          <p:cNvPr id="3" name="Content Placeholder 2"/>
          <p:cNvSpPr>
            <a:spLocks noGrp="1"/>
          </p:cNvSpPr>
          <p:nvPr>
            <p:ph idx="1"/>
          </p:nvPr>
        </p:nvSpPr>
        <p:spPr/>
        <p:txBody>
          <a:bodyPr/>
          <a:lstStyle/>
          <a:p>
            <a:r>
              <a:rPr lang="en-GB" altLang="en-US" dirty="0"/>
              <a:t>Tell Windows to display the window and update it you need to call the following functions:</a:t>
            </a:r>
          </a:p>
          <a:p>
            <a:endParaRPr lang="en-GB" altLang="en-US" b="1" dirty="0"/>
          </a:p>
          <a:p>
            <a:pPr>
              <a:buNone/>
            </a:pPr>
            <a:r>
              <a:rPr lang="en-GB" altLang="en-US" dirty="0">
                <a:latin typeface="Courier New" pitchFamily="49" charset="0"/>
              </a:rPr>
              <a:t>	</a:t>
            </a:r>
            <a:r>
              <a:rPr lang="en-GB" altLang="en-US" dirty="0" err="1">
                <a:latin typeface="Courier New" pitchFamily="49" charset="0"/>
              </a:rPr>
              <a:t>ShowWindow</a:t>
            </a:r>
            <a:r>
              <a:rPr lang="en-GB" altLang="en-US" dirty="0">
                <a:latin typeface="Courier New" pitchFamily="49" charset="0"/>
              </a:rPr>
              <a:t>(</a:t>
            </a:r>
            <a:r>
              <a:rPr lang="en-GB" altLang="en-US" dirty="0" err="1">
                <a:latin typeface="Courier New" pitchFamily="49" charset="0"/>
              </a:rPr>
              <a:t>hWnd</a:t>
            </a:r>
            <a:r>
              <a:rPr lang="en-GB" altLang="en-US" dirty="0">
                <a:latin typeface="Courier New" pitchFamily="49" charset="0"/>
              </a:rPr>
              <a:t>, </a:t>
            </a:r>
            <a:r>
              <a:rPr lang="en-GB" altLang="en-US" dirty="0" err="1">
                <a:latin typeface="Courier New" pitchFamily="49" charset="0"/>
              </a:rPr>
              <a:t>nCmdShow</a:t>
            </a:r>
            <a:r>
              <a:rPr lang="en-GB" altLang="en-US" dirty="0">
                <a:latin typeface="Courier New" pitchFamily="49" charset="0"/>
              </a:rPr>
              <a:t>);</a:t>
            </a:r>
            <a:br>
              <a:rPr lang="en-GB" altLang="en-US" dirty="0">
                <a:latin typeface="Courier New" pitchFamily="49" charset="0"/>
              </a:rPr>
            </a:br>
            <a:r>
              <a:rPr lang="en-GB" altLang="en-US" dirty="0" err="1">
                <a:latin typeface="Courier New" pitchFamily="49" charset="0"/>
              </a:rPr>
              <a:t>UpdateWindow</a:t>
            </a:r>
            <a:r>
              <a:rPr lang="en-GB" altLang="en-US" dirty="0">
                <a:latin typeface="Courier New" pitchFamily="49" charset="0"/>
              </a:rPr>
              <a:t>(</a:t>
            </a:r>
            <a:r>
              <a:rPr lang="en-GB" altLang="en-US" dirty="0" err="1">
                <a:latin typeface="Courier New" pitchFamily="49" charset="0"/>
              </a:rPr>
              <a:t>hWnd</a:t>
            </a:r>
            <a:r>
              <a:rPr lang="en-GB" altLang="en-US" dirty="0">
                <a:latin typeface="Courier New" pitchFamily="49" charset="0"/>
              </a:rPr>
              <a:t>);</a:t>
            </a:r>
          </a:p>
          <a:p>
            <a:pPr>
              <a:buNone/>
            </a:pPr>
            <a:endParaRPr lang="en-GB" altLang="en-US" dirty="0">
              <a:latin typeface="Courier New" pitchFamily="49" charset="0"/>
            </a:endParaRPr>
          </a:p>
          <a:p>
            <a:pPr>
              <a:buNone/>
            </a:pPr>
            <a:r>
              <a:rPr lang="en-GB" altLang="en-US" dirty="0">
                <a:latin typeface="Courier New" pitchFamily="49" charset="0"/>
              </a:rPr>
              <a:t>From Previous Example:</a:t>
            </a:r>
          </a:p>
          <a:p>
            <a:pPr>
              <a:buNone/>
            </a:pPr>
            <a:r>
              <a:rPr lang="en-GB" altLang="en-US" dirty="0">
                <a:latin typeface="Courier New" pitchFamily="49" charset="0"/>
              </a:rPr>
              <a:t>	</a:t>
            </a:r>
            <a:r>
              <a:rPr lang="en-GB" altLang="en-US" dirty="0" err="1">
                <a:latin typeface="Courier New" pitchFamily="49" charset="0"/>
              </a:rPr>
              <a:t>ShowWindow</a:t>
            </a:r>
            <a:r>
              <a:rPr lang="en-GB" altLang="en-US" dirty="0">
                <a:latin typeface="Courier New" pitchFamily="49" charset="0"/>
              </a:rPr>
              <a:t>(</a:t>
            </a:r>
            <a:r>
              <a:rPr lang="en-GB" altLang="en-US" dirty="0" err="1">
                <a:latin typeface="Courier New" pitchFamily="49" charset="0"/>
                <a:cs typeface="Courier New" pitchFamily="49" charset="0"/>
              </a:rPr>
              <a:t>wndHandle</a:t>
            </a:r>
            <a:r>
              <a:rPr lang="en-GB" altLang="en-US" dirty="0">
                <a:latin typeface="Courier New" pitchFamily="49" charset="0"/>
              </a:rPr>
              <a:t>, </a:t>
            </a:r>
            <a:r>
              <a:rPr lang="en-GB" altLang="en-US" dirty="0" err="1">
                <a:latin typeface="Courier New" pitchFamily="49" charset="0"/>
              </a:rPr>
              <a:t>nCmdShow</a:t>
            </a:r>
            <a:r>
              <a:rPr lang="en-GB" altLang="en-US" dirty="0">
                <a:latin typeface="Courier New" pitchFamily="49" charset="0"/>
              </a:rPr>
              <a:t>);</a:t>
            </a:r>
            <a:br>
              <a:rPr lang="en-GB" altLang="en-US" dirty="0">
                <a:latin typeface="Courier New" pitchFamily="49" charset="0"/>
              </a:rPr>
            </a:br>
            <a:r>
              <a:rPr lang="en-GB" altLang="en-US" dirty="0" err="1">
                <a:latin typeface="Courier New" pitchFamily="49" charset="0"/>
              </a:rPr>
              <a:t>UpdateWindow</a:t>
            </a:r>
            <a:r>
              <a:rPr lang="en-GB" altLang="en-US" dirty="0">
                <a:latin typeface="Courier New" pitchFamily="49" charset="0"/>
              </a:rPr>
              <a:t>(</a:t>
            </a:r>
            <a:r>
              <a:rPr lang="en-GB" altLang="en-US" dirty="0" err="1">
                <a:latin typeface="Courier New" pitchFamily="49" charset="0"/>
                <a:cs typeface="Courier New" pitchFamily="49" charset="0"/>
              </a:rPr>
              <a:t>wndHandle</a:t>
            </a:r>
            <a:r>
              <a:rPr lang="en-GB" altLang="en-US" dirty="0">
                <a:latin typeface="Courier New" pitchFamily="49" charset="0"/>
              </a:rPr>
              <a:t>);</a:t>
            </a:r>
          </a:p>
          <a:p>
            <a:endParaRPr lang="en-MY" dirty="0"/>
          </a:p>
        </p:txBody>
      </p:sp>
    </p:spTree>
    <p:extLst>
      <p:ext uri="{BB962C8B-B14F-4D97-AF65-F5344CB8AC3E}">
        <p14:creationId xmlns:p14="http://schemas.microsoft.com/office/powerpoint/2010/main" val="25559881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Windows API – Message Loop</a:t>
            </a:r>
            <a:endParaRPr lang="en-MY" dirty="0"/>
          </a:p>
        </p:txBody>
      </p:sp>
      <p:sp>
        <p:nvSpPr>
          <p:cNvPr id="3" name="Content Placeholder 2"/>
          <p:cNvSpPr>
            <a:spLocks noGrp="1"/>
          </p:cNvSpPr>
          <p:nvPr>
            <p:ph idx="1"/>
          </p:nvPr>
        </p:nvSpPr>
        <p:spPr/>
        <p:txBody>
          <a:bodyPr>
            <a:normAutofit lnSpcReduction="10000"/>
          </a:bodyPr>
          <a:lstStyle/>
          <a:p>
            <a:pPr>
              <a:lnSpc>
                <a:spcPct val="90000"/>
              </a:lnSpc>
            </a:pPr>
            <a:r>
              <a:rPr lang="en-GB" altLang="en-US" dirty="0"/>
              <a:t>Windows sends some messages directly to your </a:t>
            </a:r>
            <a:r>
              <a:rPr lang="en-GB" altLang="en-US" dirty="0" err="1"/>
              <a:t>callback</a:t>
            </a:r>
            <a:r>
              <a:rPr lang="en-GB" altLang="en-US" dirty="0"/>
              <a:t> function but others are placed in a queue. </a:t>
            </a:r>
          </a:p>
          <a:p>
            <a:pPr>
              <a:lnSpc>
                <a:spcPct val="90000"/>
              </a:lnSpc>
            </a:pPr>
            <a:r>
              <a:rPr lang="en-GB" altLang="en-US" dirty="0"/>
              <a:t>These tend to be keyboard messages or other input that may need translating. We enter a loop that checks for queued messages. </a:t>
            </a:r>
          </a:p>
          <a:p>
            <a:pPr>
              <a:lnSpc>
                <a:spcPct val="90000"/>
              </a:lnSpc>
            </a:pPr>
            <a:r>
              <a:rPr lang="en-GB" altLang="en-US" dirty="0"/>
              <a:t>If one is found it is translated and dispatched to our windows procedure. </a:t>
            </a:r>
          </a:p>
          <a:p>
            <a:pPr>
              <a:lnSpc>
                <a:spcPct val="90000"/>
              </a:lnSpc>
            </a:pPr>
            <a:endParaRPr lang="en-GB" altLang="en-US" dirty="0"/>
          </a:p>
          <a:p>
            <a:pPr>
              <a:lnSpc>
                <a:spcPct val="90000"/>
              </a:lnSpc>
              <a:buNone/>
            </a:pPr>
            <a:r>
              <a:rPr lang="en-GB" altLang="en-US" dirty="0">
                <a:latin typeface="Courier New" pitchFamily="49" charset="0"/>
              </a:rPr>
              <a:t>	MSG </a:t>
            </a:r>
            <a:r>
              <a:rPr lang="en-GB" altLang="en-US" dirty="0" err="1">
                <a:latin typeface="Courier New" pitchFamily="49" charset="0"/>
              </a:rPr>
              <a:t>msg</a:t>
            </a:r>
            <a:r>
              <a:rPr lang="en-GB" altLang="en-US" dirty="0">
                <a:latin typeface="Courier New" pitchFamily="49" charset="0"/>
              </a:rPr>
              <a:t>;</a:t>
            </a:r>
            <a:br>
              <a:rPr lang="en-GB" altLang="en-US" dirty="0">
                <a:latin typeface="Courier New" pitchFamily="49" charset="0"/>
              </a:rPr>
            </a:br>
            <a:r>
              <a:rPr lang="en-GB" altLang="en-US" dirty="0">
                <a:latin typeface="Courier New" pitchFamily="49" charset="0"/>
              </a:rPr>
              <a:t>while (</a:t>
            </a:r>
            <a:r>
              <a:rPr lang="en-GB" altLang="en-US" dirty="0" err="1">
                <a:latin typeface="Courier New" pitchFamily="49" charset="0"/>
              </a:rPr>
              <a:t>GetMessage</a:t>
            </a:r>
            <a:r>
              <a:rPr lang="en-GB" altLang="en-US" dirty="0">
                <a:latin typeface="Courier New" pitchFamily="49" charset="0"/>
              </a:rPr>
              <a:t>(&amp;</a:t>
            </a:r>
            <a:r>
              <a:rPr lang="en-GB" altLang="en-US" dirty="0" err="1">
                <a:latin typeface="Courier New" pitchFamily="49" charset="0"/>
              </a:rPr>
              <a:t>msg</a:t>
            </a:r>
            <a:r>
              <a:rPr lang="en-GB" altLang="en-US" dirty="0">
                <a:latin typeface="Courier New" pitchFamily="49" charset="0"/>
              </a:rPr>
              <a:t>, NULL, 0, 0)) </a:t>
            </a:r>
            <a:br>
              <a:rPr lang="en-GB" altLang="en-US" dirty="0">
                <a:latin typeface="Courier New" pitchFamily="49" charset="0"/>
              </a:rPr>
            </a:br>
            <a:r>
              <a:rPr lang="en-GB" altLang="en-US" dirty="0">
                <a:latin typeface="Courier New" pitchFamily="49" charset="0"/>
              </a:rPr>
              <a:t>{</a:t>
            </a:r>
            <a:br>
              <a:rPr lang="en-GB" altLang="en-US" dirty="0">
                <a:latin typeface="Courier New" pitchFamily="49" charset="0"/>
              </a:rPr>
            </a:br>
            <a:r>
              <a:rPr lang="en-GB" altLang="en-US" dirty="0">
                <a:latin typeface="Courier New" pitchFamily="49" charset="0"/>
              </a:rPr>
              <a:t>     </a:t>
            </a:r>
            <a:r>
              <a:rPr lang="en-GB" altLang="en-US" dirty="0" err="1">
                <a:latin typeface="Courier New" pitchFamily="49" charset="0"/>
              </a:rPr>
              <a:t>TranslateMessage</a:t>
            </a:r>
            <a:r>
              <a:rPr lang="en-GB" altLang="en-US" dirty="0">
                <a:latin typeface="Courier New" pitchFamily="49" charset="0"/>
              </a:rPr>
              <a:t>(&amp;</a:t>
            </a:r>
            <a:r>
              <a:rPr lang="en-GB" altLang="en-US" dirty="0" err="1">
                <a:latin typeface="Courier New" pitchFamily="49" charset="0"/>
              </a:rPr>
              <a:t>msg</a:t>
            </a:r>
            <a:r>
              <a:rPr lang="en-GB" altLang="en-US" dirty="0">
                <a:latin typeface="Courier New" pitchFamily="49" charset="0"/>
              </a:rPr>
              <a:t>);</a:t>
            </a:r>
            <a:br>
              <a:rPr lang="en-GB" altLang="en-US" dirty="0">
                <a:latin typeface="Courier New" pitchFamily="49" charset="0"/>
              </a:rPr>
            </a:br>
            <a:r>
              <a:rPr lang="en-GB" altLang="en-US" dirty="0">
                <a:latin typeface="Courier New" pitchFamily="49" charset="0"/>
              </a:rPr>
              <a:t>     </a:t>
            </a:r>
            <a:r>
              <a:rPr lang="en-GB" altLang="en-US" dirty="0" err="1">
                <a:latin typeface="Courier New" pitchFamily="49" charset="0"/>
              </a:rPr>
              <a:t>DispatchMessage</a:t>
            </a:r>
            <a:r>
              <a:rPr lang="en-GB" altLang="en-US" dirty="0">
                <a:latin typeface="Courier New" pitchFamily="49" charset="0"/>
              </a:rPr>
              <a:t>(&amp;</a:t>
            </a:r>
            <a:r>
              <a:rPr lang="en-GB" altLang="en-US" dirty="0" err="1">
                <a:latin typeface="Courier New" pitchFamily="49" charset="0"/>
              </a:rPr>
              <a:t>msg</a:t>
            </a:r>
            <a:r>
              <a:rPr lang="en-GB" altLang="en-US" dirty="0">
                <a:latin typeface="Courier New" pitchFamily="49" charset="0"/>
              </a:rPr>
              <a:t>);</a:t>
            </a:r>
            <a:br>
              <a:rPr lang="en-GB" altLang="en-US" dirty="0">
                <a:latin typeface="Courier New" pitchFamily="49" charset="0"/>
              </a:rPr>
            </a:br>
            <a:r>
              <a:rPr lang="en-GB" altLang="en-US" dirty="0">
                <a:latin typeface="Courier New" pitchFamily="49" charset="0"/>
              </a:rPr>
              <a:t>}</a:t>
            </a:r>
            <a:r>
              <a:rPr lang="en-GB" altLang="en-US" dirty="0"/>
              <a:t> </a:t>
            </a:r>
          </a:p>
          <a:p>
            <a:endParaRPr lang="en-MY" dirty="0"/>
          </a:p>
        </p:txBody>
      </p:sp>
    </p:spTree>
    <p:extLst>
      <p:ext uri="{BB962C8B-B14F-4D97-AF65-F5344CB8AC3E}">
        <p14:creationId xmlns:p14="http://schemas.microsoft.com/office/powerpoint/2010/main" val="3840884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Windows API – Message Loop</a:t>
            </a:r>
            <a:endParaRPr lang="en-MY" dirty="0"/>
          </a:p>
        </p:txBody>
      </p:sp>
      <p:sp>
        <p:nvSpPr>
          <p:cNvPr id="3" name="Content Placeholder 2"/>
          <p:cNvSpPr>
            <a:spLocks noGrp="1"/>
          </p:cNvSpPr>
          <p:nvPr>
            <p:ph idx="1"/>
          </p:nvPr>
        </p:nvSpPr>
        <p:spPr/>
        <p:txBody>
          <a:bodyPr/>
          <a:lstStyle/>
          <a:p>
            <a:r>
              <a:rPr lang="en-US" dirty="0" err="1"/>
              <a:t>GetMessage</a:t>
            </a:r>
            <a:r>
              <a:rPr lang="en-US" dirty="0"/>
              <a:t> waits for a message to arrive from the OS</a:t>
            </a:r>
          </a:p>
          <a:p>
            <a:r>
              <a:rPr lang="en-US" dirty="0"/>
              <a:t>Sometimes this can be sub-optimal, as we may want to process other parts of the loop while the drawing/render portion is being updated</a:t>
            </a:r>
          </a:p>
          <a:p>
            <a:r>
              <a:rPr lang="en-MY" b="1" dirty="0" err="1"/>
              <a:t>PeekMessage</a:t>
            </a:r>
            <a:r>
              <a:rPr lang="en-MY" dirty="0"/>
              <a:t> returns immediately regardless of whether a message is in the queue</a:t>
            </a:r>
          </a:p>
          <a:p>
            <a:r>
              <a:rPr lang="en-US" dirty="0"/>
              <a:t>We will explore </a:t>
            </a:r>
            <a:r>
              <a:rPr lang="en-US" dirty="0" err="1"/>
              <a:t>PeekMessage</a:t>
            </a:r>
            <a:r>
              <a:rPr lang="en-US" dirty="0"/>
              <a:t> later, look out for it!</a:t>
            </a:r>
            <a:endParaRPr lang="en-MY" dirty="0"/>
          </a:p>
        </p:txBody>
      </p:sp>
    </p:spTree>
    <p:extLst>
      <p:ext uri="{BB962C8B-B14F-4D97-AF65-F5344CB8AC3E}">
        <p14:creationId xmlns:p14="http://schemas.microsoft.com/office/powerpoint/2010/main" val="32413229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Windows API – Return Statement</a:t>
            </a:r>
            <a:endParaRPr lang="en-MY" dirty="0"/>
          </a:p>
        </p:txBody>
      </p:sp>
      <p:sp>
        <p:nvSpPr>
          <p:cNvPr id="3" name="Content Placeholder 2"/>
          <p:cNvSpPr>
            <a:spLocks noGrp="1"/>
          </p:cNvSpPr>
          <p:nvPr>
            <p:ph idx="1"/>
          </p:nvPr>
        </p:nvSpPr>
        <p:spPr/>
        <p:txBody>
          <a:bodyPr/>
          <a:lstStyle/>
          <a:p>
            <a:r>
              <a:rPr lang="en-GB" altLang="en-US" dirty="0"/>
              <a:t>The return value from </a:t>
            </a:r>
            <a:r>
              <a:rPr lang="en-GB" altLang="en-US" dirty="0" err="1"/>
              <a:t>WinMain</a:t>
            </a:r>
            <a:r>
              <a:rPr lang="en-GB" altLang="en-US" dirty="0"/>
              <a:t> should be the message </a:t>
            </a:r>
            <a:r>
              <a:rPr lang="en-GB" altLang="en-US" dirty="0" err="1"/>
              <a:t>wParam</a:t>
            </a:r>
            <a:r>
              <a:rPr lang="en-GB" altLang="en-US" dirty="0"/>
              <a:t> if the program closes normally otherwise it should be 0 if the message loop is never entered.</a:t>
            </a:r>
          </a:p>
          <a:p>
            <a:endParaRPr lang="en-GB" altLang="en-US" dirty="0"/>
          </a:p>
          <a:p>
            <a:pPr lvl="1">
              <a:buNone/>
            </a:pPr>
            <a:r>
              <a:rPr lang="en-GB" altLang="en-US" dirty="0">
                <a:latin typeface="Courier New" pitchFamily="49" charset="0"/>
              </a:rPr>
              <a:t>return (</a:t>
            </a:r>
            <a:r>
              <a:rPr lang="en-GB" altLang="en-US" dirty="0" err="1">
                <a:latin typeface="Courier New" pitchFamily="49" charset="0"/>
              </a:rPr>
              <a:t>int</a:t>
            </a:r>
            <a:r>
              <a:rPr lang="en-GB" altLang="en-US" dirty="0">
                <a:latin typeface="Courier New" pitchFamily="49" charset="0"/>
              </a:rPr>
              <a:t>)</a:t>
            </a:r>
            <a:r>
              <a:rPr lang="en-GB" altLang="en-US" dirty="0" err="1">
                <a:latin typeface="Courier New" pitchFamily="49" charset="0"/>
              </a:rPr>
              <a:t>msg.wParam</a:t>
            </a:r>
            <a:r>
              <a:rPr lang="en-GB" altLang="en-US" dirty="0">
                <a:latin typeface="Courier New" pitchFamily="49" charset="0"/>
              </a:rPr>
              <a:t>;</a:t>
            </a:r>
          </a:p>
          <a:p>
            <a:endParaRPr lang="en-MY" dirty="0"/>
          </a:p>
        </p:txBody>
      </p:sp>
    </p:spTree>
    <p:extLst>
      <p:ext uri="{BB962C8B-B14F-4D97-AF65-F5344CB8AC3E}">
        <p14:creationId xmlns:p14="http://schemas.microsoft.com/office/powerpoint/2010/main" val="30432294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Message Loop – </a:t>
            </a:r>
            <a:r>
              <a:rPr lang="en-US" dirty="0" err="1"/>
              <a:t>WinProc</a:t>
            </a:r>
            <a:r>
              <a:rPr lang="en-US" dirty="0"/>
              <a:t> Definition</a:t>
            </a:r>
            <a:endParaRPr lang="en-MY" dirty="0"/>
          </a:p>
        </p:txBody>
      </p:sp>
      <p:sp>
        <p:nvSpPr>
          <p:cNvPr id="3" name="Content Placeholder 2"/>
          <p:cNvSpPr>
            <a:spLocks noGrp="1"/>
          </p:cNvSpPr>
          <p:nvPr>
            <p:ph idx="1"/>
          </p:nvPr>
        </p:nvSpPr>
        <p:spPr/>
        <p:txBody>
          <a:bodyPr/>
          <a:lstStyle/>
          <a:p>
            <a:pPr>
              <a:lnSpc>
                <a:spcPct val="80000"/>
              </a:lnSpc>
            </a:pPr>
            <a:r>
              <a:rPr lang="en-GB" altLang="en-US" sz="1800" dirty="0"/>
              <a:t>This is </a:t>
            </a:r>
            <a:r>
              <a:rPr lang="en-GB" altLang="en-US" sz="1800" i="1" dirty="0"/>
              <a:t>your</a:t>
            </a:r>
            <a:r>
              <a:rPr lang="en-GB" altLang="en-US" sz="1800" dirty="0"/>
              <a:t> function but you must define the parameters in the way Windows expects, you can call it anything you want but you must define it with parameters like this:</a:t>
            </a:r>
          </a:p>
          <a:p>
            <a:pPr marL="0" indent="0">
              <a:lnSpc>
                <a:spcPct val="80000"/>
              </a:lnSpc>
              <a:buNone/>
            </a:pPr>
            <a:endParaRPr lang="en-GB" altLang="en-US" sz="1800" dirty="0"/>
          </a:p>
          <a:p>
            <a:pPr lvl="1">
              <a:lnSpc>
                <a:spcPct val="80000"/>
              </a:lnSpc>
              <a:buNone/>
            </a:pPr>
            <a:r>
              <a:rPr lang="en-GB" altLang="en-US" sz="1600" dirty="0">
                <a:latin typeface="Courier New" pitchFamily="49" charset="0"/>
              </a:rPr>
              <a:t>LRESULT CALLBACK </a:t>
            </a:r>
            <a:r>
              <a:rPr lang="en-GB" altLang="en-US" sz="1600" dirty="0" err="1">
                <a:latin typeface="Courier New" pitchFamily="49" charset="0"/>
              </a:rPr>
              <a:t>WndProc</a:t>
            </a:r>
            <a:r>
              <a:rPr lang="en-GB" altLang="en-US" sz="1600" dirty="0">
                <a:latin typeface="Courier New" pitchFamily="49" charset="0"/>
              </a:rPr>
              <a:t>(HWND </a:t>
            </a:r>
            <a:r>
              <a:rPr lang="en-GB" altLang="en-US" sz="1600" dirty="0" err="1">
                <a:latin typeface="Courier New" pitchFamily="49" charset="0"/>
              </a:rPr>
              <a:t>hWnd</a:t>
            </a:r>
            <a:r>
              <a:rPr lang="en-GB" altLang="en-US" sz="1600" dirty="0">
                <a:latin typeface="Courier New" pitchFamily="49" charset="0"/>
              </a:rPr>
              <a:t>, UINT message, WPARAM </a:t>
            </a:r>
            <a:r>
              <a:rPr lang="en-GB" altLang="en-US" sz="1600" dirty="0" err="1">
                <a:latin typeface="Courier New" pitchFamily="49" charset="0"/>
              </a:rPr>
              <a:t>wParam</a:t>
            </a:r>
            <a:r>
              <a:rPr lang="en-GB" altLang="en-US" sz="1600" dirty="0">
                <a:latin typeface="Courier New" pitchFamily="49" charset="0"/>
              </a:rPr>
              <a:t>, LPARAM </a:t>
            </a:r>
            <a:r>
              <a:rPr lang="en-GB" altLang="en-US" sz="1600" dirty="0" err="1">
                <a:latin typeface="Courier New" pitchFamily="49" charset="0"/>
              </a:rPr>
              <a:t>lParam</a:t>
            </a:r>
            <a:r>
              <a:rPr lang="en-GB" altLang="en-US" sz="1600" dirty="0">
                <a:latin typeface="Courier New" pitchFamily="49" charset="0"/>
              </a:rPr>
              <a:t>)</a:t>
            </a:r>
          </a:p>
          <a:p>
            <a:pPr lvl="1">
              <a:lnSpc>
                <a:spcPct val="80000"/>
              </a:lnSpc>
              <a:buNone/>
            </a:pPr>
            <a:endParaRPr lang="en-GB" altLang="en-US" sz="1600" dirty="0">
              <a:latin typeface="Courier New" pitchFamily="49" charset="0"/>
            </a:endParaRPr>
          </a:p>
          <a:p>
            <a:pPr>
              <a:lnSpc>
                <a:spcPct val="80000"/>
              </a:lnSpc>
            </a:pPr>
            <a:r>
              <a:rPr lang="en-GB" altLang="en-US" sz="1800" b="1" dirty="0">
                <a:latin typeface="Courier New" pitchFamily="49" charset="0"/>
              </a:rPr>
              <a:t>LRESULT</a:t>
            </a:r>
            <a:r>
              <a:rPr lang="en-GB" altLang="en-US" sz="1800" dirty="0"/>
              <a:t> resolves to long and </a:t>
            </a:r>
            <a:r>
              <a:rPr lang="en-GB" altLang="en-US" sz="1800" b="1" dirty="0">
                <a:latin typeface="Courier New" pitchFamily="49" charset="0"/>
              </a:rPr>
              <a:t>CALLBACK</a:t>
            </a:r>
            <a:r>
              <a:rPr lang="en-GB" altLang="en-US" sz="1800" dirty="0"/>
              <a:t> resolves to _</a:t>
            </a:r>
            <a:r>
              <a:rPr lang="en-GB" altLang="en-US" sz="1800" dirty="0" err="1"/>
              <a:t>stdcall</a:t>
            </a:r>
            <a:r>
              <a:rPr lang="en-GB" altLang="en-US" sz="1800" dirty="0"/>
              <a:t>, so your function should return a long.</a:t>
            </a:r>
          </a:p>
          <a:p>
            <a:pPr>
              <a:lnSpc>
                <a:spcPct val="80000"/>
              </a:lnSpc>
            </a:pPr>
            <a:r>
              <a:rPr lang="en-GB" altLang="en-US" sz="1800" b="1" dirty="0" err="1">
                <a:latin typeface="Courier New" pitchFamily="49" charset="0"/>
              </a:rPr>
              <a:t>hWnd</a:t>
            </a:r>
            <a:r>
              <a:rPr lang="en-GB" altLang="en-US" sz="1800" dirty="0"/>
              <a:t> - this is the unique handle of the window. Remember that many windows could be created from the same window class definition you previously registered. So if you created two windows from the class each will have a different handle but each will call this function with messages. Generally you just create one window from your window class.</a:t>
            </a:r>
          </a:p>
          <a:p>
            <a:pPr>
              <a:lnSpc>
                <a:spcPct val="80000"/>
              </a:lnSpc>
            </a:pPr>
            <a:r>
              <a:rPr lang="en-GB" altLang="en-US" sz="1800" b="1" dirty="0">
                <a:latin typeface="Courier New" pitchFamily="49" charset="0"/>
              </a:rPr>
              <a:t>message</a:t>
            </a:r>
            <a:r>
              <a:rPr lang="en-GB" altLang="en-US" sz="1800" dirty="0"/>
              <a:t> - this is the message your window has received, more on this in a minute.</a:t>
            </a:r>
          </a:p>
          <a:p>
            <a:pPr>
              <a:lnSpc>
                <a:spcPct val="80000"/>
              </a:lnSpc>
            </a:pPr>
            <a:r>
              <a:rPr lang="en-GB" altLang="en-US" sz="1800" b="1" dirty="0" err="1">
                <a:latin typeface="Courier New" pitchFamily="49" charset="0"/>
              </a:rPr>
              <a:t>wParam</a:t>
            </a:r>
            <a:r>
              <a:rPr lang="en-GB" altLang="en-US" sz="1800" dirty="0"/>
              <a:t> and </a:t>
            </a:r>
            <a:r>
              <a:rPr lang="en-GB" altLang="en-US" sz="1800" b="1" dirty="0" err="1">
                <a:latin typeface="Courier New" pitchFamily="49" charset="0"/>
              </a:rPr>
              <a:t>lParam</a:t>
            </a:r>
            <a:r>
              <a:rPr lang="en-GB" altLang="en-US" sz="1800" dirty="0"/>
              <a:t> - each message sent to your window can have a number of extra values, e.g. if the message is that the mouse has been moved over your window then the extra parameters include the x, y screen position of the mouse. </a:t>
            </a:r>
          </a:p>
          <a:p>
            <a:endParaRPr lang="en-MY" dirty="0"/>
          </a:p>
        </p:txBody>
      </p:sp>
    </p:spTree>
    <p:extLst>
      <p:ext uri="{BB962C8B-B14F-4D97-AF65-F5344CB8AC3E}">
        <p14:creationId xmlns:p14="http://schemas.microsoft.com/office/powerpoint/2010/main" val="42459635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Message Loop – </a:t>
            </a:r>
            <a:r>
              <a:rPr lang="en-US" dirty="0" err="1"/>
              <a:t>WinProc</a:t>
            </a:r>
            <a:r>
              <a:rPr lang="en-US" dirty="0"/>
              <a:t> Message</a:t>
            </a:r>
            <a:endParaRPr lang="en-MY" dirty="0"/>
          </a:p>
        </p:txBody>
      </p:sp>
      <p:sp>
        <p:nvSpPr>
          <p:cNvPr id="3" name="Content Placeholder 2"/>
          <p:cNvSpPr>
            <a:spLocks noGrp="1"/>
          </p:cNvSpPr>
          <p:nvPr>
            <p:ph idx="1"/>
          </p:nvPr>
        </p:nvSpPr>
        <p:spPr/>
        <p:txBody>
          <a:bodyPr>
            <a:noAutofit/>
          </a:bodyPr>
          <a:lstStyle/>
          <a:p>
            <a:pPr>
              <a:lnSpc>
                <a:spcPct val="80000"/>
              </a:lnSpc>
            </a:pPr>
            <a:r>
              <a:rPr lang="en-GB" altLang="en-US" sz="1800" dirty="0"/>
              <a:t>For the messages you do want to handle a switch statement can be used e.g.:</a:t>
            </a:r>
          </a:p>
          <a:p>
            <a:pPr>
              <a:lnSpc>
                <a:spcPct val="80000"/>
              </a:lnSpc>
              <a:buNone/>
            </a:pPr>
            <a:r>
              <a:rPr lang="en-GB" altLang="en-US" sz="1800" dirty="0"/>
              <a:t>	</a:t>
            </a:r>
            <a:r>
              <a:rPr lang="en-GB" altLang="en-US" sz="1600" dirty="0">
                <a:latin typeface="Courier New" pitchFamily="49" charset="0"/>
              </a:rPr>
              <a:t>switch (message) </a:t>
            </a:r>
            <a:br>
              <a:rPr lang="en-GB" altLang="en-US" sz="1600" dirty="0">
                <a:latin typeface="Courier New" pitchFamily="49" charset="0"/>
              </a:rPr>
            </a:br>
            <a:r>
              <a:rPr lang="en-GB" altLang="en-US" sz="1600" dirty="0">
                <a:latin typeface="Courier New" pitchFamily="49" charset="0"/>
              </a:rPr>
              <a:t>{</a:t>
            </a:r>
            <a:br>
              <a:rPr lang="en-GB" altLang="en-US" sz="1600" dirty="0">
                <a:latin typeface="Courier New" pitchFamily="49" charset="0"/>
              </a:rPr>
            </a:br>
            <a:r>
              <a:rPr lang="en-GB" altLang="en-US" sz="1600" dirty="0">
                <a:latin typeface="Courier New" pitchFamily="49" charset="0"/>
              </a:rPr>
              <a:t>        case WM_COMMAND:</a:t>
            </a:r>
            <a:br>
              <a:rPr lang="en-GB" altLang="en-US" sz="1600" dirty="0">
                <a:latin typeface="Courier New" pitchFamily="49" charset="0"/>
              </a:rPr>
            </a:br>
            <a:r>
              <a:rPr lang="en-GB" altLang="en-US" sz="1600" dirty="0">
                <a:latin typeface="Courier New" pitchFamily="49" charset="0"/>
              </a:rPr>
              <a:t>           // handle menu selections etc.</a:t>
            </a:r>
            <a:br>
              <a:rPr lang="en-GB" altLang="en-US" sz="1600" dirty="0">
                <a:latin typeface="Courier New" pitchFamily="49" charset="0"/>
              </a:rPr>
            </a:br>
            <a:r>
              <a:rPr lang="en-GB" altLang="en-US" sz="1600" dirty="0">
                <a:latin typeface="Courier New" pitchFamily="49" charset="0"/>
              </a:rPr>
              <a:t>           break;</a:t>
            </a:r>
            <a:br>
              <a:rPr lang="en-GB" altLang="en-US" sz="1600" dirty="0">
                <a:latin typeface="Courier New" pitchFamily="49" charset="0"/>
              </a:rPr>
            </a:br>
            <a:r>
              <a:rPr lang="en-GB" altLang="en-US" sz="1600" dirty="0">
                <a:latin typeface="Courier New" pitchFamily="49" charset="0"/>
              </a:rPr>
              <a:t>        case WM_PAINT:</a:t>
            </a:r>
            <a:br>
              <a:rPr lang="en-GB" altLang="en-US" sz="1600" dirty="0">
                <a:latin typeface="Courier New" pitchFamily="49" charset="0"/>
              </a:rPr>
            </a:br>
            <a:r>
              <a:rPr lang="en-GB" altLang="en-US" sz="1600" dirty="0">
                <a:latin typeface="Courier New" pitchFamily="49" charset="0"/>
              </a:rPr>
              <a:t>           // draw our window – </a:t>
            </a:r>
          </a:p>
          <a:p>
            <a:pPr>
              <a:lnSpc>
                <a:spcPct val="80000"/>
              </a:lnSpc>
              <a:buNone/>
            </a:pPr>
            <a:r>
              <a:rPr lang="en-GB" altLang="en-US" sz="1600" dirty="0">
                <a:latin typeface="Courier New" pitchFamily="49" charset="0"/>
              </a:rPr>
              <a:t>		      //note: you must paint something </a:t>
            </a:r>
          </a:p>
          <a:p>
            <a:pPr>
              <a:lnSpc>
                <a:spcPct val="80000"/>
              </a:lnSpc>
              <a:buNone/>
            </a:pPr>
            <a:r>
              <a:rPr lang="en-GB" altLang="en-US" sz="1600" dirty="0">
                <a:latin typeface="Courier New" pitchFamily="49" charset="0"/>
              </a:rPr>
              <a:t>		      //here or not trap it!</a:t>
            </a:r>
            <a:br>
              <a:rPr lang="en-GB" altLang="en-US" sz="1600" dirty="0">
                <a:latin typeface="Courier New" pitchFamily="49" charset="0"/>
              </a:rPr>
            </a:br>
            <a:r>
              <a:rPr lang="en-GB" altLang="en-US" sz="1600" dirty="0">
                <a:latin typeface="Courier New" pitchFamily="49" charset="0"/>
              </a:rPr>
              <a:t>           break;</a:t>
            </a:r>
            <a:br>
              <a:rPr lang="en-GB" altLang="en-US" sz="1600" dirty="0">
                <a:latin typeface="Courier New" pitchFamily="49" charset="0"/>
              </a:rPr>
            </a:br>
            <a:r>
              <a:rPr lang="en-GB" altLang="en-US" sz="1600" dirty="0">
                <a:latin typeface="Courier New" pitchFamily="49" charset="0"/>
              </a:rPr>
              <a:t>        case WM_DESTROY:</a:t>
            </a:r>
            <a:br>
              <a:rPr lang="en-GB" altLang="en-US" sz="1600" dirty="0">
                <a:latin typeface="Courier New" pitchFamily="49" charset="0"/>
              </a:rPr>
            </a:br>
            <a:r>
              <a:rPr lang="en-GB" altLang="en-US" sz="1600" dirty="0">
                <a:latin typeface="Courier New" pitchFamily="49" charset="0"/>
              </a:rPr>
              <a:t>             </a:t>
            </a:r>
            <a:r>
              <a:rPr lang="en-GB" altLang="en-US" sz="1600" dirty="0" err="1">
                <a:latin typeface="Courier New" pitchFamily="49" charset="0"/>
              </a:rPr>
              <a:t>PostQuitMessage</a:t>
            </a:r>
            <a:r>
              <a:rPr lang="en-GB" altLang="en-US" sz="1600" dirty="0">
                <a:latin typeface="Courier New" pitchFamily="49" charset="0"/>
              </a:rPr>
              <a:t>(0);</a:t>
            </a:r>
            <a:br>
              <a:rPr lang="en-GB" altLang="en-US" sz="1600" dirty="0">
                <a:latin typeface="Courier New" pitchFamily="49" charset="0"/>
              </a:rPr>
            </a:br>
            <a:r>
              <a:rPr lang="en-GB" altLang="en-US" sz="1600" dirty="0">
                <a:latin typeface="Courier New" pitchFamily="49" charset="0"/>
              </a:rPr>
              <a:t>       	 break;</a:t>
            </a:r>
            <a:br>
              <a:rPr lang="en-GB" altLang="en-US" sz="1600" dirty="0">
                <a:latin typeface="Courier New" pitchFamily="49" charset="0"/>
              </a:rPr>
            </a:br>
            <a:r>
              <a:rPr lang="en-GB" altLang="en-US" sz="1600" dirty="0">
                <a:latin typeface="Courier New" pitchFamily="49" charset="0"/>
              </a:rPr>
              <a:t>        default:</a:t>
            </a:r>
            <a:br>
              <a:rPr lang="en-GB" altLang="en-US" sz="1600" dirty="0">
                <a:latin typeface="Courier New" pitchFamily="49" charset="0"/>
              </a:rPr>
            </a:br>
            <a:r>
              <a:rPr lang="en-GB" altLang="en-US" sz="1600" dirty="0">
                <a:latin typeface="Courier New" pitchFamily="49" charset="0"/>
              </a:rPr>
              <a:t>           // We do not want to handle this </a:t>
            </a:r>
          </a:p>
          <a:p>
            <a:pPr>
              <a:lnSpc>
                <a:spcPct val="80000"/>
              </a:lnSpc>
              <a:buNone/>
            </a:pPr>
            <a:r>
              <a:rPr lang="en-GB" altLang="en-US" sz="1600" dirty="0">
                <a:latin typeface="Courier New" pitchFamily="49" charset="0"/>
              </a:rPr>
              <a:t>		      // message so pass back to Windows</a:t>
            </a:r>
            <a:br>
              <a:rPr lang="en-GB" altLang="en-US" sz="1600" dirty="0">
                <a:latin typeface="Courier New" pitchFamily="49" charset="0"/>
              </a:rPr>
            </a:br>
            <a:r>
              <a:rPr lang="en-GB" altLang="en-US" sz="1600" dirty="0">
                <a:latin typeface="Courier New" pitchFamily="49" charset="0"/>
              </a:rPr>
              <a:t>           // to handle it in a default way</a:t>
            </a:r>
            <a:br>
              <a:rPr lang="en-GB" altLang="en-US" sz="1600" dirty="0">
                <a:latin typeface="Courier New" pitchFamily="49" charset="0"/>
              </a:rPr>
            </a:br>
            <a:r>
              <a:rPr lang="en-GB" altLang="en-US" sz="1600" dirty="0">
                <a:latin typeface="Courier New" pitchFamily="49" charset="0"/>
              </a:rPr>
              <a:t>            return </a:t>
            </a:r>
            <a:r>
              <a:rPr lang="en-GB" altLang="en-US" sz="1600" dirty="0" err="1">
                <a:latin typeface="Courier New" pitchFamily="49" charset="0"/>
              </a:rPr>
              <a:t>DefWindowProc</a:t>
            </a:r>
            <a:r>
              <a:rPr lang="en-GB" altLang="en-US" sz="1600" dirty="0">
                <a:latin typeface="Courier New" pitchFamily="49" charset="0"/>
              </a:rPr>
              <a:t>(</a:t>
            </a:r>
            <a:r>
              <a:rPr lang="en-GB" altLang="en-US" sz="1600" dirty="0" err="1">
                <a:latin typeface="Courier New" pitchFamily="49" charset="0"/>
              </a:rPr>
              <a:t>hWnd</a:t>
            </a:r>
            <a:r>
              <a:rPr lang="en-GB" altLang="en-US" sz="1600" dirty="0">
                <a:latin typeface="Courier New" pitchFamily="49" charset="0"/>
              </a:rPr>
              <a:t>, </a:t>
            </a:r>
          </a:p>
          <a:p>
            <a:pPr>
              <a:lnSpc>
                <a:spcPct val="80000"/>
              </a:lnSpc>
              <a:buNone/>
            </a:pPr>
            <a:r>
              <a:rPr lang="en-GB" altLang="en-US" sz="1600" dirty="0">
                <a:latin typeface="Courier New" pitchFamily="49" charset="0"/>
              </a:rPr>
              <a:t>			message, </a:t>
            </a:r>
            <a:r>
              <a:rPr lang="en-GB" altLang="en-US" sz="1600" dirty="0" err="1">
                <a:latin typeface="Courier New" pitchFamily="49" charset="0"/>
              </a:rPr>
              <a:t>wParam</a:t>
            </a:r>
            <a:r>
              <a:rPr lang="en-GB" altLang="en-US" sz="1600" dirty="0">
                <a:latin typeface="Courier New" pitchFamily="49" charset="0"/>
              </a:rPr>
              <a:t>, </a:t>
            </a:r>
            <a:r>
              <a:rPr lang="en-GB" altLang="en-US" sz="1600" dirty="0" err="1">
                <a:latin typeface="Courier New" pitchFamily="49" charset="0"/>
              </a:rPr>
              <a:t>lParam</a:t>
            </a:r>
            <a:r>
              <a:rPr lang="en-GB" altLang="en-US" sz="1600" dirty="0">
                <a:latin typeface="Courier New" pitchFamily="49" charset="0"/>
              </a:rPr>
              <a:t>);</a:t>
            </a:r>
            <a:br>
              <a:rPr lang="en-GB" altLang="en-US" sz="1600" dirty="0">
                <a:latin typeface="Courier New" pitchFamily="49" charset="0"/>
              </a:rPr>
            </a:br>
            <a:r>
              <a:rPr lang="en-GB" altLang="en-US" sz="1600" dirty="0">
                <a:latin typeface="Courier New" pitchFamily="49" charset="0"/>
              </a:rPr>
              <a:t>}</a:t>
            </a:r>
          </a:p>
          <a:p>
            <a:pPr>
              <a:lnSpc>
                <a:spcPct val="80000"/>
              </a:lnSpc>
              <a:buNone/>
            </a:pPr>
            <a:r>
              <a:rPr lang="en-GB" altLang="en-US" sz="1600" dirty="0">
                <a:latin typeface="Courier New" pitchFamily="49" charset="0"/>
              </a:rPr>
              <a:t>	return 0;</a:t>
            </a:r>
          </a:p>
          <a:p>
            <a:endParaRPr lang="en-MY" sz="1600" dirty="0"/>
          </a:p>
        </p:txBody>
      </p:sp>
    </p:spTree>
    <p:extLst>
      <p:ext uri="{BB962C8B-B14F-4D97-AF65-F5344CB8AC3E}">
        <p14:creationId xmlns:p14="http://schemas.microsoft.com/office/powerpoint/2010/main" val="41703323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Message Loop – </a:t>
            </a:r>
            <a:r>
              <a:rPr lang="en-US" dirty="0" err="1"/>
              <a:t>WinProc</a:t>
            </a:r>
            <a:r>
              <a:rPr lang="en-US" dirty="0"/>
              <a:t> Message</a:t>
            </a:r>
            <a:endParaRPr lang="en-MY" dirty="0"/>
          </a:p>
        </p:txBody>
      </p:sp>
      <p:sp>
        <p:nvSpPr>
          <p:cNvPr id="3" name="Content Placeholder 2"/>
          <p:cNvSpPr>
            <a:spLocks noGrp="1"/>
          </p:cNvSpPr>
          <p:nvPr>
            <p:ph idx="1"/>
          </p:nvPr>
        </p:nvSpPr>
        <p:spPr/>
        <p:txBody>
          <a:bodyPr/>
          <a:lstStyle/>
          <a:p>
            <a:pPr>
              <a:lnSpc>
                <a:spcPct val="80000"/>
              </a:lnSpc>
            </a:pPr>
            <a:r>
              <a:rPr lang="en-GB" altLang="en-US" sz="1800" dirty="0"/>
              <a:t>The </a:t>
            </a:r>
            <a:r>
              <a:rPr lang="en-GB" altLang="en-US" sz="1800" b="1" dirty="0">
                <a:latin typeface="Courier New" pitchFamily="49" charset="0"/>
              </a:rPr>
              <a:t>WM_DESTROY</a:t>
            </a:r>
            <a:r>
              <a:rPr lang="en-GB" altLang="en-US" sz="1800" dirty="0">
                <a:latin typeface="Courier New" pitchFamily="49" charset="0"/>
              </a:rPr>
              <a:t> </a:t>
            </a:r>
            <a:r>
              <a:rPr lang="en-GB" altLang="en-US" sz="1800" dirty="0"/>
              <a:t>message must be handled, this message is sent if the user has closed the window. You should post a message telling windows to destroy the window as shown above.</a:t>
            </a:r>
          </a:p>
          <a:p>
            <a:pPr>
              <a:lnSpc>
                <a:spcPct val="80000"/>
              </a:lnSpc>
            </a:pPr>
            <a:r>
              <a:rPr lang="en-GB" altLang="en-US" sz="1800" dirty="0"/>
              <a:t>The </a:t>
            </a:r>
            <a:r>
              <a:rPr lang="en-GB" altLang="en-US" sz="1800" b="1" dirty="0">
                <a:latin typeface="Courier New" pitchFamily="49" charset="0"/>
              </a:rPr>
              <a:t>WM_COMMAND</a:t>
            </a:r>
            <a:r>
              <a:rPr lang="en-GB" altLang="en-US" sz="1800" dirty="0"/>
              <a:t> message is sent to your window when a menu item is selected or an accelerator key pressed. The low word of the </a:t>
            </a:r>
            <a:r>
              <a:rPr lang="en-GB" altLang="en-US" sz="1800" dirty="0" err="1"/>
              <a:t>wParam</a:t>
            </a:r>
            <a:r>
              <a:rPr lang="en-GB" altLang="en-US" sz="1800" dirty="0"/>
              <a:t> contains the id of the menu item (as you defined it in the resource editor).</a:t>
            </a:r>
          </a:p>
          <a:p>
            <a:pPr>
              <a:lnSpc>
                <a:spcPct val="80000"/>
              </a:lnSpc>
            </a:pPr>
            <a:r>
              <a:rPr lang="en-GB" altLang="en-US" sz="1800" dirty="0"/>
              <a:t>The </a:t>
            </a:r>
            <a:r>
              <a:rPr lang="en-GB" altLang="en-US" sz="1800" b="1" dirty="0">
                <a:latin typeface="Courier New" pitchFamily="49" charset="0"/>
              </a:rPr>
              <a:t>WM_PAINT</a:t>
            </a:r>
            <a:r>
              <a:rPr lang="en-GB" altLang="en-US" sz="1800" dirty="0"/>
              <a:t> message is sent when your window needs redrawing, this can happen when the window is created, when another window is removed from over the top of our window, when the window is maximized etc. </a:t>
            </a:r>
          </a:p>
          <a:p>
            <a:pPr lvl="1">
              <a:lnSpc>
                <a:spcPct val="80000"/>
              </a:lnSpc>
            </a:pPr>
            <a:r>
              <a:rPr lang="en-GB" altLang="en-US" sz="1600" dirty="0"/>
              <a:t>You can only draw to your window when Windows tells you to, however if you want to change what is displayed without waiting you can tell Windows that your window is dirty and needs a redraw by using this function:</a:t>
            </a:r>
          </a:p>
          <a:p>
            <a:pPr lvl="1">
              <a:lnSpc>
                <a:spcPct val="80000"/>
              </a:lnSpc>
            </a:pPr>
            <a:endParaRPr lang="en-GB" altLang="en-US" sz="1600" dirty="0"/>
          </a:p>
          <a:p>
            <a:pPr lvl="2">
              <a:lnSpc>
                <a:spcPct val="80000"/>
              </a:lnSpc>
              <a:buNone/>
            </a:pPr>
            <a:r>
              <a:rPr lang="en-GB" altLang="en-US" sz="1800" b="1" dirty="0" err="1">
                <a:latin typeface="Courier New" pitchFamily="49" charset="0"/>
              </a:rPr>
              <a:t>InvalidateRect</a:t>
            </a:r>
            <a:r>
              <a:rPr lang="en-GB" altLang="en-US" sz="1800" b="1" dirty="0">
                <a:latin typeface="Courier New" pitchFamily="49" charset="0"/>
              </a:rPr>
              <a:t>(</a:t>
            </a:r>
            <a:r>
              <a:rPr lang="en-GB" altLang="en-US" sz="1800" b="1" dirty="0" err="1">
                <a:latin typeface="Courier New" pitchFamily="49" charset="0"/>
              </a:rPr>
              <a:t>hWnd,NULL,TRUE</a:t>
            </a:r>
            <a:r>
              <a:rPr lang="en-GB" altLang="en-US" sz="1800" b="1" dirty="0">
                <a:latin typeface="Courier New" pitchFamily="49" charset="0"/>
              </a:rPr>
              <a:t>);</a:t>
            </a:r>
          </a:p>
          <a:p>
            <a:pPr lvl="2">
              <a:lnSpc>
                <a:spcPct val="80000"/>
              </a:lnSpc>
              <a:buNone/>
            </a:pPr>
            <a:endParaRPr lang="en-GB" altLang="en-US" sz="1800" b="1" dirty="0">
              <a:latin typeface="Courier New" pitchFamily="49" charset="0"/>
            </a:endParaRPr>
          </a:p>
          <a:p>
            <a:pPr lvl="1">
              <a:lnSpc>
                <a:spcPct val="80000"/>
              </a:lnSpc>
            </a:pPr>
            <a:r>
              <a:rPr lang="en-GB" altLang="en-US" sz="1600" dirty="0"/>
              <a:t>The first parameter is the handle of the window, the second is the rectangular area of the window that needs redrawing or NULL to indicate the whole window. The third parameter is TRUE if you want the current contents to be erased first.</a:t>
            </a:r>
          </a:p>
          <a:p>
            <a:pPr marL="0" indent="0">
              <a:buNone/>
            </a:pPr>
            <a:endParaRPr lang="en-MY" dirty="0"/>
          </a:p>
        </p:txBody>
      </p:sp>
    </p:spTree>
    <p:extLst>
      <p:ext uri="{BB962C8B-B14F-4D97-AF65-F5344CB8AC3E}">
        <p14:creationId xmlns:p14="http://schemas.microsoft.com/office/powerpoint/2010/main" val="41631875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Message Loop = </a:t>
            </a:r>
            <a:r>
              <a:rPr lang="en-US" dirty="0" err="1"/>
              <a:t>WinProc</a:t>
            </a:r>
            <a:r>
              <a:rPr lang="en-US" dirty="0"/>
              <a:t> Message</a:t>
            </a:r>
            <a:endParaRPr lang="en-MY" dirty="0"/>
          </a:p>
        </p:txBody>
      </p:sp>
      <p:sp>
        <p:nvSpPr>
          <p:cNvPr id="3" name="Content Placeholder 2"/>
          <p:cNvSpPr>
            <a:spLocks noGrp="1"/>
          </p:cNvSpPr>
          <p:nvPr>
            <p:ph idx="1"/>
          </p:nvPr>
        </p:nvSpPr>
        <p:spPr/>
        <p:txBody>
          <a:bodyPr>
            <a:normAutofit fontScale="62500" lnSpcReduction="20000"/>
          </a:bodyPr>
          <a:lstStyle/>
          <a:p>
            <a:r>
              <a:rPr lang="en-MY" sz="2900" dirty="0"/>
              <a:t>This message is sent to your window when a key is pressed. Note that there is also a WM_KEYUP message. The </a:t>
            </a:r>
            <a:r>
              <a:rPr lang="en-MY" sz="2900" dirty="0" err="1"/>
              <a:t>wParam</a:t>
            </a:r>
            <a:r>
              <a:rPr lang="en-MY" sz="2900" dirty="0"/>
              <a:t> contains a virtual key code and the </a:t>
            </a:r>
            <a:r>
              <a:rPr lang="en-MY" sz="2900" dirty="0" err="1"/>
              <a:t>lParam</a:t>
            </a:r>
            <a:r>
              <a:rPr lang="en-MY" sz="2900" dirty="0"/>
              <a:t> specifies some extra information like the repeat count, extended-key flag, context code, previous key-state flag etc.</a:t>
            </a:r>
          </a:p>
          <a:p>
            <a:pPr marL="800100" lvl="2" indent="0">
              <a:buNone/>
            </a:pPr>
            <a:r>
              <a:rPr lang="en-MY" sz="2100" dirty="0"/>
              <a:t>case WM_KEYDOWN:</a:t>
            </a:r>
            <a:br>
              <a:rPr lang="en-MY" sz="2100" dirty="0"/>
            </a:br>
            <a:r>
              <a:rPr lang="en-MY" sz="2100" dirty="0"/>
              <a:t>{</a:t>
            </a:r>
            <a:br>
              <a:rPr lang="en-MY" sz="2100" dirty="0"/>
            </a:br>
            <a:r>
              <a:rPr lang="en-MY" sz="2100" dirty="0"/>
              <a:t>     switch(</a:t>
            </a:r>
            <a:r>
              <a:rPr lang="en-MY" sz="2100" dirty="0" err="1"/>
              <a:t>wParam</a:t>
            </a:r>
            <a:r>
              <a:rPr lang="en-MY" sz="2100" dirty="0"/>
              <a:t>)</a:t>
            </a:r>
            <a:br>
              <a:rPr lang="en-MY" sz="2100" dirty="0"/>
            </a:br>
            <a:r>
              <a:rPr lang="en-MY" sz="2100" dirty="0"/>
              <a:t>     {</a:t>
            </a:r>
            <a:br>
              <a:rPr lang="en-MY" sz="2100" dirty="0"/>
            </a:br>
            <a:r>
              <a:rPr lang="en-MY" sz="2100" dirty="0"/>
              <a:t>         case 'W':</a:t>
            </a:r>
            <a:br>
              <a:rPr lang="en-MY" sz="2100" dirty="0"/>
            </a:br>
            <a:r>
              <a:rPr lang="en-MY" sz="2100" dirty="0"/>
              <a:t>              // w key pressed</a:t>
            </a:r>
            <a:br>
              <a:rPr lang="en-MY" sz="2100" dirty="0"/>
            </a:br>
            <a:r>
              <a:rPr lang="en-MY" sz="2100" dirty="0"/>
              <a:t>         break;</a:t>
            </a:r>
            <a:br>
              <a:rPr lang="en-MY" sz="2100" dirty="0"/>
            </a:br>
            <a:r>
              <a:rPr lang="en-MY" sz="2100" dirty="0"/>
              <a:t>         case VK_RIGHT:</a:t>
            </a:r>
            <a:br>
              <a:rPr lang="en-MY" sz="2100" dirty="0"/>
            </a:br>
            <a:r>
              <a:rPr lang="en-MY" sz="2100" dirty="0"/>
              <a:t>             // Right arrow pressed</a:t>
            </a:r>
            <a:br>
              <a:rPr lang="en-MY" sz="2100" dirty="0"/>
            </a:br>
            <a:r>
              <a:rPr lang="en-MY" sz="2100" dirty="0"/>
              <a:t>         break;</a:t>
            </a:r>
            <a:br>
              <a:rPr lang="en-MY" sz="2100" dirty="0"/>
            </a:br>
            <a:r>
              <a:rPr lang="en-MY" sz="2100" dirty="0"/>
              <a:t>         default:</a:t>
            </a:r>
            <a:br>
              <a:rPr lang="en-MY" sz="2100" dirty="0"/>
            </a:br>
            <a:r>
              <a:rPr lang="en-MY" sz="2100" dirty="0"/>
              <a:t>             break;</a:t>
            </a:r>
            <a:br>
              <a:rPr lang="en-MY" sz="2100" dirty="0"/>
            </a:br>
            <a:r>
              <a:rPr lang="en-MY" sz="2100" dirty="0"/>
              <a:t>     }</a:t>
            </a:r>
            <a:br>
              <a:rPr lang="en-MY" sz="2100" dirty="0"/>
            </a:br>
            <a:r>
              <a:rPr lang="en-MY" sz="2100" dirty="0"/>
              <a:t>}</a:t>
            </a:r>
          </a:p>
          <a:p>
            <a:r>
              <a:rPr lang="en-MY" sz="2900" dirty="0"/>
              <a:t>There are many virtual key codes available. As you can see above you can type the character (upper case) for letters and numbers but for special keys you need to use a code like VK_RIGHT, VK_LEFT, VK_HOME etc. These are all defined in </a:t>
            </a:r>
            <a:r>
              <a:rPr lang="en-MY" sz="2900" dirty="0" err="1"/>
              <a:t>Winuser.h</a:t>
            </a:r>
            <a:r>
              <a:rPr lang="en-MY" sz="2900" dirty="0"/>
              <a:t>.</a:t>
            </a:r>
          </a:p>
          <a:p>
            <a:r>
              <a:rPr lang="en-MY" sz="2900" dirty="0"/>
              <a:t>It is not recommended to use WM_KEYDOWN for text entry as the keyboard layout depends a lot on the locality etc. instead you should use WM_CHAR.</a:t>
            </a:r>
          </a:p>
          <a:p>
            <a:endParaRPr lang="en-MY" dirty="0"/>
          </a:p>
        </p:txBody>
      </p:sp>
    </p:spTree>
    <p:extLst>
      <p:ext uri="{BB962C8B-B14F-4D97-AF65-F5344CB8AC3E}">
        <p14:creationId xmlns:p14="http://schemas.microsoft.com/office/powerpoint/2010/main" val="6520331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Message Loop = </a:t>
            </a:r>
            <a:r>
              <a:rPr lang="en-US" dirty="0" err="1"/>
              <a:t>WinProc</a:t>
            </a:r>
            <a:r>
              <a:rPr lang="en-US" dirty="0"/>
              <a:t> Message</a:t>
            </a:r>
            <a:endParaRPr lang="en-MY" dirty="0"/>
          </a:p>
        </p:txBody>
      </p:sp>
      <p:sp>
        <p:nvSpPr>
          <p:cNvPr id="3" name="Content Placeholder 2"/>
          <p:cNvSpPr>
            <a:spLocks noGrp="1"/>
          </p:cNvSpPr>
          <p:nvPr>
            <p:ph idx="1"/>
          </p:nvPr>
        </p:nvSpPr>
        <p:spPr/>
        <p:txBody>
          <a:bodyPr/>
          <a:lstStyle/>
          <a:p>
            <a:pPr>
              <a:lnSpc>
                <a:spcPct val="80000"/>
              </a:lnSpc>
            </a:pPr>
            <a:r>
              <a:rPr lang="en-GB" altLang="en-US" sz="2400" dirty="0"/>
              <a:t>This message is sent to your window when the mouse is moved over its surface area. </a:t>
            </a:r>
            <a:r>
              <a:rPr lang="en-GB" altLang="en-US" sz="2400" dirty="0" err="1"/>
              <a:t>wParam</a:t>
            </a:r>
            <a:r>
              <a:rPr lang="en-GB" altLang="en-US" sz="2400" dirty="0"/>
              <a:t> indicates if a specific key or mouse button is held down. The low word of </a:t>
            </a:r>
            <a:r>
              <a:rPr lang="en-GB" altLang="en-US" sz="2400" dirty="0" err="1"/>
              <a:t>lParam</a:t>
            </a:r>
            <a:r>
              <a:rPr lang="en-GB" altLang="en-US" sz="2400" dirty="0"/>
              <a:t> is the x position of the mouse and the high word is the y position. So to retrieve the position and button states:</a:t>
            </a:r>
          </a:p>
          <a:p>
            <a:pPr marL="0" indent="0">
              <a:lnSpc>
                <a:spcPct val="80000"/>
              </a:lnSpc>
              <a:buNone/>
            </a:pPr>
            <a:endParaRPr lang="en-GB" altLang="en-US" sz="2400" dirty="0"/>
          </a:p>
          <a:p>
            <a:pPr lvl="1">
              <a:lnSpc>
                <a:spcPct val="80000"/>
              </a:lnSpc>
              <a:buNone/>
            </a:pPr>
            <a:r>
              <a:rPr lang="en-GB" altLang="en-US" sz="2000" dirty="0">
                <a:latin typeface="Courier New" pitchFamily="49" charset="0"/>
              </a:rPr>
              <a:t>case WM_MOUSEMOVE:</a:t>
            </a:r>
            <a:br>
              <a:rPr lang="en-GB" altLang="en-US" sz="2000" dirty="0">
                <a:latin typeface="Courier New" pitchFamily="49" charset="0"/>
              </a:rPr>
            </a:br>
            <a:r>
              <a:rPr lang="en-GB" altLang="en-US" sz="2000" dirty="0">
                <a:latin typeface="Courier New" pitchFamily="49" charset="0"/>
              </a:rPr>
              <a:t>{</a:t>
            </a:r>
          </a:p>
          <a:p>
            <a:pPr lvl="1">
              <a:lnSpc>
                <a:spcPct val="80000"/>
              </a:lnSpc>
              <a:buNone/>
            </a:pPr>
            <a:r>
              <a:rPr lang="en-GB" altLang="en-US" sz="2000" dirty="0">
                <a:latin typeface="Courier New" pitchFamily="49" charset="0"/>
              </a:rPr>
              <a:t>    // Retrieve mouse screen position</a:t>
            </a:r>
            <a:br>
              <a:rPr lang="en-GB" altLang="en-US" sz="2000" dirty="0">
                <a:latin typeface="Courier New" pitchFamily="49" charset="0"/>
              </a:rPr>
            </a:br>
            <a:r>
              <a:rPr lang="en-GB" altLang="en-US" sz="2000" dirty="0">
                <a:latin typeface="Courier New" pitchFamily="49" charset="0"/>
              </a:rPr>
              <a:t>    </a:t>
            </a:r>
            <a:r>
              <a:rPr lang="en-GB" altLang="en-US" sz="2000" dirty="0" err="1">
                <a:latin typeface="Courier New" pitchFamily="49" charset="0"/>
              </a:rPr>
              <a:t>int</a:t>
            </a:r>
            <a:r>
              <a:rPr lang="en-GB" altLang="en-US" sz="2000" dirty="0">
                <a:latin typeface="Courier New" pitchFamily="49" charset="0"/>
              </a:rPr>
              <a:t> x=(short)LOWORD(</a:t>
            </a:r>
            <a:r>
              <a:rPr lang="en-GB" altLang="en-US" sz="2000" dirty="0" err="1">
                <a:latin typeface="Courier New" pitchFamily="49" charset="0"/>
              </a:rPr>
              <a:t>lParam</a:t>
            </a:r>
            <a:r>
              <a:rPr lang="en-GB" altLang="en-US" sz="2000" dirty="0">
                <a:latin typeface="Courier New" pitchFamily="49" charset="0"/>
              </a:rPr>
              <a:t>);</a:t>
            </a:r>
            <a:br>
              <a:rPr lang="en-GB" altLang="en-US" sz="2000" dirty="0">
                <a:latin typeface="Courier New" pitchFamily="49" charset="0"/>
              </a:rPr>
            </a:br>
            <a:r>
              <a:rPr lang="en-GB" altLang="en-US" sz="2000" dirty="0">
                <a:latin typeface="Courier New" pitchFamily="49" charset="0"/>
              </a:rPr>
              <a:t>    </a:t>
            </a:r>
            <a:r>
              <a:rPr lang="en-GB" altLang="en-US" sz="2000" dirty="0" err="1">
                <a:latin typeface="Courier New" pitchFamily="49" charset="0"/>
              </a:rPr>
              <a:t>int</a:t>
            </a:r>
            <a:r>
              <a:rPr lang="en-GB" altLang="en-US" sz="2000" dirty="0">
                <a:latin typeface="Courier New" pitchFamily="49" charset="0"/>
              </a:rPr>
              <a:t> y=(short)HIWORD(</a:t>
            </a:r>
            <a:r>
              <a:rPr lang="en-GB" altLang="en-US" sz="2000" dirty="0" err="1">
                <a:latin typeface="Courier New" pitchFamily="49" charset="0"/>
              </a:rPr>
              <a:t>lParam</a:t>
            </a:r>
            <a:r>
              <a:rPr lang="en-GB" altLang="en-US" sz="2000" dirty="0">
                <a:latin typeface="Courier New" pitchFamily="49" charset="0"/>
              </a:rPr>
              <a:t>);</a:t>
            </a:r>
          </a:p>
          <a:p>
            <a:pPr lvl="1">
              <a:lnSpc>
                <a:spcPct val="80000"/>
              </a:lnSpc>
              <a:buNone/>
            </a:pPr>
            <a:r>
              <a:rPr lang="en-GB" altLang="en-US" sz="2000" dirty="0">
                <a:latin typeface="Courier New" pitchFamily="49" charset="0"/>
              </a:rPr>
              <a:t>    // Check to see if the left button is held down:</a:t>
            </a:r>
            <a:br>
              <a:rPr lang="en-GB" altLang="en-US" sz="2000" dirty="0">
                <a:latin typeface="Courier New" pitchFamily="49" charset="0"/>
              </a:rPr>
            </a:br>
            <a:r>
              <a:rPr lang="en-GB" altLang="en-US" sz="2000" dirty="0">
                <a:latin typeface="Courier New" pitchFamily="49" charset="0"/>
              </a:rPr>
              <a:t>    bool </a:t>
            </a:r>
            <a:r>
              <a:rPr lang="en-GB" altLang="en-US" sz="2000" dirty="0" err="1">
                <a:latin typeface="Courier New" pitchFamily="49" charset="0"/>
              </a:rPr>
              <a:t>leftButtonDown</a:t>
            </a:r>
            <a:r>
              <a:rPr lang="en-GB" altLang="en-US" sz="2000" dirty="0">
                <a:latin typeface="Courier New" pitchFamily="49" charset="0"/>
              </a:rPr>
              <a:t>=</a:t>
            </a:r>
            <a:r>
              <a:rPr lang="en-GB" altLang="en-US" sz="2000" dirty="0" err="1">
                <a:latin typeface="Courier New" pitchFamily="49" charset="0"/>
              </a:rPr>
              <a:t>wParam</a:t>
            </a:r>
            <a:r>
              <a:rPr lang="en-GB" altLang="en-US" sz="2000" dirty="0">
                <a:latin typeface="Courier New" pitchFamily="49" charset="0"/>
              </a:rPr>
              <a:t> &amp; MK_LBUTTON;</a:t>
            </a:r>
          </a:p>
          <a:p>
            <a:pPr lvl="1">
              <a:lnSpc>
                <a:spcPct val="80000"/>
              </a:lnSpc>
              <a:buNone/>
            </a:pPr>
            <a:r>
              <a:rPr lang="en-GB" altLang="en-US" sz="2000" dirty="0">
                <a:latin typeface="Courier New" pitchFamily="49" charset="0"/>
              </a:rPr>
              <a:t>    // Check if right button down:</a:t>
            </a:r>
            <a:br>
              <a:rPr lang="en-GB" altLang="en-US" sz="2000" dirty="0">
                <a:latin typeface="Courier New" pitchFamily="49" charset="0"/>
              </a:rPr>
            </a:br>
            <a:r>
              <a:rPr lang="en-GB" altLang="en-US" sz="2000" dirty="0">
                <a:latin typeface="Courier New" pitchFamily="49" charset="0"/>
              </a:rPr>
              <a:t>    bool </a:t>
            </a:r>
            <a:r>
              <a:rPr lang="en-GB" altLang="en-US" sz="2000" dirty="0" err="1">
                <a:latin typeface="Courier New" pitchFamily="49" charset="0"/>
              </a:rPr>
              <a:t>rightButtonDown</a:t>
            </a:r>
            <a:r>
              <a:rPr lang="en-GB" altLang="en-US" sz="2000" dirty="0">
                <a:latin typeface="Courier New" pitchFamily="49" charset="0"/>
              </a:rPr>
              <a:t>=</a:t>
            </a:r>
            <a:r>
              <a:rPr lang="en-GB" altLang="en-US" sz="2000" dirty="0" err="1">
                <a:latin typeface="Courier New" pitchFamily="49" charset="0"/>
              </a:rPr>
              <a:t>wParam</a:t>
            </a:r>
            <a:r>
              <a:rPr lang="en-GB" altLang="en-US" sz="2000" dirty="0">
                <a:latin typeface="Courier New" pitchFamily="49" charset="0"/>
              </a:rPr>
              <a:t> &amp; MK_RBUTTON;</a:t>
            </a:r>
          </a:p>
          <a:p>
            <a:pPr lvl="1">
              <a:lnSpc>
                <a:spcPct val="80000"/>
              </a:lnSpc>
              <a:buNone/>
            </a:pPr>
            <a:r>
              <a:rPr lang="en-GB" altLang="en-US" sz="2000" dirty="0">
                <a:latin typeface="Courier New" pitchFamily="49" charset="0"/>
              </a:rPr>
              <a:t>}</a:t>
            </a:r>
          </a:p>
          <a:p>
            <a:endParaRPr lang="en-MY" dirty="0"/>
          </a:p>
        </p:txBody>
      </p:sp>
    </p:spTree>
    <p:extLst>
      <p:ext uri="{BB962C8B-B14F-4D97-AF65-F5344CB8AC3E}">
        <p14:creationId xmlns:p14="http://schemas.microsoft.com/office/powerpoint/2010/main" val="29701138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Debugging Windows Programs</a:t>
            </a:r>
            <a:endParaRPr lang="en-MY" dirty="0"/>
          </a:p>
        </p:txBody>
      </p:sp>
      <p:sp>
        <p:nvSpPr>
          <p:cNvPr id="3" name="Content Placeholder 2"/>
          <p:cNvSpPr>
            <a:spLocks noGrp="1"/>
          </p:cNvSpPr>
          <p:nvPr>
            <p:ph idx="1"/>
          </p:nvPr>
        </p:nvSpPr>
        <p:spPr/>
        <p:txBody>
          <a:bodyPr/>
          <a:lstStyle/>
          <a:p>
            <a:r>
              <a:rPr lang="en-US" dirty="0"/>
              <a:t>Difficult (Infinite loop)</a:t>
            </a:r>
          </a:p>
          <a:p>
            <a:r>
              <a:rPr lang="en-US" dirty="0"/>
              <a:t>Learn to use breakpoints</a:t>
            </a:r>
          </a:p>
          <a:p>
            <a:r>
              <a:rPr lang="en-US" dirty="0"/>
              <a:t>Advisable to produce a console output</a:t>
            </a:r>
          </a:p>
          <a:p>
            <a:r>
              <a:rPr lang="en-US" dirty="0"/>
              <a:t>Make use of Message boxes</a:t>
            </a:r>
            <a:endParaRPr lang="en-MY" dirty="0"/>
          </a:p>
        </p:txBody>
      </p:sp>
    </p:spTree>
    <p:extLst>
      <p:ext uri="{BB962C8B-B14F-4D97-AF65-F5344CB8AC3E}">
        <p14:creationId xmlns:p14="http://schemas.microsoft.com/office/powerpoint/2010/main" val="11965157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Message Box</a:t>
            </a:r>
            <a:endParaRPr lang="en-MY" dirty="0"/>
          </a:p>
        </p:txBody>
      </p:sp>
      <p:sp>
        <p:nvSpPr>
          <p:cNvPr id="3" name="Content Placeholder 2"/>
          <p:cNvSpPr>
            <a:spLocks noGrp="1"/>
          </p:cNvSpPr>
          <p:nvPr>
            <p:ph idx="1"/>
          </p:nvPr>
        </p:nvSpPr>
        <p:spPr/>
        <p:txBody>
          <a:bodyPr/>
          <a:lstStyle/>
          <a:p>
            <a:r>
              <a:rPr lang="en-US" altLang="en-US" dirty="0"/>
              <a:t>One useful way to check if check errors is the use of message box</a:t>
            </a:r>
          </a:p>
          <a:p>
            <a:r>
              <a:rPr lang="en-US" altLang="en-US" dirty="0"/>
              <a:t>Syntax</a:t>
            </a:r>
          </a:p>
          <a:p>
            <a:pPr lvl="1">
              <a:buFontTx/>
              <a:buNone/>
            </a:pPr>
            <a:r>
              <a:rPr lang="en-MY" altLang="en-US" dirty="0" err="1">
                <a:latin typeface="Courier New" pitchFamily="49" charset="0"/>
                <a:cs typeface="Courier New" pitchFamily="49" charset="0"/>
              </a:rPr>
              <a:t>int</a:t>
            </a:r>
            <a:r>
              <a:rPr lang="en-MY" altLang="en-US" dirty="0">
                <a:latin typeface="Courier New" pitchFamily="49" charset="0"/>
                <a:cs typeface="Courier New" pitchFamily="49" charset="0"/>
              </a:rPr>
              <a:t> </a:t>
            </a:r>
            <a:r>
              <a:rPr lang="en-MY" altLang="en-US" dirty="0" err="1">
                <a:latin typeface="Courier New" pitchFamily="49" charset="0"/>
                <a:cs typeface="Courier New" pitchFamily="49" charset="0"/>
              </a:rPr>
              <a:t>MessageBox</a:t>
            </a:r>
            <a:r>
              <a:rPr lang="en-MY" altLang="en-US" dirty="0">
                <a:latin typeface="Courier New" pitchFamily="49" charset="0"/>
                <a:cs typeface="Courier New" pitchFamily="49" charset="0"/>
              </a:rPr>
              <a:t>(</a:t>
            </a:r>
          </a:p>
          <a:p>
            <a:pPr lvl="1">
              <a:buFontTx/>
              <a:buNone/>
            </a:pPr>
            <a:r>
              <a:rPr lang="en-MY" altLang="en-US" dirty="0">
                <a:latin typeface="Courier New" pitchFamily="49" charset="0"/>
                <a:cs typeface="Courier New" pitchFamily="49" charset="0"/>
              </a:rPr>
              <a:t>		</a:t>
            </a:r>
            <a:r>
              <a:rPr lang="en-MY" altLang="en-US" sz="2000" dirty="0">
                <a:latin typeface="Courier New" pitchFamily="49" charset="0"/>
                <a:cs typeface="Courier New" pitchFamily="49" charset="0"/>
              </a:rPr>
              <a:t>HWND </a:t>
            </a:r>
            <a:r>
              <a:rPr lang="en-MY" altLang="en-US" sz="2000" dirty="0" err="1">
                <a:latin typeface="Courier New" pitchFamily="49" charset="0"/>
                <a:cs typeface="Courier New" pitchFamily="49" charset="0"/>
              </a:rPr>
              <a:t>hWnd</a:t>
            </a:r>
            <a:r>
              <a:rPr lang="en-MY" altLang="en-US" sz="2000" dirty="0">
                <a:latin typeface="Courier New" pitchFamily="49" charset="0"/>
                <a:cs typeface="Courier New" pitchFamily="49" charset="0"/>
              </a:rPr>
              <a:t>, 		</a:t>
            </a:r>
          </a:p>
          <a:p>
            <a:pPr>
              <a:buFontTx/>
              <a:buNone/>
            </a:pPr>
            <a:r>
              <a:rPr lang="en-MY" altLang="en-US" sz="2000" dirty="0">
                <a:latin typeface="Courier New" pitchFamily="49" charset="0"/>
                <a:cs typeface="Courier New" pitchFamily="49" charset="0"/>
              </a:rPr>
              <a:t>		LPCTSTR </a:t>
            </a:r>
            <a:r>
              <a:rPr lang="en-MY" altLang="en-US" sz="2000" dirty="0" err="1">
                <a:latin typeface="Courier New" pitchFamily="49" charset="0"/>
                <a:cs typeface="Courier New" pitchFamily="49" charset="0"/>
              </a:rPr>
              <a:t>lpText</a:t>
            </a:r>
            <a:r>
              <a:rPr lang="en-MY" altLang="en-US" sz="2000" dirty="0">
                <a:latin typeface="Courier New" pitchFamily="49" charset="0"/>
                <a:cs typeface="Courier New" pitchFamily="49" charset="0"/>
              </a:rPr>
              <a:t>, </a:t>
            </a:r>
          </a:p>
          <a:p>
            <a:pPr>
              <a:buFontTx/>
              <a:buNone/>
            </a:pPr>
            <a:r>
              <a:rPr lang="en-MY" altLang="en-US" sz="2000" dirty="0">
                <a:latin typeface="Courier New" pitchFamily="49" charset="0"/>
                <a:cs typeface="Courier New" pitchFamily="49" charset="0"/>
              </a:rPr>
              <a:t>		LPCTSTR </a:t>
            </a:r>
            <a:r>
              <a:rPr lang="en-MY" altLang="en-US" sz="2000" dirty="0" err="1">
                <a:latin typeface="Courier New" pitchFamily="49" charset="0"/>
                <a:cs typeface="Courier New" pitchFamily="49" charset="0"/>
              </a:rPr>
              <a:t>lpCaption</a:t>
            </a:r>
            <a:r>
              <a:rPr lang="en-MY" altLang="en-US" sz="2000" dirty="0">
                <a:latin typeface="Courier New" pitchFamily="49" charset="0"/>
                <a:cs typeface="Courier New" pitchFamily="49" charset="0"/>
              </a:rPr>
              <a:t>, </a:t>
            </a:r>
          </a:p>
          <a:p>
            <a:pPr>
              <a:buFontTx/>
              <a:buNone/>
            </a:pPr>
            <a:r>
              <a:rPr lang="en-MY" altLang="en-US" sz="2000" dirty="0">
                <a:latin typeface="Courier New" pitchFamily="49" charset="0"/>
                <a:cs typeface="Courier New" pitchFamily="49" charset="0"/>
              </a:rPr>
              <a:t>		UINT </a:t>
            </a:r>
            <a:r>
              <a:rPr lang="en-MY" altLang="en-US" sz="2000" dirty="0" err="1">
                <a:latin typeface="Courier New" pitchFamily="49" charset="0"/>
                <a:cs typeface="Courier New" pitchFamily="49" charset="0"/>
              </a:rPr>
              <a:t>uType</a:t>
            </a:r>
            <a:r>
              <a:rPr lang="en-MY" altLang="en-US" sz="2000" dirty="0">
                <a:latin typeface="Courier New" pitchFamily="49" charset="0"/>
                <a:cs typeface="Courier New" pitchFamily="49" charset="0"/>
              </a:rPr>
              <a:t>);</a:t>
            </a:r>
          </a:p>
          <a:p>
            <a:endParaRPr lang="en-MY" dirty="0"/>
          </a:p>
        </p:txBody>
      </p:sp>
      <p:sp>
        <p:nvSpPr>
          <p:cNvPr id="6" name="TextBox 6"/>
          <p:cNvSpPr txBox="1">
            <a:spLocks noChangeArrowheads="1"/>
          </p:cNvSpPr>
          <p:nvPr/>
        </p:nvSpPr>
        <p:spPr bwMode="auto">
          <a:xfrm>
            <a:off x="5181600" y="1981200"/>
            <a:ext cx="32004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2800">
                <a:solidFill>
                  <a:schemeClr val="tx1"/>
                </a:solidFill>
                <a:latin typeface="Arial" charset="0"/>
              </a:defRPr>
            </a:lvl1pPr>
            <a:lvl2pPr marL="742950" indent="-285750" eaLnBrk="0" hangingPunct="0">
              <a:spcBef>
                <a:spcPct val="20000"/>
              </a:spcBef>
              <a:buChar char="•"/>
              <a:defRPr sz="2400">
                <a:solidFill>
                  <a:schemeClr val="tx1"/>
                </a:solidFill>
                <a:latin typeface="Arial" charset="0"/>
              </a:defRPr>
            </a:lvl2pPr>
            <a:lvl3pPr marL="1143000" indent="-228600" eaLnBrk="0" hangingPunct="0">
              <a:spcBef>
                <a:spcPct val="20000"/>
              </a:spcBef>
              <a:buChar char="•"/>
              <a:defRPr sz="2000">
                <a:solidFill>
                  <a:schemeClr val="tx1"/>
                </a:solidFill>
                <a:latin typeface="Arial" charset="0"/>
              </a:defRPr>
            </a:lvl3pPr>
            <a:lvl4pPr marL="1600200" indent="-228600" eaLnBrk="0" hangingPunct="0">
              <a:spcBef>
                <a:spcPct val="20000"/>
              </a:spcBef>
              <a:buChar char="•"/>
              <a:defRPr>
                <a:solidFill>
                  <a:schemeClr val="tx1"/>
                </a:solidFill>
                <a:latin typeface="Arial" charset="0"/>
              </a:defRPr>
            </a:lvl4pPr>
            <a:lvl5pPr marL="2057400" indent="-228600" eaLnBrk="0" hangingPunct="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r>
              <a:rPr lang="en-MY" altLang="en-US" sz="1800"/>
              <a:t>a handle to the window from where the message box will be called. Otherwise, it can be NULL.</a:t>
            </a:r>
          </a:p>
        </p:txBody>
      </p:sp>
      <p:cxnSp>
        <p:nvCxnSpPr>
          <p:cNvPr id="7" name="Straight Arrow Connector 6"/>
          <p:cNvCxnSpPr/>
          <p:nvPr/>
        </p:nvCxnSpPr>
        <p:spPr>
          <a:xfrm rot="10800000" flipV="1">
            <a:off x="3124200" y="2590800"/>
            <a:ext cx="2057400" cy="7620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 name="TextBox 9"/>
          <p:cNvSpPr txBox="1">
            <a:spLocks noChangeArrowheads="1"/>
          </p:cNvSpPr>
          <p:nvPr/>
        </p:nvSpPr>
        <p:spPr bwMode="auto">
          <a:xfrm>
            <a:off x="5257800" y="3429000"/>
            <a:ext cx="3886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2800">
                <a:solidFill>
                  <a:schemeClr val="tx1"/>
                </a:solidFill>
                <a:latin typeface="Arial" charset="0"/>
              </a:defRPr>
            </a:lvl1pPr>
            <a:lvl2pPr marL="742950" indent="-285750" eaLnBrk="0" hangingPunct="0">
              <a:spcBef>
                <a:spcPct val="20000"/>
              </a:spcBef>
              <a:buChar char="•"/>
              <a:defRPr sz="2400">
                <a:solidFill>
                  <a:schemeClr val="tx1"/>
                </a:solidFill>
                <a:latin typeface="Arial" charset="0"/>
              </a:defRPr>
            </a:lvl2pPr>
            <a:lvl3pPr marL="1143000" indent="-228600" eaLnBrk="0" hangingPunct="0">
              <a:spcBef>
                <a:spcPct val="20000"/>
              </a:spcBef>
              <a:buChar char="•"/>
              <a:defRPr sz="2000">
                <a:solidFill>
                  <a:schemeClr val="tx1"/>
                </a:solidFill>
                <a:latin typeface="Arial" charset="0"/>
              </a:defRPr>
            </a:lvl3pPr>
            <a:lvl4pPr marL="1600200" indent="-228600" eaLnBrk="0" hangingPunct="0">
              <a:spcBef>
                <a:spcPct val="20000"/>
              </a:spcBef>
              <a:buChar char="•"/>
              <a:defRPr>
                <a:solidFill>
                  <a:schemeClr val="tx1"/>
                </a:solidFill>
                <a:latin typeface="Arial" charset="0"/>
              </a:defRPr>
            </a:lvl4pPr>
            <a:lvl5pPr marL="2057400" indent="-228600" eaLnBrk="0" hangingPunct="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r>
              <a:rPr lang="en-US" altLang="en-US" sz="1800"/>
              <a:t>An array of characters or string to be presented to user as a message</a:t>
            </a:r>
            <a:endParaRPr lang="en-MY" altLang="en-US" sz="1800"/>
          </a:p>
        </p:txBody>
      </p:sp>
      <p:cxnSp>
        <p:nvCxnSpPr>
          <p:cNvPr id="9" name="Straight Arrow Connector 8"/>
          <p:cNvCxnSpPr>
            <a:stCxn id="8" idx="1"/>
          </p:cNvCxnSpPr>
          <p:nvPr/>
        </p:nvCxnSpPr>
        <p:spPr>
          <a:xfrm rot="10800000">
            <a:off x="3810000" y="3733800"/>
            <a:ext cx="1447800" cy="1905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TextBox 14"/>
          <p:cNvSpPr txBox="1">
            <a:spLocks noChangeArrowheads="1"/>
          </p:cNvSpPr>
          <p:nvPr/>
        </p:nvSpPr>
        <p:spPr bwMode="auto">
          <a:xfrm>
            <a:off x="5257800" y="4343400"/>
            <a:ext cx="38862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2800">
                <a:solidFill>
                  <a:schemeClr val="tx1"/>
                </a:solidFill>
                <a:latin typeface="Arial" charset="0"/>
              </a:defRPr>
            </a:lvl1pPr>
            <a:lvl2pPr marL="742950" indent="-285750" eaLnBrk="0" hangingPunct="0">
              <a:spcBef>
                <a:spcPct val="20000"/>
              </a:spcBef>
              <a:buChar char="•"/>
              <a:defRPr sz="2400">
                <a:solidFill>
                  <a:schemeClr val="tx1"/>
                </a:solidFill>
                <a:latin typeface="Arial" charset="0"/>
              </a:defRPr>
            </a:lvl2pPr>
            <a:lvl3pPr marL="1143000" indent="-228600" eaLnBrk="0" hangingPunct="0">
              <a:spcBef>
                <a:spcPct val="20000"/>
              </a:spcBef>
              <a:buChar char="•"/>
              <a:defRPr sz="2000">
                <a:solidFill>
                  <a:schemeClr val="tx1"/>
                </a:solidFill>
                <a:latin typeface="Arial" charset="0"/>
              </a:defRPr>
            </a:lvl3pPr>
            <a:lvl4pPr marL="1600200" indent="-228600" eaLnBrk="0" hangingPunct="0">
              <a:spcBef>
                <a:spcPct val="20000"/>
              </a:spcBef>
              <a:buChar char="•"/>
              <a:defRPr>
                <a:solidFill>
                  <a:schemeClr val="tx1"/>
                </a:solidFill>
                <a:latin typeface="Arial" charset="0"/>
              </a:defRPr>
            </a:lvl4pPr>
            <a:lvl5pPr marL="2057400" indent="-228600" eaLnBrk="0" hangingPunct="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r>
              <a:rPr lang="en-US" altLang="en-US" sz="1800"/>
              <a:t>An array of characters or string to be presented to user as caption on title bar</a:t>
            </a:r>
            <a:endParaRPr lang="en-MY" altLang="en-US" sz="1800"/>
          </a:p>
        </p:txBody>
      </p:sp>
      <p:cxnSp>
        <p:nvCxnSpPr>
          <p:cNvPr id="11" name="Straight Arrow Connector 10"/>
          <p:cNvCxnSpPr>
            <a:stCxn id="10" idx="1"/>
          </p:cNvCxnSpPr>
          <p:nvPr/>
        </p:nvCxnSpPr>
        <p:spPr>
          <a:xfrm rot="10800000">
            <a:off x="4191000" y="4114800"/>
            <a:ext cx="1066800" cy="690563"/>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 name="TextBox 17"/>
          <p:cNvSpPr txBox="1">
            <a:spLocks noChangeArrowheads="1"/>
          </p:cNvSpPr>
          <p:nvPr/>
        </p:nvSpPr>
        <p:spPr bwMode="auto">
          <a:xfrm>
            <a:off x="2362200" y="5410200"/>
            <a:ext cx="3886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2800">
                <a:solidFill>
                  <a:schemeClr val="tx1"/>
                </a:solidFill>
                <a:latin typeface="Arial" charset="0"/>
              </a:defRPr>
            </a:lvl1pPr>
            <a:lvl2pPr marL="742950" indent="-285750" eaLnBrk="0" hangingPunct="0">
              <a:spcBef>
                <a:spcPct val="20000"/>
              </a:spcBef>
              <a:buChar char="•"/>
              <a:defRPr sz="2400">
                <a:solidFill>
                  <a:schemeClr val="tx1"/>
                </a:solidFill>
                <a:latin typeface="Arial" charset="0"/>
              </a:defRPr>
            </a:lvl2pPr>
            <a:lvl3pPr marL="1143000" indent="-228600" eaLnBrk="0" hangingPunct="0">
              <a:spcBef>
                <a:spcPct val="20000"/>
              </a:spcBef>
              <a:buChar char="•"/>
              <a:defRPr sz="2000">
                <a:solidFill>
                  <a:schemeClr val="tx1"/>
                </a:solidFill>
                <a:latin typeface="Arial" charset="0"/>
              </a:defRPr>
            </a:lvl3pPr>
            <a:lvl4pPr marL="1600200" indent="-228600" eaLnBrk="0" hangingPunct="0">
              <a:spcBef>
                <a:spcPct val="20000"/>
              </a:spcBef>
              <a:buChar char="•"/>
              <a:defRPr>
                <a:solidFill>
                  <a:schemeClr val="tx1"/>
                </a:solidFill>
                <a:latin typeface="Arial" charset="0"/>
              </a:defRPr>
            </a:lvl4pPr>
            <a:lvl5pPr marL="2057400" indent="-228600" eaLnBrk="0" hangingPunct="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r>
              <a:rPr lang="en-US" altLang="en-US" sz="1800" dirty="0"/>
              <a:t>UI type to be displayed (buttons and Icon)</a:t>
            </a:r>
            <a:endParaRPr lang="en-MY" altLang="en-US" sz="1800" dirty="0"/>
          </a:p>
        </p:txBody>
      </p:sp>
      <p:cxnSp>
        <p:nvCxnSpPr>
          <p:cNvPr id="13" name="Straight Arrow Connector 12"/>
          <p:cNvCxnSpPr>
            <a:stCxn id="12" idx="0"/>
          </p:cNvCxnSpPr>
          <p:nvPr/>
        </p:nvCxnSpPr>
        <p:spPr>
          <a:xfrm rot="16200000" flipV="1">
            <a:off x="2914650" y="4019550"/>
            <a:ext cx="762000" cy="20193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95283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Message Box</a:t>
            </a:r>
            <a:endParaRPr lang="en-MY"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295400"/>
            <a:ext cx="4476750" cy="246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3886200"/>
            <a:ext cx="6477000" cy="212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8"/>
          <p:cNvSpPr txBox="1">
            <a:spLocks noChangeArrowheads="1"/>
          </p:cNvSpPr>
          <p:nvPr/>
        </p:nvSpPr>
        <p:spPr bwMode="auto">
          <a:xfrm>
            <a:off x="5486400" y="1752600"/>
            <a:ext cx="34290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2800">
                <a:solidFill>
                  <a:schemeClr val="tx1"/>
                </a:solidFill>
                <a:latin typeface="Arial" charset="0"/>
              </a:defRPr>
            </a:lvl1pPr>
            <a:lvl2pPr marL="742950" indent="-285750" eaLnBrk="0" hangingPunct="0">
              <a:spcBef>
                <a:spcPct val="20000"/>
              </a:spcBef>
              <a:buChar char="•"/>
              <a:defRPr sz="2400">
                <a:solidFill>
                  <a:schemeClr val="tx1"/>
                </a:solidFill>
                <a:latin typeface="Arial" charset="0"/>
              </a:defRPr>
            </a:lvl2pPr>
            <a:lvl3pPr marL="1143000" indent="-228600" eaLnBrk="0" hangingPunct="0">
              <a:spcBef>
                <a:spcPct val="20000"/>
              </a:spcBef>
              <a:buChar char="•"/>
              <a:defRPr sz="2000">
                <a:solidFill>
                  <a:schemeClr val="tx1"/>
                </a:solidFill>
                <a:latin typeface="Arial" charset="0"/>
              </a:defRPr>
            </a:lvl3pPr>
            <a:lvl4pPr marL="1600200" indent="-228600" eaLnBrk="0" hangingPunct="0">
              <a:spcBef>
                <a:spcPct val="20000"/>
              </a:spcBef>
              <a:buChar char="•"/>
              <a:defRPr>
                <a:solidFill>
                  <a:schemeClr val="tx1"/>
                </a:solidFill>
                <a:latin typeface="Arial" charset="0"/>
              </a:defRPr>
            </a:lvl4pPr>
            <a:lvl5pPr marL="2057400" indent="-228600" eaLnBrk="0" hangingPunct="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eaLnBrk="1" hangingPunct="1">
              <a:spcBef>
                <a:spcPct val="0"/>
              </a:spcBef>
              <a:buFontTx/>
              <a:buNone/>
            </a:pPr>
            <a:r>
              <a:rPr lang="en-MY" altLang="en-US" sz="1800"/>
              <a:t>The icons are used in conjunction with the buttons constant. To combine these two flags, use the bitwise OR operator “|”.</a:t>
            </a:r>
          </a:p>
        </p:txBody>
      </p:sp>
    </p:spTree>
    <p:extLst>
      <p:ext uri="{BB962C8B-B14F-4D97-AF65-F5344CB8AC3E}">
        <p14:creationId xmlns:p14="http://schemas.microsoft.com/office/powerpoint/2010/main" val="18423323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Message Box - Example</a:t>
            </a:r>
            <a:endParaRPr lang="en-MY" dirty="0"/>
          </a:p>
        </p:txBody>
      </p:sp>
      <p:sp>
        <p:nvSpPr>
          <p:cNvPr id="3" name="Content Placeholder 2"/>
          <p:cNvSpPr>
            <a:spLocks noGrp="1"/>
          </p:cNvSpPr>
          <p:nvPr>
            <p:ph idx="1"/>
          </p:nvPr>
        </p:nvSpPr>
        <p:spPr/>
        <p:txBody>
          <a:bodyPr>
            <a:normAutofit fontScale="70000" lnSpcReduction="20000"/>
          </a:bodyPr>
          <a:lstStyle/>
          <a:p>
            <a:pPr>
              <a:buFontTx/>
              <a:buNone/>
            </a:pPr>
            <a:r>
              <a:rPr lang="en-MY" altLang="en-US" dirty="0">
                <a:latin typeface="Courier New" pitchFamily="49" charset="0"/>
                <a:cs typeface="Courier New" pitchFamily="49" charset="0"/>
              </a:rPr>
              <a:t>#include &lt;</a:t>
            </a:r>
            <a:r>
              <a:rPr lang="en-MY" altLang="en-US" dirty="0" err="1">
                <a:latin typeface="Courier New" pitchFamily="49" charset="0"/>
                <a:cs typeface="Courier New" pitchFamily="49" charset="0"/>
              </a:rPr>
              <a:t>windows.h</a:t>
            </a:r>
            <a:r>
              <a:rPr lang="en-MY" altLang="en-US" dirty="0">
                <a:latin typeface="Courier New" pitchFamily="49" charset="0"/>
                <a:cs typeface="Courier New" pitchFamily="49" charset="0"/>
              </a:rPr>
              <a:t>&gt;</a:t>
            </a:r>
          </a:p>
          <a:p>
            <a:pPr>
              <a:buFontTx/>
              <a:buNone/>
            </a:pPr>
            <a:endParaRPr lang="en-MY" altLang="en-US" dirty="0">
              <a:latin typeface="Courier New" pitchFamily="49" charset="0"/>
              <a:cs typeface="Courier New" pitchFamily="49" charset="0"/>
            </a:endParaRPr>
          </a:p>
          <a:p>
            <a:pPr>
              <a:buFontTx/>
              <a:buNone/>
            </a:pPr>
            <a:r>
              <a:rPr lang="en-MY" altLang="en-US" dirty="0">
                <a:latin typeface="Courier New" pitchFamily="49" charset="0"/>
                <a:cs typeface="Courier New" pitchFamily="49" charset="0"/>
              </a:rPr>
              <a:t>INT WINAPI </a:t>
            </a:r>
            <a:r>
              <a:rPr lang="en-MY" altLang="en-US" dirty="0" err="1">
                <a:latin typeface="Courier New" pitchFamily="49" charset="0"/>
                <a:cs typeface="Courier New" pitchFamily="49" charset="0"/>
              </a:rPr>
              <a:t>WinMain</a:t>
            </a:r>
            <a:r>
              <a:rPr lang="en-MY" altLang="en-US" dirty="0">
                <a:latin typeface="Courier New" pitchFamily="49" charset="0"/>
                <a:cs typeface="Courier New" pitchFamily="49" charset="0"/>
              </a:rPr>
              <a:t>(HINSTANCE </a:t>
            </a:r>
            <a:r>
              <a:rPr lang="en-MY" altLang="en-US" dirty="0" err="1">
                <a:latin typeface="Courier New" pitchFamily="49" charset="0"/>
                <a:cs typeface="Courier New" pitchFamily="49" charset="0"/>
              </a:rPr>
              <a:t>hInstance</a:t>
            </a:r>
            <a:r>
              <a:rPr lang="en-MY" altLang="en-US" dirty="0">
                <a:latin typeface="Courier New" pitchFamily="49" charset="0"/>
                <a:cs typeface="Courier New" pitchFamily="49" charset="0"/>
              </a:rPr>
              <a:t>, HINSTANCE </a:t>
            </a:r>
            <a:r>
              <a:rPr lang="en-MY" altLang="en-US" dirty="0" err="1">
                <a:latin typeface="Courier New" pitchFamily="49" charset="0"/>
                <a:cs typeface="Courier New" pitchFamily="49" charset="0"/>
              </a:rPr>
              <a:t>hPrevInstance,LPSTR</a:t>
            </a:r>
            <a:r>
              <a:rPr lang="en-MY" altLang="en-US" dirty="0">
                <a:latin typeface="Courier New" pitchFamily="49" charset="0"/>
                <a:cs typeface="Courier New" pitchFamily="49" charset="0"/>
              </a:rPr>
              <a:t> </a:t>
            </a:r>
            <a:r>
              <a:rPr lang="en-MY" altLang="en-US" dirty="0" err="1">
                <a:latin typeface="Courier New" pitchFamily="49" charset="0"/>
                <a:cs typeface="Courier New" pitchFamily="49" charset="0"/>
              </a:rPr>
              <a:t>lpCmdLine</a:t>
            </a:r>
            <a:r>
              <a:rPr lang="en-MY" altLang="en-US" dirty="0">
                <a:latin typeface="Courier New" pitchFamily="49" charset="0"/>
                <a:cs typeface="Courier New" pitchFamily="49" charset="0"/>
              </a:rPr>
              <a:t>, </a:t>
            </a:r>
            <a:r>
              <a:rPr lang="en-MY" altLang="en-US" dirty="0" err="1">
                <a:latin typeface="Courier New" pitchFamily="49" charset="0"/>
                <a:cs typeface="Courier New" pitchFamily="49" charset="0"/>
              </a:rPr>
              <a:t>int</a:t>
            </a:r>
            <a:r>
              <a:rPr lang="en-MY" altLang="en-US" dirty="0">
                <a:latin typeface="Courier New" pitchFamily="49" charset="0"/>
                <a:cs typeface="Courier New" pitchFamily="49" charset="0"/>
              </a:rPr>
              <a:t> </a:t>
            </a:r>
            <a:r>
              <a:rPr lang="en-MY" altLang="en-US" dirty="0" err="1">
                <a:latin typeface="Courier New" pitchFamily="49" charset="0"/>
                <a:cs typeface="Courier New" pitchFamily="49" charset="0"/>
              </a:rPr>
              <a:t>nCmdShow</a:t>
            </a:r>
            <a:r>
              <a:rPr lang="en-MY" altLang="en-US" dirty="0">
                <a:latin typeface="Courier New" pitchFamily="49" charset="0"/>
                <a:cs typeface="Courier New" pitchFamily="49" charset="0"/>
              </a:rPr>
              <a:t>)</a:t>
            </a:r>
          </a:p>
          <a:p>
            <a:pPr>
              <a:buFontTx/>
              <a:buNone/>
            </a:pPr>
            <a:r>
              <a:rPr lang="en-MY" altLang="en-US" dirty="0">
                <a:latin typeface="Courier New" pitchFamily="49" charset="0"/>
                <a:cs typeface="Courier New" pitchFamily="49" charset="0"/>
              </a:rPr>
              <a:t>{</a:t>
            </a:r>
          </a:p>
          <a:p>
            <a:pPr>
              <a:buFontTx/>
              <a:buNone/>
            </a:pPr>
            <a:r>
              <a:rPr lang="en-MY" altLang="en-US" dirty="0">
                <a:latin typeface="Courier New" pitchFamily="49" charset="0"/>
                <a:cs typeface="Courier New" pitchFamily="49" charset="0"/>
              </a:rPr>
              <a:t>    </a:t>
            </a:r>
            <a:r>
              <a:rPr lang="en-MY" altLang="en-US" dirty="0" err="1">
                <a:latin typeface="Courier New" pitchFamily="49" charset="0"/>
                <a:cs typeface="Courier New" pitchFamily="49" charset="0"/>
              </a:rPr>
              <a:t>MessageBox</a:t>
            </a:r>
            <a:r>
              <a:rPr lang="en-MY" altLang="en-US" dirty="0">
                <a:latin typeface="Courier New" pitchFamily="49" charset="0"/>
                <a:cs typeface="Courier New" pitchFamily="49" charset="0"/>
              </a:rPr>
              <a:t>( NULL,</a:t>
            </a:r>
          </a:p>
          <a:p>
            <a:pPr>
              <a:buFontTx/>
              <a:buNone/>
            </a:pPr>
            <a:r>
              <a:rPr lang="en-MY" altLang="en-US" dirty="0">
                <a:latin typeface="Courier New" pitchFamily="49" charset="0"/>
                <a:cs typeface="Courier New" pitchFamily="49" charset="0"/>
              </a:rPr>
              <a:t>                TEXT("Message line 1\n")</a:t>
            </a:r>
          </a:p>
          <a:p>
            <a:pPr>
              <a:buFontTx/>
              <a:buNone/>
            </a:pPr>
            <a:r>
              <a:rPr lang="en-MY" altLang="en-US" dirty="0">
                <a:latin typeface="Courier New" pitchFamily="49" charset="0"/>
                <a:cs typeface="Courier New" pitchFamily="49" charset="0"/>
              </a:rPr>
              <a:t>                TEXT("Message line 2, ")</a:t>
            </a:r>
          </a:p>
          <a:p>
            <a:pPr>
              <a:buFontTx/>
              <a:buNone/>
            </a:pPr>
            <a:r>
              <a:rPr lang="en-MY" altLang="en-US" dirty="0">
                <a:latin typeface="Courier New" pitchFamily="49" charset="0"/>
                <a:cs typeface="Courier New" pitchFamily="49" charset="0"/>
              </a:rPr>
              <a:t>                TEXT("Message Line 2 continue\n")</a:t>
            </a:r>
          </a:p>
          <a:p>
            <a:pPr>
              <a:buFontTx/>
              <a:buNone/>
            </a:pPr>
            <a:r>
              <a:rPr lang="en-MY" altLang="en-US" dirty="0">
                <a:latin typeface="Courier New" pitchFamily="49" charset="0"/>
                <a:cs typeface="Courier New" pitchFamily="49" charset="0"/>
              </a:rPr>
              <a:t>                TEXT("Message Line 3"),</a:t>
            </a:r>
          </a:p>
          <a:p>
            <a:pPr>
              <a:buFontTx/>
              <a:buNone/>
            </a:pPr>
            <a:r>
              <a:rPr lang="en-MY" altLang="en-US" dirty="0">
                <a:latin typeface="Courier New" pitchFamily="49" charset="0"/>
                <a:cs typeface="Courier New" pitchFamily="49" charset="0"/>
              </a:rPr>
              <a:t>                TEXT("Caption for the title bar"),</a:t>
            </a:r>
          </a:p>
          <a:p>
            <a:pPr>
              <a:buFontTx/>
              <a:buNone/>
            </a:pPr>
            <a:r>
              <a:rPr lang="en-MY" altLang="en-US" dirty="0">
                <a:latin typeface="Courier New" pitchFamily="49" charset="0"/>
                <a:cs typeface="Courier New" pitchFamily="49" charset="0"/>
              </a:rPr>
              <a:t>                MB_YESNOCANCEL | MB_ICONQUESTION);</a:t>
            </a:r>
          </a:p>
          <a:p>
            <a:pPr>
              <a:buFontTx/>
              <a:buNone/>
            </a:pPr>
            <a:endParaRPr lang="en-MY" altLang="en-US" dirty="0">
              <a:latin typeface="Courier New" pitchFamily="49" charset="0"/>
              <a:cs typeface="Courier New" pitchFamily="49" charset="0"/>
            </a:endParaRPr>
          </a:p>
          <a:p>
            <a:pPr>
              <a:buFontTx/>
              <a:buNone/>
            </a:pPr>
            <a:r>
              <a:rPr lang="en-MY" altLang="en-US" dirty="0">
                <a:latin typeface="Courier New" pitchFamily="49" charset="0"/>
                <a:cs typeface="Courier New" pitchFamily="49" charset="0"/>
              </a:rPr>
              <a:t>    return 0;</a:t>
            </a:r>
          </a:p>
          <a:p>
            <a:pPr>
              <a:buFontTx/>
              <a:buNone/>
            </a:pPr>
            <a:r>
              <a:rPr lang="en-MY" altLang="en-US" dirty="0">
                <a:latin typeface="Courier New" pitchFamily="49" charset="0"/>
                <a:cs typeface="Courier New" pitchFamily="49" charset="0"/>
              </a:rPr>
              <a:t>}</a:t>
            </a:r>
          </a:p>
          <a:p>
            <a:pPr marL="0" indent="0">
              <a:buNone/>
            </a:pPr>
            <a:endParaRPr lang="en-MY" dirty="0"/>
          </a:p>
        </p:txBody>
      </p:sp>
    </p:spTree>
    <p:extLst>
      <p:ext uri="{BB962C8B-B14F-4D97-AF65-F5344CB8AC3E}">
        <p14:creationId xmlns:p14="http://schemas.microsoft.com/office/powerpoint/2010/main" val="41762793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Message Box - Example</a:t>
            </a:r>
            <a:endParaRPr lang="en-MY"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187" y="1712099"/>
            <a:ext cx="7202488"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866697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 Oriented Win32</a:t>
            </a:r>
            <a:endParaRPr lang="en-MY" dirty="0"/>
          </a:p>
        </p:txBody>
      </p:sp>
      <p:sp>
        <p:nvSpPr>
          <p:cNvPr id="3" name="Content Placeholder 2"/>
          <p:cNvSpPr>
            <a:spLocks noGrp="1"/>
          </p:cNvSpPr>
          <p:nvPr>
            <p:ph idx="1"/>
          </p:nvPr>
        </p:nvSpPr>
        <p:spPr/>
        <p:txBody>
          <a:bodyPr/>
          <a:lstStyle/>
          <a:p>
            <a:r>
              <a:rPr lang="en-US" altLang="en-US" dirty="0"/>
              <a:t>Because you will be always using the </a:t>
            </a:r>
            <a:r>
              <a:rPr lang="en-US" altLang="en-US" dirty="0" err="1"/>
              <a:t>winAPI</a:t>
            </a:r>
            <a:r>
              <a:rPr lang="en-US" altLang="en-US" dirty="0"/>
              <a:t> to create windows for your game application it is wise to turn it into an OO Win32 so that you can minimize your coding time and maximize code reuse.</a:t>
            </a:r>
          </a:p>
          <a:p>
            <a:r>
              <a:rPr lang="en-US" altLang="en-US" dirty="0"/>
              <a:t>Refer to the additional reading on Object-oriented Win32 and other related document for more on </a:t>
            </a:r>
            <a:r>
              <a:rPr lang="en-US" altLang="en-US" dirty="0" err="1"/>
              <a:t>winAPI</a:t>
            </a:r>
            <a:r>
              <a:rPr lang="en-US" altLang="en-US" dirty="0"/>
              <a:t>.</a:t>
            </a:r>
            <a:endParaRPr lang="en-MY" altLang="en-US" dirty="0"/>
          </a:p>
          <a:p>
            <a:endParaRPr lang="en-MY" dirty="0"/>
          </a:p>
        </p:txBody>
      </p:sp>
    </p:spTree>
    <p:extLst>
      <p:ext uri="{BB962C8B-B14F-4D97-AF65-F5344CB8AC3E}">
        <p14:creationId xmlns:p14="http://schemas.microsoft.com/office/powerpoint/2010/main" val="2811078373"/>
      </p:ext>
    </p:extLst>
  </p:cSld>
  <p:clrMapOvr>
    <a:masterClrMapping/>
  </p:clrMapOvr>
</p:sld>
</file>

<file path=ppt/theme/theme1.xml><?xml version="1.0" encoding="utf-8"?>
<a:theme xmlns:a="http://schemas.openxmlformats.org/drawingml/2006/main" name="Office Theme">
  <a:themeElements>
    <a:clrScheme name="Metro">
      <a:dk1>
        <a:srgbClr val="FFFFFF"/>
      </a:dk1>
      <a:lt1>
        <a:srgbClr val="1F497D"/>
      </a:lt1>
      <a:dk2>
        <a:srgbClr val="FFFFFF"/>
      </a:dk2>
      <a:lt2>
        <a:srgbClr val="1F497D"/>
      </a:lt2>
      <a:accent1>
        <a:srgbClr val="E8402E"/>
      </a:accent1>
      <a:accent2>
        <a:srgbClr val="C0504D"/>
      </a:accent2>
      <a:accent3>
        <a:srgbClr val="9BBB59"/>
      </a:accent3>
      <a:accent4>
        <a:srgbClr val="8064A2"/>
      </a:accent4>
      <a:accent5>
        <a:srgbClr val="4BACC6"/>
      </a:accent5>
      <a:accent6>
        <a:srgbClr val="F79646"/>
      </a:accent6>
      <a:hlink>
        <a:srgbClr val="FFFFFF"/>
      </a:hlink>
      <a:folHlink>
        <a:srgbClr val="C6D9F0"/>
      </a:folHlink>
    </a:clrScheme>
    <a:fontScheme name="Metro">
      <a:majorFont>
        <a:latin typeface="Segoe UI Light"/>
        <a:ea typeface=""/>
        <a:cs typeface=""/>
      </a:majorFont>
      <a:minorFont>
        <a:latin typeface="Segoe UI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311</TotalTime>
  <Words>3653</Words>
  <Application>Microsoft Office PowerPoint</Application>
  <PresentationFormat>On-screen Show (4:3)</PresentationFormat>
  <Paragraphs>273</Paragraphs>
  <Slides>34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Courier New</vt:lpstr>
      <vt:lpstr>Segoe UI Light</vt:lpstr>
      <vt:lpstr>Office Theme</vt:lpstr>
      <vt:lpstr>LECTURE 2</vt:lpstr>
      <vt:lpstr>Overview</vt:lpstr>
      <vt:lpstr>Windows API</vt:lpstr>
      <vt:lpstr>Super Quiz – Programming 101</vt:lpstr>
      <vt:lpstr>Super Quiz – Programming 101</vt:lpstr>
      <vt:lpstr>Super Quiz – Programming 101</vt:lpstr>
      <vt:lpstr>Windows API</vt:lpstr>
      <vt:lpstr>Windows API – Pre-processor</vt:lpstr>
      <vt:lpstr>Windows API – Pre-processor</vt:lpstr>
      <vt:lpstr>Windows API – WinMain Structure</vt:lpstr>
      <vt:lpstr>Windows API – WinMain Definition</vt:lpstr>
      <vt:lpstr>Windows API – Register the window</vt:lpstr>
      <vt:lpstr>Windows API – Register the window</vt:lpstr>
      <vt:lpstr>Windows API – Register the window</vt:lpstr>
      <vt:lpstr>Windows API – Register the window</vt:lpstr>
      <vt:lpstr>Windows API – Create the window</vt:lpstr>
      <vt:lpstr>Windows API – Create the window</vt:lpstr>
      <vt:lpstr>Windows API – Create the window</vt:lpstr>
      <vt:lpstr>Windows API – Create the window</vt:lpstr>
      <vt:lpstr>Windows API – Show the window</vt:lpstr>
      <vt:lpstr>Windows API – Message Loop</vt:lpstr>
      <vt:lpstr>Windows API – Message Loop</vt:lpstr>
      <vt:lpstr>Windows API – Return Statement</vt:lpstr>
      <vt:lpstr>Message Loop – WinProc Definition</vt:lpstr>
      <vt:lpstr>Message Loop – WinProc Message</vt:lpstr>
      <vt:lpstr>Message Loop – WinProc Message</vt:lpstr>
      <vt:lpstr>Message Loop = WinProc Message</vt:lpstr>
      <vt:lpstr>Message Loop = WinProc Message</vt:lpstr>
      <vt:lpstr>Debugging Windows Programs</vt:lpstr>
      <vt:lpstr>Message Box</vt:lpstr>
      <vt:lpstr>Message Box</vt:lpstr>
      <vt:lpstr>Message Box - Example</vt:lpstr>
      <vt:lpstr>Message Box - Example</vt:lpstr>
      <vt:lpstr>Object Oriented Win32</vt:lpstr>
    </vt:vector>
  </TitlesOfParts>
  <Company>SAINT-GOBAIN 1.7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Alesandra Blakeston</dc:creator>
  <cp:lastModifiedBy>LIM YONG CHIEN</cp:lastModifiedBy>
  <cp:revision>26</cp:revision>
  <dcterms:created xsi:type="dcterms:W3CDTF">2013-06-03T12:57:42Z</dcterms:created>
  <dcterms:modified xsi:type="dcterms:W3CDTF">2022-07-21T05:42:07Z</dcterms:modified>
</cp:coreProperties>
</file>