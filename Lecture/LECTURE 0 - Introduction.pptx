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3261"/>
    <a:srgbClr val="F58D01"/>
    <a:srgbClr val="009F3C"/>
    <a:srgbClr val="464543"/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0" autoAdjust="0"/>
    <p:restoredTop sz="85679" autoAdjust="0"/>
  </p:normalViewPr>
  <p:slideViewPr>
    <p:cSldViewPr>
      <p:cViewPr varScale="1">
        <p:scale>
          <a:sx n="66" d="100"/>
          <a:sy n="66" d="100"/>
        </p:scale>
        <p:origin x="-35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212976"/>
            <a:ext cx="7776864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11" name="Subtitle 2"/>
          <p:cNvSpPr txBox="1">
            <a:spLocks/>
          </p:cNvSpPr>
          <p:nvPr userDrawn="1"/>
        </p:nvSpPr>
        <p:spPr>
          <a:xfrm>
            <a:off x="7668344" y="116632"/>
            <a:ext cx="1368152" cy="456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GB" sz="18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748220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 txBox="1">
            <a:spLocks/>
          </p:cNvSpPr>
          <p:nvPr userDrawn="1"/>
        </p:nvSpPr>
        <p:spPr>
          <a:xfrm>
            <a:off x="4139952" y="6386920"/>
            <a:ext cx="1368152" cy="384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4278688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328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4139952" y="6386920"/>
            <a:ext cx="1368152" cy="384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1173429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4662296" y="1556056"/>
            <a:ext cx="4020984" cy="613784"/>
          </a:xfrm>
          <a:prstGeom prst="rect">
            <a:avLst/>
          </a:prstGeom>
          <a:solidFill>
            <a:srgbClr val="FFFFFF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 userDrawn="1"/>
        </p:nvSpPr>
        <p:spPr>
          <a:xfrm>
            <a:off x="479008" y="1556792"/>
            <a:ext cx="4020984" cy="613784"/>
          </a:xfrm>
          <a:prstGeom prst="rect">
            <a:avLst/>
          </a:prstGeom>
          <a:solidFill>
            <a:srgbClr val="FFFFFF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pic>
        <p:nvPicPr>
          <p:cNvPr id="14" name="Picture 13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5386" y="6309320"/>
            <a:ext cx="303997" cy="450964"/>
          </a:xfrm>
          <a:prstGeom prst="rect">
            <a:avLst/>
          </a:prstGeom>
        </p:spPr>
      </p:pic>
      <p:pic>
        <p:nvPicPr>
          <p:cNvPr id="15" name="Picture 14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966" y="6309320"/>
            <a:ext cx="303997" cy="45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7072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pic>
        <p:nvPicPr>
          <p:cNvPr id="9" name="Picture 8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966" y="6309320"/>
            <a:ext cx="303997" cy="45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6453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2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68760"/>
            <a:ext cx="8229600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pic>
        <p:nvPicPr>
          <p:cNvPr id="7" name="Picture 2" descr="C:\Users\jw\Documents\Visual Studio 2010\Projects\JSBubbles\JSBubbles.Game\images\themes\metro\Next.png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4029" y="6348019"/>
            <a:ext cx="400050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Obraz 7">
            <a:hlinkClick r:id="" action="ppaction://hlinkshowjump?jump=endshow"/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40" y="6343213"/>
            <a:ext cx="400106" cy="400106"/>
          </a:xfrm>
          <a:prstGeom prst="rect">
            <a:avLst/>
          </a:prstGeom>
        </p:spPr>
      </p:pic>
      <p:pic>
        <p:nvPicPr>
          <p:cNvPr id="9" name="Obraz 8">
            <a:hlinkClick r:id="" action="ppaction://hlinkshowjump?jump=firstslide"/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908" y="6347991"/>
            <a:ext cx="400106" cy="400106"/>
          </a:xfrm>
          <a:prstGeom prst="rect">
            <a:avLst/>
          </a:prstGeom>
        </p:spPr>
      </p:pic>
      <p:pic>
        <p:nvPicPr>
          <p:cNvPr id="10" name="Obraz 9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800" y="6338465"/>
            <a:ext cx="419159" cy="419159"/>
          </a:xfrm>
          <a:prstGeom prst="rect">
            <a:avLst/>
          </a:prstGeom>
        </p:spPr>
      </p:pic>
      <p:sp>
        <p:nvSpPr>
          <p:cNvPr id="11" name="Subtitle 2"/>
          <p:cNvSpPr txBox="1">
            <a:spLocks/>
          </p:cNvSpPr>
          <p:nvPr userDrawn="1"/>
        </p:nvSpPr>
        <p:spPr>
          <a:xfrm>
            <a:off x="107504" y="6388737"/>
            <a:ext cx="7776864" cy="3124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Segoe UI" pitchFamily="34" charset="0"/>
                <a:cs typeface="Segoe UI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 smtClean="0"/>
              <a:t>AACS2173</a:t>
            </a:r>
            <a:r>
              <a:rPr lang="en-GB" sz="1800" baseline="0" dirty="0" smtClean="0"/>
              <a:t> – Computer Game Programming I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34593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Segoe UI" pitchFamily="34" charset="0"/>
          <a:cs typeface="Segoe UI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Segoe UI" pitchFamily="34" charset="0"/>
          <a:cs typeface="Segoe UI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010543"/>
          </a:xfrm>
        </p:spPr>
        <p:txBody>
          <a:bodyPr/>
          <a:lstStyle/>
          <a:p>
            <a:r>
              <a:rPr lang="en-GB" dirty="0" smtClean="0"/>
              <a:t>LECTURE 0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Introduction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179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Learning Outcomes:</a:t>
            </a:r>
          </a:p>
          <a:p>
            <a:r>
              <a:rPr lang="en-US" dirty="0"/>
              <a:t>Upon completion of the course, students should be able to:</a:t>
            </a:r>
          </a:p>
          <a:p>
            <a:r>
              <a:rPr lang="en-US" dirty="0"/>
              <a:t>CLO 1: Apply object-oriented programming techniques into game programming (P3, PLO3</a:t>
            </a:r>
            <a:r>
              <a:rPr lang="en-US" dirty="0" smtClean="0"/>
              <a:t>).</a:t>
            </a:r>
          </a:p>
          <a:p>
            <a:r>
              <a:rPr lang="en-US" dirty="0" smtClean="0"/>
              <a:t>CLO </a:t>
            </a:r>
            <a:r>
              <a:rPr lang="en-US" dirty="0"/>
              <a:t>2: Solve 2D game graphics, input, physics and audio problems. (C4, PLO2</a:t>
            </a:r>
            <a:r>
              <a:rPr lang="en-US" dirty="0" smtClean="0"/>
              <a:t>)</a:t>
            </a:r>
          </a:p>
          <a:p>
            <a:r>
              <a:rPr lang="en-US" dirty="0" smtClean="0"/>
              <a:t>CLO </a:t>
            </a:r>
            <a:r>
              <a:rPr lang="en-US" dirty="0"/>
              <a:t>3: Able to search, manage and implement industry standard multimedia APIs </a:t>
            </a:r>
            <a:r>
              <a:rPr lang="en-US" dirty="0" smtClean="0"/>
              <a:t>into a </a:t>
            </a:r>
            <a:r>
              <a:rPr lang="en-US" dirty="0"/>
              <a:t>game framework (A3, PLO5).</a:t>
            </a:r>
          </a:p>
        </p:txBody>
      </p:sp>
    </p:spTree>
    <p:extLst>
      <p:ext uri="{BB962C8B-B14F-4D97-AF65-F5344CB8AC3E}">
        <p14:creationId xmlns:p14="http://schemas.microsoft.com/office/powerpoint/2010/main" val="3932864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Topics covered:</a:t>
            </a:r>
          </a:p>
          <a:p>
            <a:pPr lvl="1"/>
            <a:r>
              <a:rPr lang="en-US" dirty="0" smtClean="0"/>
              <a:t>2D Game Framework</a:t>
            </a:r>
          </a:p>
          <a:p>
            <a:pPr lvl="1"/>
            <a:r>
              <a:rPr lang="en-US" dirty="0" smtClean="0"/>
              <a:t>Windows Programming</a:t>
            </a:r>
          </a:p>
          <a:p>
            <a:pPr lvl="1"/>
            <a:r>
              <a:rPr lang="en-US" dirty="0" smtClean="0"/>
              <a:t>2D Graphics Programming</a:t>
            </a:r>
          </a:p>
          <a:p>
            <a:pPr lvl="1"/>
            <a:r>
              <a:rPr lang="en-US" dirty="0" smtClean="0"/>
              <a:t>Input Programming</a:t>
            </a:r>
          </a:p>
          <a:p>
            <a:pPr lvl="1"/>
            <a:r>
              <a:rPr lang="en-US" dirty="0" smtClean="0"/>
              <a:t>2D Animation Programming</a:t>
            </a:r>
          </a:p>
          <a:p>
            <a:pPr lvl="1"/>
            <a:r>
              <a:rPr lang="en-US" dirty="0" smtClean="0"/>
              <a:t>Physics</a:t>
            </a:r>
          </a:p>
          <a:p>
            <a:pPr lvl="1"/>
            <a:r>
              <a:rPr lang="en-US" dirty="0" smtClean="0"/>
              <a:t>Sound</a:t>
            </a:r>
          </a:p>
          <a:p>
            <a:pPr lvl="1"/>
            <a:r>
              <a:rPr lang="en-US" dirty="0" smtClean="0"/>
              <a:t>User Interface Programming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540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Assessment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Coursework </a:t>
            </a:r>
            <a:r>
              <a:rPr lang="en-US" dirty="0" smtClean="0"/>
              <a:t>(</a:t>
            </a:r>
            <a:r>
              <a:rPr lang="en-US" dirty="0"/>
              <a:t>6</a:t>
            </a:r>
            <a:r>
              <a:rPr lang="en-US" dirty="0" smtClean="0"/>
              <a:t>0</a:t>
            </a:r>
            <a:r>
              <a:rPr lang="en-US" dirty="0" smtClean="0"/>
              <a:t>%)</a:t>
            </a:r>
          </a:p>
          <a:p>
            <a:pPr lvl="1"/>
            <a:r>
              <a:rPr lang="en-US" dirty="0" smtClean="0"/>
              <a:t>Mid term test (25%)</a:t>
            </a:r>
          </a:p>
          <a:p>
            <a:pPr lvl="1"/>
            <a:r>
              <a:rPr lang="en-US" dirty="0" smtClean="0"/>
              <a:t>Quiz/s (10%)</a:t>
            </a:r>
          </a:p>
          <a:p>
            <a:pPr lvl="1"/>
            <a:r>
              <a:rPr lang="en-US" dirty="0" smtClean="0"/>
              <a:t>Assignment Documentation (15%)</a:t>
            </a:r>
          </a:p>
          <a:p>
            <a:pPr lvl="1"/>
            <a:r>
              <a:rPr lang="en-US" dirty="0" smtClean="0"/>
              <a:t>Assignment Program (35%)</a:t>
            </a:r>
          </a:p>
          <a:p>
            <a:pPr lvl="1"/>
            <a:r>
              <a:rPr lang="en-US" dirty="0"/>
              <a:t>Practical exercises (15</a:t>
            </a:r>
            <a:r>
              <a:rPr lang="en-US" dirty="0" smtClean="0"/>
              <a:t>%)</a:t>
            </a:r>
          </a:p>
          <a:p>
            <a:r>
              <a:rPr lang="en-US" dirty="0" smtClean="0"/>
              <a:t>Final exam </a:t>
            </a:r>
            <a:r>
              <a:rPr lang="en-US" dirty="0" smtClean="0"/>
              <a:t>(40</a:t>
            </a:r>
            <a:r>
              <a:rPr lang="en-US" dirty="0" smtClean="0"/>
              <a:t>%)</a:t>
            </a:r>
          </a:p>
          <a:p>
            <a:pPr lvl="1"/>
            <a:r>
              <a:rPr lang="en-US" dirty="0" smtClean="0"/>
              <a:t>4 questions (100%)</a:t>
            </a:r>
          </a:p>
          <a:p>
            <a:pPr lvl="1"/>
            <a:r>
              <a:rPr lang="en-US" dirty="0" smtClean="0"/>
              <a:t>2 hours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661636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 delivery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Methods:</a:t>
            </a:r>
          </a:p>
          <a:p>
            <a:pPr lvl="1"/>
            <a:r>
              <a:rPr lang="en-US" dirty="0" smtClean="0"/>
              <a:t>Lectures</a:t>
            </a:r>
          </a:p>
          <a:p>
            <a:pPr lvl="1"/>
            <a:r>
              <a:rPr lang="en-US" dirty="0" smtClean="0"/>
              <a:t>Tutorials</a:t>
            </a:r>
          </a:p>
          <a:p>
            <a:pPr lvl="1"/>
            <a:r>
              <a:rPr lang="en-US" dirty="0" err="1" smtClean="0"/>
              <a:t>Practicals</a:t>
            </a:r>
            <a:endParaRPr lang="en-US" dirty="0" smtClean="0"/>
          </a:p>
          <a:p>
            <a:r>
              <a:rPr lang="en-US" dirty="0" smtClean="0"/>
              <a:t>Expectation</a:t>
            </a:r>
          </a:p>
          <a:p>
            <a:pPr lvl="1"/>
            <a:r>
              <a:rPr lang="en-US" dirty="0" smtClean="0"/>
              <a:t>Recall – what you have already learned</a:t>
            </a:r>
          </a:p>
          <a:p>
            <a:pPr lvl="1"/>
            <a:r>
              <a:rPr lang="en-US" dirty="0" smtClean="0"/>
              <a:t>Read – notes and documentation</a:t>
            </a:r>
          </a:p>
          <a:p>
            <a:pPr lvl="1"/>
            <a:r>
              <a:rPr lang="en-US" dirty="0" smtClean="0"/>
              <a:t>Try – code and think for yourself</a:t>
            </a:r>
          </a:p>
          <a:p>
            <a:pPr lvl="1"/>
            <a:r>
              <a:rPr lang="en-US" dirty="0"/>
              <a:t>Search – for help within documentation, books and online </a:t>
            </a:r>
            <a:r>
              <a:rPr lang="en-US" dirty="0" smtClean="0"/>
              <a:t>resources</a:t>
            </a:r>
          </a:p>
          <a:p>
            <a:pPr lvl="1"/>
            <a:r>
              <a:rPr lang="en-US" dirty="0" smtClean="0"/>
              <a:t>Ask – get help only if you’ve done the necessary above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1004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OOP </a:t>
            </a:r>
            <a:r>
              <a:rPr lang="en-US" dirty="0" smtClean="0"/>
              <a:t>programming knowledge</a:t>
            </a:r>
          </a:p>
          <a:p>
            <a:r>
              <a:rPr lang="en-US" dirty="0" smtClean="0"/>
              <a:t>PC/Laptop at home with supporting hardware</a:t>
            </a:r>
          </a:p>
          <a:p>
            <a:r>
              <a:rPr lang="en-US" dirty="0" smtClean="0"/>
              <a:t>Visual Studio 2013 and above</a:t>
            </a:r>
          </a:p>
          <a:p>
            <a:r>
              <a:rPr lang="en-US" dirty="0" smtClean="0"/>
              <a:t>Also helpful:</a:t>
            </a:r>
          </a:p>
          <a:p>
            <a:pPr lvl="1"/>
            <a:r>
              <a:rPr lang="en-US" dirty="0" smtClean="0"/>
              <a:t>Simple image editing tools like Microsoft Paint</a:t>
            </a:r>
          </a:p>
          <a:p>
            <a:pPr lvl="1"/>
            <a:r>
              <a:rPr lang="en-US" dirty="0" smtClean="0"/>
              <a:t>Pdf readers</a:t>
            </a:r>
          </a:p>
          <a:p>
            <a:pPr lvl="1"/>
            <a:r>
              <a:rPr lang="en-US" dirty="0" smtClean="0"/>
              <a:t>Internet access</a:t>
            </a:r>
          </a:p>
          <a:p>
            <a:pPr lvl="1"/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110040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Metro">
      <a:dk1>
        <a:srgbClr val="FFFFFF"/>
      </a:dk1>
      <a:lt1>
        <a:srgbClr val="1F497D"/>
      </a:lt1>
      <a:dk2>
        <a:srgbClr val="FFFFFF"/>
      </a:dk2>
      <a:lt2>
        <a:srgbClr val="1F497D"/>
      </a:lt2>
      <a:accent1>
        <a:srgbClr val="E8402E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C6D9F0"/>
      </a:folHlink>
    </a:clrScheme>
    <a:fontScheme name="Metro">
      <a:majorFont>
        <a:latin typeface="Segoe UI Ligh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</TotalTime>
  <Words>219</Words>
  <Application>Microsoft Office PowerPoint</Application>
  <PresentationFormat>On-screen Show (4:3)</PresentationFormat>
  <Paragraphs>47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LECTURE 0</vt:lpstr>
      <vt:lpstr>Overview</vt:lpstr>
      <vt:lpstr>Overview</vt:lpstr>
      <vt:lpstr>Assessment</vt:lpstr>
      <vt:lpstr>Lesson delivery</vt:lpstr>
      <vt:lpstr>Requirements</vt:lpstr>
    </vt:vector>
  </TitlesOfParts>
  <Company>SAINT-GOBAIN 1.7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Alesandra Blakeston</dc:creator>
  <cp:lastModifiedBy>Andrew Tan</cp:lastModifiedBy>
  <cp:revision>29</cp:revision>
  <dcterms:created xsi:type="dcterms:W3CDTF">2013-06-03T12:57:42Z</dcterms:created>
  <dcterms:modified xsi:type="dcterms:W3CDTF">2020-06-11T09:35:11Z</dcterms:modified>
</cp:coreProperties>
</file>